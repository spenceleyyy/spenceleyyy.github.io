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8404800" cy="27889200"/>
  <p:notesSz cx="6715125" cy="923925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7392" kern="1200">
        <a:solidFill>
          <a:schemeClr val="tx1"/>
        </a:solidFill>
        <a:latin typeface="Arial" charset="0"/>
        <a:ea typeface="+mn-ea"/>
        <a:cs typeface="+mn-cs"/>
      </a:defRPr>
    </a:lvl1pPr>
    <a:lvl2pPr marL="649910" algn="ctr" rtl="0" fontAlgn="base">
      <a:spcBef>
        <a:spcPct val="0"/>
      </a:spcBef>
      <a:spcAft>
        <a:spcPct val="0"/>
      </a:spcAft>
      <a:defRPr sz="7392" kern="1200">
        <a:solidFill>
          <a:schemeClr val="tx1"/>
        </a:solidFill>
        <a:latin typeface="Arial" charset="0"/>
        <a:ea typeface="+mn-ea"/>
        <a:cs typeface="+mn-cs"/>
      </a:defRPr>
    </a:lvl2pPr>
    <a:lvl3pPr marL="1299820" algn="ctr" rtl="0" fontAlgn="base">
      <a:spcBef>
        <a:spcPct val="0"/>
      </a:spcBef>
      <a:spcAft>
        <a:spcPct val="0"/>
      </a:spcAft>
      <a:defRPr sz="7392" kern="1200">
        <a:solidFill>
          <a:schemeClr val="tx1"/>
        </a:solidFill>
        <a:latin typeface="Arial" charset="0"/>
        <a:ea typeface="+mn-ea"/>
        <a:cs typeface="+mn-cs"/>
      </a:defRPr>
    </a:lvl3pPr>
    <a:lvl4pPr marL="1949729" algn="ctr" rtl="0" fontAlgn="base">
      <a:spcBef>
        <a:spcPct val="0"/>
      </a:spcBef>
      <a:spcAft>
        <a:spcPct val="0"/>
      </a:spcAft>
      <a:defRPr sz="7392" kern="1200">
        <a:solidFill>
          <a:schemeClr val="tx1"/>
        </a:solidFill>
        <a:latin typeface="Arial" charset="0"/>
        <a:ea typeface="+mn-ea"/>
        <a:cs typeface="+mn-cs"/>
      </a:defRPr>
    </a:lvl4pPr>
    <a:lvl5pPr marL="2599639" algn="ctr" rtl="0" fontAlgn="base">
      <a:spcBef>
        <a:spcPct val="0"/>
      </a:spcBef>
      <a:spcAft>
        <a:spcPct val="0"/>
      </a:spcAft>
      <a:defRPr sz="7392" kern="1200">
        <a:solidFill>
          <a:schemeClr val="tx1"/>
        </a:solidFill>
        <a:latin typeface="Arial" charset="0"/>
        <a:ea typeface="+mn-ea"/>
        <a:cs typeface="+mn-cs"/>
      </a:defRPr>
    </a:lvl5pPr>
    <a:lvl6pPr marL="3249549" algn="l" defTabSz="1299820" rtl="0" eaLnBrk="1" latinLnBrk="0" hangingPunct="1">
      <a:defRPr sz="7392" kern="1200">
        <a:solidFill>
          <a:schemeClr val="tx1"/>
        </a:solidFill>
        <a:latin typeface="Arial" charset="0"/>
        <a:ea typeface="+mn-ea"/>
        <a:cs typeface="+mn-cs"/>
      </a:defRPr>
    </a:lvl6pPr>
    <a:lvl7pPr marL="3899459" algn="l" defTabSz="1299820" rtl="0" eaLnBrk="1" latinLnBrk="0" hangingPunct="1">
      <a:defRPr sz="7392" kern="1200">
        <a:solidFill>
          <a:schemeClr val="tx1"/>
        </a:solidFill>
        <a:latin typeface="Arial" charset="0"/>
        <a:ea typeface="+mn-ea"/>
        <a:cs typeface="+mn-cs"/>
      </a:defRPr>
    </a:lvl7pPr>
    <a:lvl8pPr marL="4549369" algn="l" defTabSz="1299820" rtl="0" eaLnBrk="1" latinLnBrk="0" hangingPunct="1">
      <a:defRPr sz="7392" kern="1200">
        <a:solidFill>
          <a:schemeClr val="tx1"/>
        </a:solidFill>
        <a:latin typeface="Arial" charset="0"/>
        <a:ea typeface="+mn-ea"/>
        <a:cs typeface="+mn-cs"/>
      </a:defRPr>
    </a:lvl8pPr>
    <a:lvl9pPr marL="5199278" algn="l" defTabSz="1299820" rtl="0" eaLnBrk="1" latinLnBrk="0" hangingPunct="1">
      <a:defRPr sz="739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838" userDrawn="1">
          <p15:clr>
            <a:srgbClr val="A4A3A4"/>
          </p15:clr>
        </p15:guide>
        <p15:guide id="2" orient="horz" pos="17111" userDrawn="1">
          <p15:clr>
            <a:srgbClr val="A4A3A4"/>
          </p15:clr>
        </p15:guide>
        <p15:guide id="3" pos="120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4622"/>
    <a:srgbClr val="83E391"/>
    <a:srgbClr val="47D45A"/>
    <a:srgbClr val="E6F7F8"/>
    <a:srgbClr val="CFF3F3"/>
    <a:srgbClr val="0096FF"/>
    <a:srgbClr val="A7C4FF"/>
    <a:srgbClr val="145035"/>
    <a:srgbClr val="0046D2"/>
    <a:srgbClr val="264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4298"/>
  </p:normalViewPr>
  <p:slideViewPr>
    <p:cSldViewPr snapToGrid="0">
      <p:cViewPr>
        <p:scale>
          <a:sx n="38" d="100"/>
          <a:sy n="38" d="100"/>
        </p:scale>
        <p:origin x="1488" y="176"/>
      </p:cViewPr>
      <p:guideLst>
        <p:guide orient="horz" pos="8838"/>
        <p:guide orient="horz" pos="17111"/>
        <p:guide pos="12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hotcocks/Desktop/CSU%20Research/FIPREDD/FIPRED_Resul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hotcocks/Desktop/CSU%20Research/FIPREDD/FIPRED_Resul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hotcocks/Desktop/CSU%20Research/FIPREDD/FIPRED_Resul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2400" b="0" i="0" u="none" strike="noStrike" baseline="0" dirty="0">
                <a:solidFill>
                  <a:schemeClr val="tx1"/>
                </a:solidFill>
                <a:effectLst/>
              </a:rPr>
              <a:t>Predictor Benefit Per Scenario</a:t>
            </a:r>
            <a:r>
              <a:rPr lang="en-US" sz="2400" b="0" i="0" u="none" strike="noStrike" baseline="0" dirty="0">
                <a:solidFill>
                  <a:schemeClr val="tx1"/>
                </a:solidFill>
              </a:rPr>
              <a:t> </a:t>
            </a:r>
            <a:endParaRPr lang="en-US" sz="2400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B0F0"/>
            </a:solidFill>
            <a:ln>
              <a:noFill/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'Correct Prediction Analysis'!$AP$58:$AU$58</c:f>
                <c:numCache>
                  <c:formatCode>General</c:formatCode>
                  <c:ptCount val="6"/>
                  <c:pt idx="0">
                    <c:v>4.1865406835427246</c:v>
                  </c:pt>
                  <c:pt idx="1">
                    <c:v>9.0113746620577473</c:v>
                  </c:pt>
                  <c:pt idx="2">
                    <c:v>10.327722727626233</c:v>
                  </c:pt>
                  <c:pt idx="3">
                    <c:v>6.6913406092402532</c:v>
                  </c:pt>
                  <c:pt idx="4">
                    <c:v>5.0679032390591354</c:v>
                  </c:pt>
                  <c:pt idx="5">
                    <c:v>8.781666957197297</c:v>
                  </c:pt>
                </c:numCache>
              </c:numRef>
            </c:plus>
            <c:minus>
              <c:numRef>
                <c:f>'Correct Prediction Analysis'!$AP$58:$AU$58</c:f>
                <c:numCache>
                  <c:formatCode>General</c:formatCode>
                  <c:ptCount val="6"/>
                  <c:pt idx="0">
                    <c:v>4.1865406835427246</c:v>
                  </c:pt>
                  <c:pt idx="1">
                    <c:v>9.0113746620577473</c:v>
                  </c:pt>
                  <c:pt idx="2">
                    <c:v>10.327722727626233</c:v>
                  </c:pt>
                  <c:pt idx="3">
                    <c:v>6.6913406092402532</c:v>
                  </c:pt>
                  <c:pt idx="4">
                    <c:v>5.0679032390591354</c:v>
                  </c:pt>
                  <c:pt idx="5">
                    <c:v>8.781666957197297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'Correct Prediction Analysis'!$AP$50:$AP$55</c:f>
              <c:strCache>
                <c:ptCount val="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</c:strRef>
          </c:cat>
          <c:val>
            <c:numRef>
              <c:f>'Correct Prediction Analysis'!$AQ$50:$AQ$55</c:f>
              <c:numCache>
                <c:formatCode>General</c:formatCode>
                <c:ptCount val="6"/>
                <c:pt idx="0">
                  <c:v>110.68746400000001</c:v>
                </c:pt>
                <c:pt idx="1">
                  <c:v>154.88412600000001</c:v>
                </c:pt>
                <c:pt idx="2">
                  <c:v>153.39140599999999</c:v>
                </c:pt>
                <c:pt idx="3">
                  <c:v>120.125573</c:v>
                </c:pt>
                <c:pt idx="4">
                  <c:v>123.94487100000001</c:v>
                </c:pt>
                <c:pt idx="5">
                  <c:v>162.88568900000001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4B-8F46-AA75-DD0008036CE0}"/>
            </c:ext>
          </c:extLst>
        </c:ser>
        <c:ser>
          <c:idx val="1"/>
          <c:order val="1"/>
          <c:spPr>
            <a:solidFill>
              <a:schemeClr val="accent4">
                <a:tint val="77000"/>
              </a:schemeClr>
            </a:solidFill>
            <a:ln>
              <a:noFill/>
            </a:ln>
            <a:effectLst/>
          </c:spPr>
          <c:invertIfNegative val="0"/>
          <c:val>
            <c:numRef>
              <c:f>'Correct Prediction Analysis'!$AQ$60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4B-8F46-AA75-DD0008036C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90253408"/>
        <c:axId val="1990255120"/>
      </c:barChart>
      <c:catAx>
        <c:axId val="19902534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 dirty="0">
                    <a:solidFill>
                      <a:schemeClr val="tx1"/>
                    </a:solidFill>
                  </a:rPr>
                  <a:t>Scenario</a:t>
                </a:r>
                <a:r>
                  <a:rPr lang="en-US" sz="2400" baseline="0" dirty="0">
                    <a:solidFill>
                      <a:schemeClr val="tx1"/>
                    </a:solidFill>
                  </a:rPr>
                  <a:t> Label</a:t>
                </a:r>
                <a:endParaRPr lang="en-US" sz="2400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0255120"/>
        <c:crosses val="autoZero"/>
        <c:auto val="1"/>
        <c:lblAlgn val="ctr"/>
        <c:lblOffset val="100"/>
        <c:noMultiLvlLbl val="0"/>
      </c:catAx>
      <c:valAx>
        <c:axId val="1990255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 dirty="0">
                    <a:solidFill>
                      <a:schemeClr val="tx1"/>
                    </a:solidFill>
                  </a:rPr>
                  <a:t>Benefit of Predictor</a:t>
                </a:r>
              </a:p>
            </c:rich>
          </c:tx>
          <c:layout>
            <c:manualLayout>
              <c:xMode val="edge"/>
              <c:yMode val="edge"/>
              <c:x val="1.8557421093212317E-2"/>
              <c:y val="9.4736006771770187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0253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Error Scores Automation Correct (AC) vs Automation Failure (AF)</a:t>
            </a:r>
            <a:endParaRPr lang="en-US" sz="11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'Clean Data'!$A$178</c:f>
              <c:strCache>
                <c:ptCount val="1"/>
                <c:pt idx="0">
                  <c:v>AC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'Clean Data'!$B$177:$G$177</c:f>
              <c:strCache>
                <c:ptCount val="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</c:strRef>
          </c:cat>
          <c:val>
            <c:numRef>
              <c:f>'Clean Data'!$B$178:$G$178</c:f>
              <c:numCache>
                <c:formatCode>0.00</c:formatCode>
                <c:ptCount val="6"/>
                <c:pt idx="0">
                  <c:v>31.697303653338842</c:v>
                </c:pt>
                <c:pt idx="1">
                  <c:v>52.835313982741056</c:v>
                </c:pt>
                <c:pt idx="2">
                  <c:v>57.387391662121125</c:v>
                </c:pt>
                <c:pt idx="3" formatCode="General">
                  <c:v>96.564060557598125</c:v>
                </c:pt>
                <c:pt idx="4" formatCode="General">
                  <c:v>172.32245914715136</c:v>
                </c:pt>
                <c:pt idx="5" formatCode="General">
                  <c:v>76.617764004533015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19-A547-B41D-F6156AE5B7C5}"/>
            </c:ext>
          </c:extLst>
        </c:ser>
        <c:ser>
          <c:idx val="1"/>
          <c:order val="1"/>
          <c:tx>
            <c:strRef>
              <c:f>'Clean Data'!$A$179</c:f>
              <c:strCache>
                <c:ptCount val="1"/>
                <c:pt idx="0">
                  <c:v>AF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'Clean Data'!$B$177:$G$177</c:f>
              <c:strCache>
                <c:ptCount val="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</c:strRef>
          </c:cat>
          <c:val>
            <c:numRef>
              <c:f>'Clean Data'!$B$179:$G$179</c:f>
              <c:numCache>
                <c:formatCode>General</c:formatCode>
                <c:ptCount val="6"/>
                <c:pt idx="0">
                  <c:v>126.39346280917702</c:v>
                </c:pt>
                <c:pt idx="1">
                  <c:v>184.49340654790257</c:v>
                </c:pt>
                <c:pt idx="2">
                  <c:v>204.35770517348078</c:v>
                </c:pt>
                <c:pt idx="3">
                  <c:v>71.901433105509724</c:v>
                </c:pt>
                <c:pt idx="4">
                  <c:v>215.40639525232467</c:v>
                </c:pt>
                <c:pt idx="5">
                  <c:v>59.193873007494993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19-A547-B41D-F6156AE5B7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4564448"/>
        <c:axId val="1914305536"/>
      </c:barChart>
      <c:catAx>
        <c:axId val="914564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4305536"/>
        <c:crosses val="autoZero"/>
        <c:auto val="1"/>
        <c:lblAlgn val="ctr"/>
        <c:lblOffset val="100"/>
        <c:noMultiLvlLbl val="0"/>
      </c:catAx>
      <c:valAx>
        <c:axId val="1914305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4564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2646806649168852"/>
          <c:y val="0.88948964712744238"/>
          <c:w val="0.3609525371828522"/>
          <c:h val="0.11051035287255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</a:t>
            </a:r>
            <a:r>
              <a:rPr lang="en-US" baseline="0"/>
              <a:t> Error on Failure Trials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47D45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7D45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421-6743-BE45-4CD91FF261E8}"/>
              </c:ext>
            </c:extLst>
          </c:dPt>
          <c:dPt>
            <c:idx val="1"/>
            <c:invertIfNegative val="0"/>
            <c:bubble3D val="0"/>
            <c:spPr>
              <a:solidFill>
                <a:srgbClr val="83E39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421-6743-BE45-4CD91FF261E8}"/>
              </c:ext>
            </c:extLst>
          </c:dPt>
          <c:cat>
            <c:strRef>
              <c:f>'Order Effects WO 1st Scenario'!$BQ$76:$BR$76</c:f>
              <c:strCache>
                <c:ptCount val="2"/>
                <c:pt idx="0">
                  <c:v>High Dependence</c:v>
                </c:pt>
                <c:pt idx="1">
                  <c:v>Low Dependence</c:v>
                </c:pt>
              </c:strCache>
            </c:strRef>
          </c:cat>
          <c:val>
            <c:numRef>
              <c:f>'Order Effects WO 1st Scenario'!$BQ$77:$BR$77</c:f>
              <c:numCache>
                <c:formatCode>0.00</c:formatCode>
                <c:ptCount val="2"/>
                <c:pt idx="0">
                  <c:v>69.620966285703375</c:v>
                </c:pt>
                <c:pt idx="1">
                  <c:v>61.194830024037692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21-6743-BE45-4CD91FF261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25335664"/>
        <c:axId val="913075616"/>
      </c:barChart>
      <c:catAx>
        <c:axId val="1525335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3075616"/>
        <c:crosses val="autoZero"/>
        <c:auto val="1"/>
        <c:lblAlgn val="ctr"/>
        <c:lblOffset val="100"/>
        <c:noMultiLvlLbl val="0"/>
      </c:catAx>
      <c:valAx>
        <c:axId val="913075616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5335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98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3650" y="0"/>
            <a:ext cx="29098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71550" y="692150"/>
            <a:ext cx="4773613" cy="3465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1513" y="4389438"/>
            <a:ext cx="5372100" cy="415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5700"/>
            <a:ext cx="29098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3650" y="8775700"/>
            <a:ext cx="29098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2B3F0E1-E0A7-4BA7-B5F3-45A54A66D175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3947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706" kern="1200">
        <a:solidFill>
          <a:schemeClr val="tx1"/>
        </a:solidFill>
        <a:latin typeface="Arial" charset="0"/>
        <a:ea typeface="+mn-ea"/>
        <a:cs typeface="+mn-cs"/>
      </a:defRPr>
    </a:lvl1pPr>
    <a:lvl2pPr marL="649910" algn="l" rtl="0" fontAlgn="base">
      <a:spcBef>
        <a:spcPct val="30000"/>
      </a:spcBef>
      <a:spcAft>
        <a:spcPct val="0"/>
      </a:spcAft>
      <a:defRPr sz="1706" kern="1200">
        <a:solidFill>
          <a:schemeClr val="tx1"/>
        </a:solidFill>
        <a:latin typeface="Arial" charset="0"/>
        <a:ea typeface="+mn-ea"/>
        <a:cs typeface="+mn-cs"/>
      </a:defRPr>
    </a:lvl2pPr>
    <a:lvl3pPr marL="1299820" algn="l" rtl="0" fontAlgn="base">
      <a:spcBef>
        <a:spcPct val="30000"/>
      </a:spcBef>
      <a:spcAft>
        <a:spcPct val="0"/>
      </a:spcAft>
      <a:defRPr sz="1706" kern="1200">
        <a:solidFill>
          <a:schemeClr val="tx1"/>
        </a:solidFill>
        <a:latin typeface="Arial" charset="0"/>
        <a:ea typeface="+mn-ea"/>
        <a:cs typeface="+mn-cs"/>
      </a:defRPr>
    </a:lvl3pPr>
    <a:lvl4pPr marL="1949729" algn="l" rtl="0" fontAlgn="base">
      <a:spcBef>
        <a:spcPct val="30000"/>
      </a:spcBef>
      <a:spcAft>
        <a:spcPct val="0"/>
      </a:spcAft>
      <a:defRPr sz="1706" kern="1200">
        <a:solidFill>
          <a:schemeClr val="tx1"/>
        </a:solidFill>
        <a:latin typeface="Arial" charset="0"/>
        <a:ea typeface="+mn-ea"/>
        <a:cs typeface="+mn-cs"/>
      </a:defRPr>
    </a:lvl4pPr>
    <a:lvl5pPr marL="2599639" algn="l" rtl="0" fontAlgn="base">
      <a:spcBef>
        <a:spcPct val="30000"/>
      </a:spcBef>
      <a:spcAft>
        <a:spcPct val="0"/>
      </a:spcAft>
      <a:defRPr sz="1706" kern="1200">
        <a:solidFill>
          <a:schemeClr val="tx1"/>
        </a:solidFill>
        <a:latin typeface="Arial" charset="0"/>
        <a:ea typeface="+mn-ea"/>
        <a:cs typeface="+mn-cs"/>
      </a:defRPr>
    </a:lvl5pPr>
    <a:lvl6pPr marL="3249549" algn="l" defTabSz="1299820" rtl="0" eaLnBrk="1" latinLnBrk="0" hangingPunct="1">
      <a:defRPr sz="1706" kern="1200">
        <a:solidFill>
          <a:schemeClr val="tx1"/>
        </a:solidFill>
        <a:latin typeface="+mn-lt"/>
        <a:ea typeface="+mn-ea"/>
        <a:cs typeface="+mn-cs"/>
      </a:defRPr>
    </a:lvl6pPr>
    <a:lvl7pPr marL="3899459" algn="l" defTabSz="1299820" rtl="0" eaLnBrk="1" latinLnBrk="0" hangingPunct="1">
      <a:defRPr sz="1706" kern="1200">
        <a:solidFill>
          <a:schemeClr val="tx1"/>
        </a:solidFill>
        <a:latin typeface="+mn-lt"/>
        <a:ea typeface="+mn-ea"/>
        <a:cs typeface="+mn-cs"/>
      </a:defRPr>
    </a:lvl7pPr>
    <a:lvl8pPr marL="4549369" algn="l" defTabSz="1299820" rtl="0" eaLnBrk="1" latinLnBrk="0" hangingPunct="1">
      <a:defRPr sz="1706" kern="1200">
        <a:solidFill>
          <a:schemeClr val="tx1"/>
        </a:solidFill>
        <a:latin typeface="+mn-lt"/>
        <a:ea typeface="+mn-ea"/>
        <a:cs typeface="+mn-cs"/>
      </a:defRPr>
    </a:lvl8pPr>
    <a:lvl9pPr marL="5199278" algn="l" defTabSz="1299820" rtl="0" eaLnBrk="1" latinLnBrk="0" hangingPunct="1">
      <a:defRPr sz="17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30080B-1E79-4645-828B-D1E43236C941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71550" y="692150"/>
            <a:ext cx="4773613" cy="3465513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egaprint.com/" TargetMode="Externa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rId3"/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27"/>
          <a:stretch>
            <a:fillRect/>
          </a:stretch>
        </p:blipFill>
        <p:spPr bwMode="auto">
          <a:xfrm>
            <a:off x="30657084" y="27403347"/>
            <a:ext cx="4232612" cy="225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1"/>
          <p:cNvSpPr txBox="1"/>
          <p:nvPr userDrawn="1"/>
        </p:nvSpPr>
        <p:spPr>
          <a:xfrm>
            <a:off x="34887389" y="27296856"/>
            <a:ext cx="2495555" cy="35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sz="1680" dirty="0">
                <a:solidFill>
                  <a:schemeClr val="bg1"/>
                </a:solidFill>
              </a:rPr>
              <a:t>www.postersession.com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3731578" rtl="0" fontAlgn="base">
        <a:spcBef>
          <a:spcPct val="0"/>
        </a:spcBef>
        <a:spcAft>
          <a:spcPct val="0"/>
        </a:spcAft>
        <a:defRPr sz="17920">
          <a:solidFill>
            <a:schemeClr val="tx2"/>
          </a:solidFill>
          <a:latin typeface="+mj-lt"/>
          <a:ea typeface="+mj-ea"/>
          <a:cs typeface="+mj-cs"/>
        </a:defRPr>
      </a:lvl1pPr>
      <a:lvl2pPr algn="ctr" defTabSz="3731578" rtl="0" fontAlgn="base">
        <a:spcBef>
          <a:spcPct val="0"/>
        </a:spcBef>
        <a:spcAft>
          <a:spcPct val="0"/>
        </a:spcAft>
        <a:defRPr sz="17920">
          <a:solidFill>
            <a:schemeClr val="tx2"/>
          </a:solidFill>
          <a:latin typeface="Arial" charset="0"/>
        </a:defRPr>
      </a:lvl2pPr>
      <a:lvl3pPr algn="ctr" defTabSz="3731578" rtl="0" fontAlgn="base">
        <a:spcBef>
          <a:spcPct val="0"/>
        </a:spcBef>
        <a:spcAft>
          <a:spcPct val="0"/>
        </a:spcAft>
        <a:defRPr sz="17920">
          <a:solidFill>
            <a:schemeClr val="tx2"/>
          </a:solidFill>
          <a:latin typeface="Arial" charset="0"/>
        </a:defRPr>
      </a:lvl3pPr>
      <a:lvl4pPr algn="ctr" defTabSz="3731578" rtl="0" fontAlgn="base">
        <a:spcBef>
          <a:spcPct val="0"/>
        </a:spcBef>
        <a:spcAft>
          <a:spcPct val="0"/>
        </a:spcAft>
        <a:defRPr sz="17920">
          <a:solidFill>
            <a:schemeClr val="tx2"/>
          </a:solidFill>
          <a:latin typeface="Arial" charset="0"/>
        </a:defRPr>
      </a:lvl4pPr>
      <a:lvl5pPr algn="ctr" defTabSz="3731578" rtl="0" fontAlgn="base">
        <a:spcBef>
          <a:spcPct val="0"/>
        </a:spcBef>
        <a:spcAft>
          <a:spcPct val="0"/>
        </a:spcAft>
        <a:defRPr sz="17920">
          <a:solidFill>
            <a:schemeClr val="tx2"/>
          </a:solidFill>
          <a:latin typeface="Arial" charset="0"/>
        </a:defRPr>
      </a:lvl5pPr>
      <a:lvl6pPr marL="640080" algn="ctr" defTabSz="3731578" rtl="0" fontAlgn="base">
        <a:spcBef>
          <a:spcPct val="0"/>
        </a:spcBef>
        <a:spcAft>
          <a:spcPct val="0"/>
        </a:spcAft>
        <a:defRPr sz="17920">
          <a:solidFill>
            <a:schemeClr val="tx2"/>
          </a:solidFill>
          <a:latin typeface="Arial" charset="0"/>
        </a:defRPr>
      </a:lvl6pPr>
      <a:lvl7pPr marL="1280160" algn="ctr" defTabSz="3731578" rtl="0" fontAlgn="base">
        <a:spcBef>
          <a:spcPct val="0"/>
        </a:spcBef>
        <a:spcAft>
          <a:spcPct val="0"/>
        </a:spcAft>
        <a:defRPr sz="17920">
          <a:solidFill>
            <a:schemeClr val="tx2"/>
          </a:solidFill>
          <a:latin typeface="Arial" charset="0"/>
        </a:defRPr>
      </a:lvl7pPr>
      <a:lvl8pPr marL="1920240" algn="ctr" defTabSz="3731578" rtl="0" fontAlgn="base">
        <a:spcBef>
          <a:spcPct val="0"/>
        </a:spcBef>
        <a:spcAft>
          <a:spcPct val="0"/>
        </a:spcAft>
        <a:defRPr sz="17920">
          <a:solidFill>
            <a:schemeClr val="tx2"/>
          </a:solidFill>
          <a:latin typeface="Arial" charset="0"/>
        </a:defRPr>
      </a:lvl8pPr>
      <a:lvl9pPr marL="2560320" algn="ctr" defTabSz="3731578" rtl="0" fontAlgn="base">
        <a:spcBef>
          <a:spcPct val="0"/>
        </a:spcBef>
        <a:spcAft>
          <a:spcPct val="0"/>
        </a:spcAft>
        <a:defRPr sz="17920">
          <a:solidFill>
            <a:schemeClr val="tx2"/>
          </a:solidFill>
          <a:latin typeface="Arial" charset="0"/>
        </a:defRPr>
      </a:lvl9pPr>
    </p:titleStyle>
    <p:bodyStyle>
      <a:lvl1pPr marL="1400175" indent="-1400175" algn="l" defTabSz="3731578" rtl="0" fontAlgn="base">
        <a:spcBef>
          <a:spcPct val="20000"/>
        </a:spcBef>
        <a:spcAft>
          <a:spcPct val="0"/>
        </a:spcAft>
        <a:buChar char="•"/>
        <a:defRPr sz="13020">
          <a:solidFill>
            <a:schemeClr val="tx1"/>
          </a:solidFill>
          <a:latin typeface="+mn-lt"/>
          <a:ea typeface="+mn-ea"/>
          <a:cs typeface="+mn-cs"/>
        </a:defRPr>
      </a:lvl1pPr>
      <a:lvl2pPr marL="3031490" indent="-1166813" algn="l" defTabSz="3731578" rtl="0" fontAlgn="base">
        <a:spcBef>
          <a:spcPct val="20000"/>
        </a:spcBef>
        <a:spcAft>
          <a:spcPct val="0"/>
        </a:spcAft>
        <a:buChar char="–"/>
        <a:defRPr sz="11340">
          <a:solidFill>
            <a:schemeClr val="tx1"/>
          </a:solidFill>
          <a:latin typeface="+mn-lt"/>
        </a:defRPr>
      </a:lvl2pPr>
      <a:lvl3pPr marL="4662805" indent="-931228" algn="l" defTabSz="3731578" rtl="0" fontAlgn="base">
        <a:spcBef>
          <a:spcPct val="20000"/>
        </a:spcBef>
        <a:spcAft>
          <a:spcPct val="0"/>
        </a:spcAft>
        <a:buChar char="•"/>
        <a:defRPr sz="9800">
          <a:solidFill>
            <a:schemeClr val="tx1"/>
          </a:solidFill>
          <a:latin typeface="+mn-lt"/>
        </a:defRPr>
      </a:lvl3pPr>
      <a:lvl4pPr marL="6527483" indent="-931228" algn="l" defTabSz="3731578" rtl="0" fontAlgn="base">
        <a:spcBef>
          <a:spcPct val="20000"/>
        </a:spcBef>
        <a:spcAft>
          <a:spcPct val="0"/>
        </a:spcAft>
        <a:buChar char="–"/>
        <a:defRPr sz="8120">
          <a:solidFill>
            <a:schemeClr val="tx1"/>
          </a:solidFill>
          <a:latin typeface="+mn-lt"/>
        </a:defRPr>
      </a:lvl4pPr>
      <a:lvl5pPr marL="8394383" indent="-933450" algn="l" defTabSz="3731578" rtl="0" fontAlgn="base">
        <a:spcBef>
          <a:spcPct val="20000"/>
        </a:spcBef>
        <a:spcAft>
          <a:spcPct val="0"/>
        </a:spcAft>
        <a:buChar char="»"/>
        <a:defRPr sz="8120">
          <a:solidFill>
            <a:schemeClr val="tx1"/>
          </a:solidFill>
          <a:latin typeface="+mn-lt"/>
        </a:defRPr>
      </a:lvl5pPr>
      <a:lvl6pPr marL="9034463" indent="-933450" algn="l" defTabSz="3731578" rtl="0" fontAlgn="base">
        <a:spcBef>
          <a:spcPct val="20000"/>
        </a:spcBef>
        <a:spcAft>
          <a:spcPct val="0"/>
        </a:spcAft>
        <a:buChar char="»"/>
        <a:defRPr sz="8120">
          <a:solidFill>
            <a:schemeClr val="tx1"/>
          </a:solidFill>
          <a:latin typeface="+mn-lt"/>
        </a:defRPr>
      </a:lvl6pPr>
      <a:lvl7pPr marL="9674543" indent="-933450" algn="l" defTabSz="3731578" rtl="0" fontAlgn="base">
        <a:spcBef>
          <a:spcPct val="20000"/>
        </a:spcBef>
        <a:spcAft>
          <a:spcPct val="0"/>
        </a:spcAft>
        <a:buChar char="»"/>
        <a:defRPr sz="8120">
          <a:solidFill>
            <a:schemeClr val="tx1"/>
          </a:solidFill>
          <a:latin typeface="+mn-lt"/>
        </a:defRPr>
      </a:lvl7pPr>
      <a:lvl8pPr marL="10314623" indent="-933450" algn="l" defTabSz="3731578" rtl="0" fontAlgn="base">
        <a:spcBef>
          <a:spcPct val="20000"/>
        </a:spcBef>
        <a:spcAft>
          <a:spcPct val="0"/>
        </a:spcAft>
        <a:buChar char="»"/>
        <a:defRPr sz="8120">
          <a:solidFill>
            <a:schemeClr val="tx1"/>
          </a:solidFill>
          <a:latin typeface="+mn-lt"/>
        </a:defRPr>
      </a:lvl8pPr>
      <a:lvl9pPr marL="10954703" indent="-933450" algn="l" defTabSz="3731578" rtl="0" fontAlgn="base">
        <a:spcBef>
          <a:spcPct val="20000"/>
        </a:spcBef>
        <a:spcAft>
          <a:spcPct val="0"/>
        </a:spcAft>
        <a:buChar char="»"/>
        <a:defRPr sz="812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tiff"/><Relationship Id="rId18" Type="http://schemas.openxmlformats.org/officeDocument/2006/relationships/image" Target="../media/image15.emf"/><Relationship Id="rId3" Type="http://schemas.openxmlformats.org/officeDocument/2006/relationships/image" Target="../media/image2.png"/><Relationship Id="rId21" Type="http://schemas.openxmlformats.org/officeDocument/2006/relationships/image" Target="../media/image17.png"/><Relationship Id="rId7" Type="http://schemas.openxmlformats.org/officeDocument/2006/relationships/image" Target="../media/image5.png"/><Relationship Id="rId12" Type="http://schemas.openxmlformats.org/officeDocument/2006/relationships/image" Target="../media/image9.jpeg"/><Relationship Id="rId17" Type="http://schemas.openxmlformats.org/officeDocument/2006/relationships/image" Target="../media/image14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emf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oleObject" Target="../embeddings/oleObject1.bin"/><Relationship Id="rId24" Type="http://schemas.openxmlformats.org/officeDocument/2006/relationships/image" Target="../media/image18.png"/><Relationship Id="rId5" Type="http://schemas.openxmlformats.org/officeDocument/2006/relationships/image" Target="../media/image3.tiff"/><Relationship Id="rId15" Type="http://schemas.openxmlformats.org/officeDocument/2006/relationships/image" Target="../media/image12.emf"/><Relationship Id="rId23" Type="http://schemas.openxmlformats.org/officeDocument/2006/relationships/chart" Target="../charts/chart3.xml"/><Relationship Id="rId10" Type="http://schemas.openxmlformats.org/officeDocument/2006/relationships/image" Target="../media/image8.tiff"/><Relationship Id="rId19" Type="http://schemas.openxmlformats.org/officeDocument/2006/relationships/chart" Target="../charts/chart1.xml"/><Relationship Id="rId4" Type="http://schemas.microsoft.com/office/2007/relationships/hdphoto" Target="../media/hdphoto1.wdp"/><Relationship Id="rId9" Type="http://schemas.openxmlformats.org/officeDocument/2006/relationships/image" Target="../media/image7.jpeg"/><Relationship Id="rId14" Type="http://schemas.openxmlformats.org/officeDocument/2006/relationships/image" Target="../media/image11.png"/><Relationship Id="rId2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AutoShape 31"/>
          <p:cNvSpPr>
            <a:spLocks noChangeArrowheads="1"/>
          </p:cNvSpPr>
          <p:nvPr/>
        </p:nvSpPr>
        <p:spPr bwMode="auto">
          <a:xfrm>
            <a:off x="12985390" y="5403291"/>
            <a:ext cx="12439389" cy="19686954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400" dirty="0">
              <a:latin typeface="Aptos" panose="020B0004020202020204" pitchFamily="34" charset="0"/>
            </a:endParaRPr>
          </a:p>
        </p:txBody>
      </p:sp>
      <p:pic>
        <p:nvPicPr>
          <p:cNvPr id="1039" name="Picture 1038">
            <a:extLst>
              <a:ext uri="{FF2B5EF4-FFF2-40B4-BE49-F238E27FC236}">
                <a16:creationId xmlns:a16="http://schemas.microsoft.com/office/drawing/2014/main" id="{15142564-B805-692B-90FC-BAD659162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4592" r="89974">
                        <a14:foregroundMark x1="20246" y1="33563" x2="14877" y2="33908"/>
                        <a14:foregroundMark x1="14877" y1="33908" x2="9897" y2="30115"/>
                        <a14:foregroundMark x1="9897" y1="30115" x2="5175" y2="34713"/>
                        <a14:foregroundMark x1="5175" y1="34713" x2="4592" y2="45287"/>
                        <a14:foregroundMark x1="4592" y1="45287" x2="10802" y2="49655"/>
                        <a14:foregroundMark x1="10802" y1="49655" x2="20699" y2="51494"/>
                        <a14:foregroundMark x1="74223" y1="28672" x2="78072" y2="28966"/>
                        <a14:foregroundMark x1="72057" y1="28506" x2="74134" y2="28665"/>
                        <a14:foregroundMark x1="78072" y1="28966" x2="79625" y2="40000"/>
                        <a14:foregroundMark x1="79625" y1="40000" x2="78784" y2="50460"/>
                        <a14:foregroundMark x1="78784" y1="50460" x2="78655" y2="50345"/>
                        <a14:foregroundMark x1="74220" y1="28689" x2="78072" y2="31609"/>
                        <a14:foregroundMark x1="73221" y1="27931" x2="74141" y2="28628"/>
                        <a14:foregroundMark x1="78072" y1="31609" x2="80724" y2="31494"/>
                        <a14:foregroundMark x1="5369" y1="31839" x2="5369" y2="31839"/>
                        <a14:foregroundMark x1="36481" y1="34828" x2="36481" y2="34828"/>
                        <a14:foregroundMark x1="33441" y1="33908" x2="38680" y2="34138"/>
                        <a14:foregroundMark x1="38680" y1="34138" x2="41591" y2="33333"/>
                        <a14:foregroundMark x1="51811" y1="30000" x2="42626" y2="30345"/>
                        <a14:foregroundMark x1="41268" y1="31149" x2="26132" y2="30345"/>
                        <a14:foregroundMark x1="25679" y1="30575" x2="16365" y2="29425"/>
                        <a14:backgroundMark x1="10673" y1="27586" x2="2523" y2="29080"/>
                        <a14:backgroundMark x1="11837" y1="26437" x2="8215" y2="28851"/>
                        <a14:backgroundMark x1="10220" y1="28161" x2="15395" y2="30345"/>
                        <a14:backgroundMark x1="25329" y1="29556" x2="25840" y2="29515"/>
                        <a14:backgroundMark x1="15395" y1="30345" x2="16647" y2="30246"/>
                        <a14:backgroundMark x1="42688" y1="28677" x2="68111" y2="24713"/>
                        <a14:backgroundMark x1="38287" y1="29364" x2="42057" y2="28776"/>
                        <a14:backgroundMark x1="68111" y1="24713" x2="68564" y2="24368"/>
                        <a14:backgroundMark x1="25356" y1="27586" x2="25356" y2="27586"/>
                        <a14:backgroundMark x1="29107" y1="27586" x2="37969" y2="26667"/>
                        <a14:backgroundMark x1="28525" y1="26667" x2="17658" y2="26092"/>
                        <a14:backgroundMark x1="17658" y1="26092" x2="22898" y2="27356"/>
                        <a14:backgroundMark x1="22898" y1="27356" x2="25356" y2="26437"/>
                        <a14:backgroundMark x1="74321" y1="28161" x2="74450" y2="270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17694" y="7777860"/>
            <a:ext cx="15515586" cy="7800059"/>
          </a:xfrm>
          <a:prstGeom prst="rect">
            <a:avLst/>
          </a:prstGeom>
        </p:spPr>
      </p:pic>
      <p:sp>
        <p:nvSpPr>
          <p:cNvPr id="2052" name="AutoShape 4"/>
          <p:cNvSpPr>
            <a:spLocks noChangeArrowheads="1"/>
          </p:cNvSpPr>
          <p:nvPr/>
        </p:nvSpPr>
        <p:spPr bwMode="auto">
          <a:xfrm>
            <a:off x="259008" y="5399227"/>
            <a:ext cx="12435840" cy="219456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0349" b="1" dirty="0"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40E206-1CC3-A947-A1D4-49C2DD5C516A}"/>
              </a:ext>
            </a:extLst>
          </p:cNvPr>
          <p:cNvSpPr txBox="1"/>
          <p:nvPr/>
        </p:nvSpPr>
        <p:spPr>
          <a:xfrm>
            <a:off x="315211" y="6152942"/>
            <a:ext cx="12344400" cy="5235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>
              <a:lnSpc>
                <a:spcPct val="115000"/>
              </a:lnSpc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Mega wildfires such as the Los Angeles fires in the spring, the Hawaii </a:t>
            </a:r>
            <a:r>
              <a:rPr lang="en-US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Lahaina 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Fire in 2023, and the 2016 Fort McMurray Fire in Canada impose a devastating toll, destroying cities and taking lives. </a:t>
            </a:r>
          </a:p>
          <a:p>
            <a:pPr marL="342900" marR="0" lvl="0" indent="-342900">
              <a:lnSpc>
                <a:spcPct val="115000"/>
              </a:lnSpc>
              <a:buFont typeface="Symbol" pitchFamily="2" charset="2"/>
              <a:buChar char=""/>
            </a:pPr>
            <a:endParaRPr lang="en-US" sz="2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Symbol" pitchFamily="2" charset="2"/>
              <a:buChar char=""/>
            </a:pP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Symbol" pitchFamily="2" charset="2"/>
              <a:buChar char=""/>
            </a:pPr>
            <a:endParaRPr lang="en-US" sz="2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Symbol" pitchFamily="2" charset="2"/>
              <a:buChar char=""/>
            </a:pP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Symbol" pitchFamily="2" charset="2"/>
              <a:buChar char=""/>
            </a:pPr>
            <a:endParaRPr lang="en-US" sz="2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 algn="l">
              <a:lnSpc>
                <a:spcPct val="115000"/>
              </a:lnSpc>
            </a:pPr>
            <a:endParaRPr lang="en-US" sz="2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 algn="l">
              <a:lnSpc>
                <a:spcPct val="115000"/>
              </a:lnSpc>
            </a:pPr>
            <a:r>
              <a:rPr lang="en-US" sz="2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Fort McMurray Fire (2016)							Flatiron Fire (2012)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78" name="AutoShape 30"/>
          <p:cNvSpPr>
            <a:spLocks noChangeArrowheads="1"/>
          </p:cNvSpPr>
          <p:nvPr/>
        </p:nvSpPr>
        <p:spPr bwMode="auto">
          <a:xfrm>
            <a:off x="25710826" y="5376637"/>
            <a:ext cx="12435840" cy="219456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l"/>
            <a:endParaRPr lang="en-US" sz="10349" dirty="0">
              <a:latin typeface="Aptos" panose="020B0004020202020204" pitchFamily="34" charset="0"/>
            </a:endParaRPr>
          </a:p>
        </p:txBody>
      </p:sp>
      <p:sp>
        <p:nvSpPr>
          <p:cNvPr id="2059" name="Text Box 11"/>
          <p:cNvSpPr txBox="1">
            <a:spLocks noChangeArrowheads="1"/>
          </p:cNvSpPr>
          <p:nvPr/>
        </p:nvSpPr>
        <p:spPr bwMode="auto">
          <a:xfrm>
            <a:off x="26361970" y="19985168"/>
            <a:ext cx="10879456" cy="940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7718" tIns="38860" rIns="77718" bIns="38860">
            <a:spAutoFit/>
          </a:bodyPr>
          <a:lstStyle/>
          <a:p>
            <a:pPr defTabSz="3731578">
              <a:spcBef>
                <a:spcPct val="50000"/>
              </a:spcBef>
            </a:pPr>
            <a:r>
              <a:rPr lang="en-US" sz="5600" b="1" dirty="0">
                <a:latin typeface="Aptos" panose="020B0004020202020204" pitchFamily="34" charset="0"/>
              </a:rPr>
              <a:t>Discussion &amp; Conclusions</a:t>
            </a:r>
          </a:p>
        </p:txBody>
      </p:sp>
      <p:sp>
        <p:nvSpPr>
          <p:cNvPr id="2061" name="AutoShape 13"/>
          <p:cNvSpPr>
            <a:spLocks noChangeArrowheads="1"/>
          </p:cNvSpPr>
          <p:nvPr/>
        </p:nvSpPr>
        <p:spPr bwMode="auto">
          <a:xfrm>
            <a:off x="315310" y="378372"/>
            <a:ext cx="37711117" cy="4572000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77718" tIns="38860" rIns="77718" bIns="38860" anchor="ctr"/>
          <a:lstStyle/>
          <a:p>
            <a:pPr defTabSz="3731578"/>
            <a:endParaRPr lang="en-US" sz="10349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090" name="Text Box 42"/>
          <p:cNvSpPr txBox="1">
            <a:spLocks noChangeArrowheads="1"/>
          </p:cNvSpPr>
          <p:nvPr/>
        </p:nvSpPr>
        <p:spPr bwMode="auto">
          <a:xfrm>
            <a:off x="1904579" y="5458371"/>
            <a:ext cx="8601075" cy="940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7718" tIns="38860" rIns="77718" bIns="38860">
            <a:spAutoFit/>
          </a:bodyPr>
          <a:lstStyle/>
          <a:p>
            <a:pPr defTabSz="3731578">
              <a:spcBef>
                <a:spcPct val="50000"/>
              </a:spcBef>
            </a:pPr>
            <a:r>
              <a:rPr lang="en-US" sz="5600" b="1" dirty="0">
                <a:latin typeface="Aptos" panose="020B0004020202020204" pitchFamily="34" charset="0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1022" y="8014290"/>
            <a:ext cx="3618823" cy="329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>
              <a:lnSpc>
                <a:spcPct val="115000"/>
              </a:lnSpc>
            </a:pPr>
            <a:r>
              <a:rPr lang="en-US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Fires often follow unexpected paths.</a:t>
            </a:r>
          </a:p>
          <a:p>
            <a:pPr marR="0" lvl="0">
              <a:lnSpc>
                <a:spcPct val="115000"/>
              </a:lnSpc>
            </a:pPr>
            <a:r>
              <a:rPr lang="en-US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Need for graphics-based AI assistance for on-scene fire suppression supervisor: A fire predictor display system we call </a:t>
            </a:r>
            <a:r>
              <a:rPr lang="en-US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FIPRED.</a:t>
            </a:r>
          </a:p>
          <a:p>
            <a:pPr marL="480060" indent="-480060" algn="l">
              <a:buFont typeface="Arial" panose="020B0604020202020204" pitchFamily="34" charset="0"/>
              <a:buChar char="•"/>
            </a:pPr>
            <a:endParaRPr lang="en-US" sz="2200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AE2E47-78BD-BD4D-93E6-70D921199F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4306" y="3485934"/>
            <a:ext cx="8750300" cy="13462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48F5ED7-84C4-3F46-89B3-BE8A1A457D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7003" y="932223"/>
            <a:ext cx="3413760" cy="3413760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C4F59CDF-7D25-3F46-B27C-8409B35E64AE}"/>
              </a:ext>
            </a:extLst>
          </p:cNvPr>
          <p:cNvSpPr txBox="1"/>
          <p:nvPr/>
        </p:nvSpPr>
        <p:spPr>
          <a:xfrm>
            <a:off x="13092100" y="8998844"/>
            <a:ext cx="12290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>
                <a:latin typeface="Aptos" panose="020B0004020202020204" pitchFamily="34" charset="0"/>
              </a:rPr>
              <a:t>Scenarios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546F609E-2308-A847-B94C-9A0C5BD605F8}"/>
              </a:ext>
            </a:extLst>
          </p:cNvPr>
          <p:cNvSpPr txBox="1"/>
          <p:nvPr/>
        </p:nvSpPr>
        <p:spPr>
          <a:xfrm>
            <a:off x="13369369" y="5501344"/>
            <a:ext cx="11544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>
                <a:latin typeface="Aptos" panose="020B0004020202020204" pitchFamily="34" charset="0"/>
              </a:rPr>
              <a:t>Training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2091" name="Text Box 43"/>
          <p:cNvSpPr txBox="1">
            <a:spLocks noChangeArrowheads="1"/>
          </p:cNvSpPr>
          <p:nvPr/>
        </p:nvSpPr>
        <p:spPr bwMode="auto">
          <a:xfrm>
            <a:off x="27501160" y="5489917"/>
            <a:ext cx="8601075" cy="940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7718" tIns="38860" rIns="77718" bIns="38860">
            <a:spAutoFit/>
          </a:bodyPr>
          <a:lstStyle/>
          <a:p>
            <a:pPr defTabSz="3731578">
              <a:spcBef>
                <a:spcPct val="50000"/>
              </a:spcBef>
            </a:pPr>
            <a:r>
              <a:rPr lang="en-US" sz="5600" b="1" dirty="0">
                <a:latin typeface="Aptos" panose="020B0004020202020204" pitchFamily="34" charset="0"/>
              </a:rPr>
              <a:t>Results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C5EBB0-77B9-4740-938F-838C00687241}"/>
              </a:ext>
            </a:extLst>
          </p:cNvPr>
          <p:cNvSpPr txBox="1"/>
          <p:nvPr/>
        </p:nvSpPr>
        <p:spPr>
          <a:xfrm>
            <a:off x="13394405" y="25911665"/>
            <a:ext cx="83122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>
                <a:solidFill>
                  <a:schemeClr val="bg1"/>
                </a:solidFill>
                <a:latin typeface="Aptos" panose="020B0004020202020204" pitchFamily="34" charset="0"/>
              </a:rPr>
              <a:t>Sponsored by Smokey Bear. </a:t>
            </a:r>
          </a:p>
        </p:txBody>
      </p:sp>
      <p:pic>
        <p:nvPicPr>
          <p:cNvPr id="1026" name="Picture 2" descr="Bucky Badger - Wikipedia">
            <a:extLst>
              <a:ext uri="{FF2B5EF4-FFF2-40B4-BE49-F238E27FC236}">
                <a16:creationId xmlns:a16="http://schemas.microsoft.com/office/drawing/2014/main" id="{34BA02C2-744E-1C8B-BD6A-321809684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567" y="795321"/>
            <a:ext cx="3020627" cy="3884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red and black logo&#10;&#10;AI-generated content may be incorrect.">
            <a:extLst>
              <a:ext uri="{FF2B5EF4-FFF2-40B4-BE49-F238E27FC236}">
                <a16:creationId xmlns:a16="http://schemas.microsoft.com/office/drawing/2014/main" id="{AE273626-CC9F-822C-C1DD-8DEE7A7323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737" y="3675906"/>
            <a:ext cx="4559058" cy="104292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ED648E9-6BAC-A273-557F-3F655F39104B}"/>
              </a:ext>
            </a:extLst>
          </p:cNvPr>
          <p:cNvSpPr txBox="1"/>
          <p:nvPr/>
        </p:nvSpPr>
        <p:spPr>
          <a:xfrm>
            <a:off x="8303396" y="3536011"/>
            <a:ext cx="1570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ptos" panose="020B0004020202020204" pitchFamily="3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074A77-8839-E287-3A8E-EDF26764E4EC}"/>
              </a:ext>
            </a:extLst>
          </p:cNvPr>
          <p:cNvSpPr txBox="1"/>
          <p:nvPr/>
        </p:nvSpPr>
        <p:spPr>
          <a:xfrm>
            <a:off x="16310542" y="3732888"/>
            <a:ext cx="3806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ptos" panose="020B0004020202020204" pitchFamily="34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26" name="Picture 2" descr="2016 Fort McMurray wildfire - Wikipedia">
            <a:extLst>
              <a:ext uri="{FF2B5EF4-FFF2-40B4-BE49-F238E27FC236}">
                <a16:creationId xmlns:a16="http://schemas.microsoft.com/office/drawing/2014/main" id="{AD4DA3C8-DA7C-4D46-C20B-B24CC6803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42" y="7976096"/>
            <a:ext cx="4013738" cy="267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 descr="A mountain with lights at night&#10;&#10;AI-generated content may be incorrect.">
            <a:extLst>
              <a:ext uri="{FF2B5EF4-FFF2-40B4-BE49-F238E27FC236}">
                <a16:creationId xmlns:a16="http://schemas.microsoft.com/office/drawing/2014/main" id="{04C0D290-D621-EE5D-3B31-795BCE6F63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1562" y="8014290"/>
            <a:ext cx="4288210" cy="264280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17B3B71-D85B-0801-A4E2-673BB8456CD2}"/>
              </a:ext>
            </a:extLst>
          </p:cNvPr>
          <p:cNvSpPr txBox="1"/>
          <p:nvPr/>
        </p:nvSpPr>
        <p:spPr>
          <a:xfrm>
            <a:off x="369133" y="11291795"/>
            <a:ext cx="12263717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Predictor displays are valuable in several other domains.</a:t>
            </a:r>
          </a:p>
          <a:p>
            <a:pPr algn="l"/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	     </a:t>
            </a:r>
          </a:p>
          <a:p>
            <a:pPr algn="r"/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 algn="r">
              <a:buFont typeface="Arial" panose="020B0604020202020204" pitchFamily="34" charset="0"/>
              <a:buChar char="•"/>
            </a:pPr>
            <a:endParaRPr lang="en-US" sz="32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/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/>
            <a:endParaRPr lang="en-US" sz="32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/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Predictor displays based on an AI model of the process.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FIPRED, we use a simplified Fire Model (e.g., Koen, 2023).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AI is imperfect</a:t>
            </a: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what happens when the user becomes totally dependent upon the AI and it makes a mistake: </a:t>
            </a: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AI</a:t>
            </a: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fails</a:t>
            </a: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The user follows its erroneous guidance.</a:t>
            </a:r>
          </a:p>
          <a:p>
            <a:pPr marL="1107110" lvl="1" indent="-457200" algn="l">
              <a:buFont typeface="Arial" panose="020B0604020202020204" pitchFamily="34" charset="0"/>
              <a:buChar char="•"/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is </a:t>
            </a:r>
            <a:r>
              <a:rPr lang="en-US" sz="28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automation bias.</a:t>
            </a:r>
            <a:endParaRPr lang="en-US" sz="28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80060" indent="-480060" algn="l">
              <a:buFont typeface="Arial" panose="020B0604020202020204" pitchFamily="34" charset="0"/>
              <a:buChar char="•"/>
            </a:pP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2D1E3D-116B-682A-661E-185DFDD6957D}"/>
              </a:ext>
            </a:extLst>
          </p:cNvPr>
          <p:cNvSpPr txBox="1"/>
          <p:nvPr/>
        </p:nvSpPr>
        <p:spPr>
          <a:xfrm>
            <a:off x="3491015" y="11730640"/>
            <a:ext cx="46190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Cone of Uncertainty Hurricane Predictor</a:t>
            </a:r>
            <a:r>
              <a:rPr lang="en-US" sz="28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62E27A-978C-EA52-D04E-D6C811B5A2EA}"/>
              </a:ext>
            </a:extLst>
          </p:cNvPr>
          <p:cNvSpPr txBox="1"/>
          <p:nvPr/>
        </p:nvSpPr>
        <p:spPr>
          <a:xfrm>
            <a:off x="360099" y="11973789"/>
            <a:ext cx="3882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3D  Flight Path Predictor</a:t>
            </a:r>
          </a:p>
        </p:txBody>
      </p:sp>
      <p:graphicFrame>
        <p:nvGraphicFramePr>
          <p:cNvPr id="33" name="Object 32" descr="A green lines on a grassy field&#13;&#13;&#10;&#13;&#13;&#10;AI-generated content may be incorrect.">
            <a:extLst>
              <a:ext uri="{FF2B5EF4-FFF2-40B4-BE49-F238E27FC236}">
                <a16:creationId xmlns:a16="http://schemas.microsoft.com/office/drawing/2014/main" id="{96D06814-7C38-0E60-313A-7F6CAE84E9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287742"/>
              </p:ext>
            </p:extLst>
          </p:nvPr>
        </p:nvGraphicFramePr>
        <p:xfrm>
          <a:off x="632918" y="12742340"/>
          <a:ext cx="3072857" cy="2693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413000" imgH="2108200" progId="Unknown">
                  <p:embed/>
                </p:oleObj>
              </mc:Choice>
              <mc:Fallback>
                <p:oleObj r:id="rId11" imgW="2413000" imgH="2108200" progId="Unknown">
                  <p:embed/>
                  <p:pic>
                    <p:nvPicPr>
                      <p:cNvPr id="5" name="Object 4" descr="A green lines on a grassy field&#13;&#13;&#10;&#13;&#13;&#10;AI-generated content may be incorrect.">
                        <a:extLst>
                          <a:ext uri="{FF2B5EF4-FFF2-40B4-BE49-F238E27FC236}">
                            <a16:creationId xmlns:a16="http://schemas.microsoft.com/office/drawing/2014/main" id="{3790E143-8427-2F27-FFB5-903BEF23A1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918" y="12742340"/>
                        <a:ext cx="3072857" cy="26934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4" name="Picture 33" descr="A map of a hurricane&#10;&#10;AI-generated content may be incorrect.">
            <a:extLst>
              <a:ext uri="{FF2B5EF4-FFF2-40B4-BE49-F238E27FC236}">
                <a16:creationId xmlns:a16="http://schemas.microsoft.com/office/drawing/2014/main" id="{24F4E67F-EB9D-D965-DD8D-5E90B349283D}"/>
              </a:ext>
            </a:extLst>
          </p:cNvPr>
          <p:cNvPicPr/>
          <p:nvPr/>
        </p:nvPicPr>
        <p:blipFill>
          <a:blip r:embed="rId13"/>
          <a:stretch>
            <a:fillRect/>
          </a:stretch>
        </p:blipFill>
        <p:spPr>
          <a:xfrm>
            <a:off x="4399780" y="12792036"/>
            <a:ext cx="2804692" cy="279149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75C0793-5842-821F-A1F0-713B46A7CF47}"/>
              </a:ext>
            </a:extLst>
          </p:cNvPr>
          <p:cNvSpPr txBox="1"/>
          <p:nvPr/>
        </p:nvSpPr>
        <p:spPr>
          <a:xfrm>
            <a:off x="7497188" y="12909695"/>
            <a:ext cx="501683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be useful, the predictor look-ahead time (</a:t>
            </a: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LAT</a:t>
            </a: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must be greater than the required action time (</a:t>
            </a: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RAT</a:t>
            </a: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of responding personnel (e.g., evacuation time): </a:t>
            </a: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LAT&gt;RAT.</a:t>
            </a:r>
          </a:p>
          <a:p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8B2EF6-04B7-BA45-92DC-D39DFF3562C5}"/>
              </a:ext>
            </a:extLst>
          </p:cNvPr>
          <p:cNvSpPr txBox="1"/>
          <p:nvPr/>
        </p:nvSpPr>
        <p:spPr>
          <a:xfrm>
            <a:off x="576923" y="24912189"/>
            <a:ext cx="12040771" cy="2850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Participants need to predict the forward point of the fire boundary at the next time point based on:</a:t>
            </a:r>
          </a:p>
          <a:p>
            <a:pPr marL="742950" lvl="1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the prediction says.</a:t>
            </a:r>
          </a:p>
          <a:p>
            <a:pPr marL="742950" lvl="1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the raw data (winds, vegetation, terrain) are telling them.</a:t>
            </a:r>
          </a:p>
          <a:p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D33CAE-DDAE-7D6F-53B8-012EBDB0C82C}"/>
              </a:ext>
            </a:extLst>
          </p:cNvPr>
          <p:cNvSpPr txBox="1"/>
          <p:nvPr/>
        </p:nvSpPr>
        <p:spPr>
          <a:xfrm>
            <a:off x="386042" y="19322000"/>
            <a:ext cx="610377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n-US" sz="3200" b="1" dirty="0">
                <a:latin typeface="Aptos" panose="020B0004020202020204" pitchFamily="34" charset="0"/>
              </a:rPr>
              <a:t>The FIPRED Display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Aptos" panose="020B0004020202020204" pitchFamily="34" charset="0"/>
              </a:rPr>
              <a:t>Simple Fire Model predicts the trajectory.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Aptos" panose="020B0004020202020204" pitchFamily="34" charset="0"/>
              </a:rPr>
              <a:t>3 points into the future, (t1,t2,t3)  based on our 3 factor Fire Model:</a:t>
            </a:r>
          </a:p>
          <a:p>
            <a:pPr marL="992810" lvl="1" indent="-3429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Aptos" panose="020B0004020202020204" pitchFamily="34" charset="0"/>
              </a:rPr>
              <a:t>Winds aloft (speed and direction)</a:t>
            </a:r>
          </a:p>
          <a:p>
            <a:pPr marL="992810" lvl="1" indent="-3429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Aptos" panose="020B0004020202020204" pitchFamily="34" charset="0"/>
              </a:rPr>
              <a:t>Vegetation</a:t>
            </a:r>
          </a:p>
          <a:p>
            <a:pPr marL="992810" lvl="1" indent="-3429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Aptos" panose="020B0004020202020204" pitchFamily="34" charset="0"/>
              </a:rPr>
              <a:t>Terrain (contours): fires ”like to” go uphill</a:t>
            </a:r>
          </a:p>
          <a:p>
            <a:pPr algn="l"/>
            <a:endParaRPr lang="en-US" sz="3200" dirty="0">
              <a:latin typeface="Aptos" panose="020B0004020202020204" pitchFamily="34" charset="0"/>
            </a:endParaRPr>
          </a:p>
        </p:txBody>
      </p:sp>
      <p:pic>
        <p:nvPicPr>
          <p:cNvPr id="40" name="Picture 39" descr="A diagram of a weather forecast&#10;&#10;AI-generated content may be incorrect.">
            <a:extLst>
              <a:ext uri="{FF2B5EF4-FFF2-40B4-BE49-F238E27FC236}">
                <a16:creationId xmlns:a16="http://schemas.microsoft.com/office/drawing/2014/main" id="{9227D662-DB9D-D195-9E53-74FFDF2F56F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53133" y="20232032"/>
            <a:ext cx="6243562" cy="352666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B5E28739-38F2-1B4F-0917-8740B03FEEFE}"/>
              </a:ext>
            </a:extLst>
          </p:cNvPr>
          <p:cNvSpPr txBox="1"/>
          <p:nvPr/>
        </p:nvSpPr>
        <p:spPr>
          <a:xfrm>
            <a:off x="4865244" y="18526806"/>
            <a:ext cx="313739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600" b="1" dirty="0">
                <a:latin typeface="Aptos" panose="020B0004020202020204" pitchFamily="34" charset="0"/>
              </a:rPr>
              <a:t>Methods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2C137D33-F1D6-0D26-4EB0-92772DE293AA}"/>
              </a:ext>
            </a:extLst>
          </p:cNvPr>
          <p:cNvSpPr txBox="1"/>
          <p:nvPr/>
        </p:nvSpPr>
        <p:spPr>
          <a:xfrm>
            <a:off x="22366405" y="8243964"/>
            <a:ext cx="2547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Display updates. </a:t>
            </a:r>
          </a:p>
        </p:txBody>
      </p:sp>
      <p:sp>
        <p:nvSpPr>
          <p:cNvPr id="186" name="Title 1">
            <a:extLst>
              <a:ext uri="{FF2B5EF4-FFF2-40B4-BE49-F238E27FC236}">
                <a16:creationId xmlns:a16="http://schemas.microsoft.com/office/drawing/2014/main" id="{F9867907-BA29-0010-4D34-240ACFFC51EF}"/>
              </a:ext>
            </a:extLst>
          </p:cNvPr>
          <p:cNvSpPr txBox="1">
            <a:spLocks/>
          </p:cNvSpPr>
          <p:nvPr/>
        </p:nvSpPr>
        <p:spPr>
          <a:xfrm>
            <a:off x="14256678" y="62749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Aptos" panose="020B0004020202020204" pitchFamily="34" charset="0"/>
              </a:rPr>
              <a:t>Slide 4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640FE29A-2C8E-F7C6-E4BD-156707A74D0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418478" y="6298062"/>
            <a:ext cx="3166124" cy="1906437"/>
          </a:xfrm>
          <a:prstGeom prst="rect">
            <a:avLst/>
          </a:prstGeom>
        </p:spPr>
      </p:pic>
      <p:pic>
        <p:nvPicPr>
          <p:cNvPr id="188" name="Picture 187">
            <a:extLst>
              <a:ext uri="{FF2B5EF4-FFF2-40B4-BE49-F238E27FC236}">
                <a16:creationId xmlns:a16="http://schemas.microsoft.com/office/drawing/2014/main" id="{F0EDE588-57D8-1C92-3A5F-867C3AE2FD8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886590" y="6298062"/>
            <a:ext cx="3327881" cy="1716657"/>
          </a:xfrm>
          <a:prstGeom prst="rect">
            <a:avLst/>
          </a:prstGeom>
        </p:spPr>
      </p:pic>
      <p:pic>
        <p:nvPicPr>
          <p:cNvPr id="189" name="Picture 188">
            <a:extLst>
              <a:ext uri="{FF2B5EF4-FFF2-40B4-BE49-F238E27FC236}">
                <a16:creationId xmlns:a16="http://schemas.microsoft.com/office/drawing/2014/main" id="{89A09556-EB47-F141-CB59-929E3CFA9B0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077408" y="6358448"/>
            <a:ext cx="3157504" cy="1846052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8DA1FC40-0298-A12A-B5B2-51F5A42B714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125405" y="6358448"/>
            <a:ext cx="3308951" cy="1644021"/>
          </a:xfrm>
          <a:prstGeom prst="rect">
            <a:avLst/>
          </a:prstGeom>
        </p:spPr>
      </p:pic>
      <p:sp>
        <p:nvSpPr>
          <p:cNvPr id="191" name="TextBox 190">
            <a:extLst>
              <a:ext uri="{FF2B5EF4-FFF2-40B4-BE49-F238E27FC236}">
                <a16:creationId xmlns:a16="http://schemas.microsoft.com/office/drawing/2014/main" id="{CCB250DD-A2FB-80A1-10A7-A0F4674AE4A7}"/>
              </a:ext>
            </a:extLst>
          </p:cNvPr>
          <p:cNvSpPr txBox="1"/>
          <p:nvPr/>
        </p:nvSpPr>
        <p:spPr>
          <a:xfrm>
            <a:off x="13408901" y="7829412"/>
            <a:ext cx="11294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Aptos" panose="020B0004020202020204" pitchFamily="34" charset="0"/>
              </a:rPr>
              <a:t>Screen 1	          Screen 2		              Screen 3		        Screen 4</a:t>
            </a: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05642EE3-CF73-0890-AB3D-9D60E772D3DB}"/>
              </a:ext>
            </a:extLst>
          </p:cNvPr>
          <p:cNvSpPr/>
          <p:nvPr/>
        </p:nvSpPr>
        <p:spPr>
          <a:xfrm>
            <a:off x="14199920" y="6517414"/>
            <a:ext cx="622059" cy="388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5A59792B-3756-FC52-B9FA-088B32F682FF}"/>
              </a:ext>
            </a:extLst>
          </p:cNvPr>
          <p:cNvCxnSpPr>
            <a:cxnSpLocks/>
          </p:cNvCxnSpPr>
          <p:nvPr/>
        </p:nvCxnSpPr>
        <p:spPr>
          <a:xfrm flipV="1">
            <a:off x="13418478" y="8264884"/>
            <a:ext cx="11616735" cy="96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879B4A8C-05DE-D094-A9A4-B8FFB0B106F2}"/>
              </a:ext>
            </a:extLst>
          </p:cNvPr>
          <p:cNvCxnSpPr>
            <a:cxnSpLocks/>
          </p:cNvCxnSpPr>
          <p:nvPr/>
        </p:nvCxnSpPr>
        <p:spPr>
          <a:xfrm flipV="1">
            <a:off x="17667762" y="6867406"/>
            <a:ext cx="348595" cy="15539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Arrow Connector 1027">
            <a:extLst>
              <a:ext uri="{FF2B5EF4-FFF2-40B4-BE49-F238E27FC236}">
                <a16:creationId xmlns:a16="http://schemas.microsoft.com/office/drawing/2014/main" id="{2E455E81-64B3-8478-A945-CFA47E051513}"/>
              </a:ext>
            </a:extLst>
          </p:cNvPr>
          <p:cNvCxnSpPr>
            <a:cxnSpLocks/>
          </p:cNvCxnSpPr>
          <p:nvPr/>
        </p:nvCxnSpPr>
        <p:spPr>
          <a:xfrm flipV="1">
            <a:off x="20711407" y="6867406"/>
            <a:ext cx="151667" cy="15539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71DA3778-293F-4B71-DA5D-6E3DF46EB084}"/>
              </a:ext>
            </a:extLst>
          </p:cNvPr>
          <p:cNvCxnSpPr>
            <a:cxnSpLocks/>
          </p:cNvCxnSpPr>
          <p:nvPr/>
        </p:nvCxnSpPr>
        <p:spPr>
          <a:xfrm>
            <a:off x="15886590" y="6274999"/>
            <a:ext cx="0" cy="19898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Connector 1029">
            <a:extLst>
              <a:ext uri="{FF2B5EF4-FFF2-40B4-BE49-F238E27FC236}">
                <a16:creationId xmlns:a16="http://schemas.microsoft.com/office/drawing/2014/main" id="{E629F45B-2B98-87CA-7B0B-EB0BA5CF0B80}"/>
              </a:ext>
            </a:extLst>
          </p:cNvPr>
          <p:cNvCxnSpPr>
            <a:cxnSpLocks/>
          </p:cNvCxnSpPr>
          <p:nvPr/>
        </p:nvCxnSpPr>
        <p:spPr>
          <a:xfrm>
            <a:off x="18849923" y="6274999"/>
            <a:ext cx="0" cy="19898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2446CD6B-9437-390D-4BBD-B9E685F7C3A2}"/>
              </a:ext>
            </a:extLst>
          </p:cNvPr>
          <p:cNvCxnSpPr>
            <a:cxnSpLocks/>
          </p:cNvCxnSpPr>
          <p:nvPr/>
        </p:nvCxnSpPr>
        <p:spPr>
          <a:xfrm>
            <a:off x="22111105" y="6274999"/>
            <a:ext cx="0" cy="19898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645CAEBB-45AB-A7CC-9621-66E61AC281C4}"/>
              </a:ext>
            </a:extLst>
          </p:cNvPr>
          <p:cNvCxnSpPr>
            <a:cxnSpLocks/>
          </p:cNvCxnSpPr>
          <p:nvPr/>
        </p:nvCxnSpPr>
        <p:spPr>
          <a:xfrm>
            <a:off x="24751027" y="6274999"/>
            <a:ext cx="0" cy="19898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6F1C8DD8-A86E-C9FE-FD43-5D8C084B8529}"/>
              </a:ext>
            </a:extLst>
          </p:cNvPr>
          <p:cNvCxnSpPr>
            <a:cxnSpLocks/>
          </p:cNvCxnSpPr>
          <p:nvPr/>
        </p:nvCxnSpPr>
        <p:spPr>
          <a:xfrm>
            <a:off x="13418478" y="6284635"/>
            <a:ext cx="0" cy="19898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B127E244-3359-DA46-EEDF-17BBF55DB98D}"/>
              </a:ext>
            </a:extLst>
          </p:cNvPr>
          <p:cNvCxnSpPr>
            <a:cxnSpLocks/>
          </p:cNvCxnSpPr>
          <p:nvPr/>
        </p:nvCxnSpPr>
        <p:spPr>
          <a:xfrm flipV="1">
            <a:off x="13368848" y="6253140"/>
            <a:ext cx="11353800" cy="26785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5" name="TextBox 1034">
            <a:extLst>
              <a:ext uri="{FF2B5EF4-FFF2-40B4-BE49-F238E27FC236}">
                <a16:creationId xmlns:a16="http://schemas.microsoft.com/office/drawing/2014/main" id="{68DBEE3C-0D22-A08B-E0D5-9CC1CF809614}"/>
              </a:ext>
            </a:extLst>
          </p:cNvPr>
          <p:cNvSpPr txBox="1"/>
          <p:nvPr/>
        </p:nvSpPr>
        <p:spPr>
          <a:xfrm>
            <a:off x="13147258" y="8258487"/>
            <a:ext cx="2912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Participant sees.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F94ECB06-E2F6-A515-6302-1047BA6A1B7F}"/>
              </a:ext>
            </a:extLst>
          </p:cNvPr>
          <p:cNvSpPr txBox="1"/>
          <p:nvPr/>
        </p:nvSpPr>
        <p:spPr>
          <a:xfrm>
            <a:off x="2553202" y="8278073"/>
            <a:ext cx="29745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Participant predicts. 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72545557-4EFB-5F4D-66EF-DFBEE78E16CE}"/>
              </a:ext>
            </a:extLst>
          </p:cNvPr>
          <p:cNvSpPr txBox="1"/>
          <p:nvPr/>
        </p:nvSpPr>
        <p:spPr>
          <a:xfrm>
            <a:off x="18747242" y="8241920"/>
            <a:ext cx="36922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Participant receives feedback. 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5A29B7F3-EA3C-5044-8156-B98F9C3ECEAA}"/>
              </a:ext>
            </a:extLst>
          </p:cNvPr>
          <p:cNvSpPr txBox="1"/>
          <p:nvPr/>
        </p:nvSpPr>
        <p:spPr>
          <a:xfrm>
            <a:off x="14600320" y="9241807"/>
            <a:ext cx="86851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Aptos" panose="020B0004020202020204" pitchFamily="34" charset="0"/>
              </a:rPr>
              <a:t>Experimental Design</a:t>
            </a:r>
          </a:p>
          <a:p>
            <a:pPr algn="ctr"/>
            <a:r>
              <a:rPr lang="en-US" sz="2800" dirty="0">
                <a:latin typeface="Aptos" panose="020B0004020202020204" pitchFamily="34" charset="0"/>
              </a:rPr>
              <a:t>6 Scenarios, each assessing 4 predictions (t1, t2, t3, t4)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D54E3C95-443B-991C-A79A-35686F70A7D5}"/>
              </a:ext>
            </a:extLst>
          </p:cNvPr>
          <p:cNvSpPr txBox="1"/>
          <p:nvPr/>
        </p:nvSpPr>
        <p:spPr>
          <a:xfrm>
            <a:off x="12858342" y="11573691"/>
            <a:ext cx="12214259" cy="403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60"/>
              </a:lnSpc>
            </a:pPr>
            <a:r>
              <a:rPr lang="en-US" sz="2800" dirty="0">
                <a:latin typeface="Aptos" panose="020B0004020202020204" pitchFamily="34" charset="0"/>
              </a:rPr>
              <a:t>A		   B		   C		    D		    E		      F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DEA43EAE-5FEB-5A92-A974-B48D718221BC}"/>
              </a:ext>
            </a:extLst>
          </p:cNvPr>
          <p:cNvSpPr txBox="1"/>
          <p:nvPr/>
        </p:nvSpPr>
        <p:spPr>
          <a:xfrm>
            <a:off x="13191097" y="12115349"/>
            <a:ext cx="1202260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4 cycles with feedback for each fire scenario.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Six different fire scenarios: counterbalanced order.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Across these scenarios, participants can learn to predict (internalize the fire model).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b="1" dirty="0">
                <a:latin typeface="Aptos" panose="020B0004020202020204" pitchFamily="34" charset="0"/>
              </a:rPr>
              <a:t>Automation fails on the final scenario.</a:t>
            </a:r>
          </a:p>
          <a:p>
            <a:pPr algn="l"/>
            <a:r>
              <a:rPr lang="en-US" sz="2800" dirty="0">
                <a:latin typeface="Aptos" panose="020B0004020202020204" pitchFamily="34" charset="0"/>
              </a:rPr>
              <a:t>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800" dirty="0">
              <a:latin typeface="Aptos" panose="020B00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800" dirty="0">
              <a:latin typeface="Aptos" panose="020B00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800" dirty="0">
              <a:latin typeface="Aptos" panose="020B0004020202020204" pitchFamily="34" charset="0"/>
            </a:endParaRPr>
          </a:p>
          <a:p>
            <a:pPr algn="l"/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A7102456-7EC6-090E-DE59-C05A85E2D821}"/>
              </a:ext>
            </a:extLst>
          </p:cNvPr>
          <p:cNvSpPr txBox="1"/>
          <p:nvPr/>
        </p:nvSpPr>
        <p:spPr>
          <a:xfrm>
            <a:off x="13129168" y="14423502"/>
            <a:ext cx="3744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Automation Failure</a:t>
            </a:r>
          </a:p>
        </p:txBody>
      </p:sp>
      <p:sp>
        <p:nvSpPr>
          <p:cNvPr id="1048" name="Right Arrow 1047">
            <a:extLst>
              <a:ext uri="{FF2B5EF4-FFF2-40B4-BE49-F238E27FC236}">
                <a16:creationId xmlns:a16="http://schemas.microsoft.com/office/drawing/2014/main" id="{38A7755E-F4E3-266A-BA31-6846345B95FE}"/>
              </a:ext>
            </a:extLst>
          </p:cNvPr>
          <p:cNvSpPr/>
          <p:nvPr/>
        </p:nvSpPr>
        <p:spPr>
          <a:xfrm>
            <a:off x="17999105" y="15548360"/>
            <a:ext cx="1794294" cy="4485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1049" name="Oval 1048">
            <a:extLst>
              <a:ext uri="{FF2B5EF4-FFF2-40B4-BE49-F238E27FC236}">
                <a16:creationId xmlns:a16="http://schemas.microsoft.com/office/drawing/2014/main" id="{9A876828-91E9-BD9C-FEDF-7AE4FDA9F69F}"/>
              </a:ext>
            </a:extLst>
          </p:cNvPr>
          <p:cNvSpPr/>
          <p:nvPr/>
        </p:nvSpPr>
        <p:spPr>
          <a:xfrm>
            <a:off x="20373728" y="16825070"/>
            <a:ext cx="448574" cy="44857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1050" name="Oval 1049">
            <a:extLst>
              <a:ext uri="{FF2B5EF4-FFF2-40B4-BE49-F238E27FC236}">
                <a16:creationId xmlns:a16="http://schemas.microsoft.com/office/drawing/2014/main" id="{ADDA99FE-66D1-8FE5-0848-976BA93108EA}"/>
              </a:ext>
            </a:extLst>
          </p:cNvPr>
          <p:cNvSpPr/>
          <p:nvPr/>
        </p:nvSpPr>
        <p:spPr>
          <a:xfrm>
            <a:off x="18769731" y="18602110"/>
            <a:ext cx="448574" cy="4485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1051" name="Oval 1050">
            <a:extLst>
              <a:ext uri="{FF2B5EF4-FFF2-40B4-BE49-F238E27FC236}">
                <a16:creationId xmlns:a16="http://schemas.microsoft.com/office/drawing/2014/main" id="{7FEABB88-C437-6D5B-7F3C-B959D80F5588}"/>
              </a:ext>
            </a:extLst>
          </p:cNvPr>
          <p:cNvSpPr/>
          <p:nvPr/>
        </p:nvSpPr>
        <p:spPr>
          <a:xfrm>
            <a:off x="17283112" y="20085855"/>
            <a:ext cx="448574" cy="4485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1052" name="Oval 1051">
            <a:extLst>
              <a:ext uri="{FF2B5EF4-FFF2-40B4-BE49-F238E27FC236}">
                <a16:creationId xmlns:a16="http://schemas.microsoft.com/office/drawing/2014/main" id="{38A97BF2-C585-CE70-9AC7-8BDA961162FD}"/>
              </a:ext>
            </a:extLst>
          </p:cNvPr>
          <p:cNvSpPr/>
          <p:nvPr/>
        </p:nvSpPr>
        <p:spPr>
          <a:xfrm rot="3081751">
            <a:off x="16767884" y="16049168"/>
            <a:ext cx="2242868" cy="282946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1053" name="Oval 1052">
            <a:extLst>
              <a:ext uri="{FF2B5EF4-FFF2-40B4-BE49-F238E27FC236}">
                <a16:creationId xmlns:a16="http://schemas.microsoft.com/office/drawing/2014/main" id="{DA97E4B5-3483-CBDC-CA11-9D84CBE29121}"/>
              </a:ext>
            </a:extLst>
          </p:cNvPr>
          <p:cNvSpPr/>
          <p:nvPr/>
        </p:nvSpPr>
        <p:spPr>
          <a:xfrm>
            <a:off x="17283112" y="16583530"/>
            <a:ext cx="422694" cy="4658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378A33F6-F996-209A-42D0-39FB8F7415F2}"/>
              </a:ext>
            </a:extLst>
          </p:cNvPr>
          <p:cNvSpPr txBox="1"/>
          <p:nvPr/>
        </p:nvSpPr>
        <p:spPr>
          <a:xfrm>
            <a:off x="18214765" y="20085855"/>
            <a:ext cx="1003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t1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A3C45B0A-C4C7-5823-FBAB-9149927B498B}"/>
              </a:ext>
            </a:extLst>
          </p:cNvPr>
          <p:cNvSpPr txBox="1"/>
          <p:nvPr/>
        </p:nvSpPr>
        <p:spPr>
          <a:xfrm>
            <a:off x="19594991" y="18826396"/>
            <a:ext cx="543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t2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5939B8A8-2AFC-0D70-3063-3CC9E5FE9A47}"/>
              </a:ext>
            </a:extLst>
          </p:cNvPr>
          <p:cNvSpPr txBox="1"/>
          <p:nvPr/>
        </p:nvSpPr>
        <p:spPr>
          <a:xfrm>
            <a:off x="21001096" y="16764685"/>
            <a:ext cx="441908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ptos" panose="020B0004020202020204" pitchFamily="34" charset="0"/>
              </a:rPr>
              <a:t>The location that should have been t3 for correct automation</a:t>
            </a:r>
          </a:p>
          <a:p>
            <a:pPr algn="ctr"/>
            <a:r>
              <a:rPr lang="en-US" sz="2800" dirty="0">
                <a:latin typeface="Aptos" panose="020B0004020202020204" pitchFamily="34" charset="0"/>
              </a:rPr>
              <a:t>(</a:t>
            </a:r>
            <a:r>
              <a:rPr lang="en-US" sz="2800" b="1" dirty="0">
                <a:latin typeface="Aptos" panose="020B0004020202020204" pitchFamily="34" charset="0"/>
              </a:rPr>
              <a:t>not actually displayed</a:t>
            </a:r>
            <a:r>
              <a:rPr lang="en-US" sz="2800" dirty="0">
                <a:latin typeface="Aptos" panose="020B0004020202020204" pitchFamily="34" charset="0"/>
              </a:rPr>
              <a:t>).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F177D867-576D-9BE5-D9B2-E442762A184D}"/>
              </a:ext>
            </a:extLst>
          </p:cNvPr>
          <p:cNvSpPr txBox="1"/>
          <p:nvPr/>
        </p:nvSpPr>
        <p:spPr>
          <a:xfrm>
            <a:off x="13295981" y="16248248"/>
            <a:ext cx="30145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latin typeface="Aptos" panose="020B0004020202020204" pitchFamily="34" charset="0"/>
              </a:rPr>
              <a:t>The automation error:</a:t>
            </a:r>
          </a:p>
          <a:p>
            <a:pPr algn="ctr"/>
            <a:r>
              <a:rPr lang="en-US" sz="2400" dirty="0">
                <a:latin typeface="Aptos" panose="020B0004020202020204" pitchFamily="34" charset="0"/>
              </a:rPr>
              <a:t>The fire accelerates </a:t>
            </a:r>
            <a:r>
              <a:rPr lang="en-US" sz="2400" b="1" dirty="0">
                <a:latin typeface="Aptos" panose="020B0004020202020204" pitchFamily="34" charset="0"/>
              </a:rPr>
              <a:t>against </a:t>
            </a:r>
            <a:r>
              <a:rPr lang="en-US" sz="2400" dirty="0">
                <a:latin typeface="Aptos" panose="020B0004020202020204" pitchFamily="34" charset="0"/>
              </a:rPr>
              <a:t>the prevailing headwind and after entering </a:t>
            </a:r>
            <a:r>
              <a:rPr lang="en-US" sz="2400" b="1" dirty="0">
                <a:solidFill>
                  <a:srgbClr val="00B050"/>
                </a:solidFill>
                <a:latin typeface="Aptos" panose="020B0004020202020204" pitchFamily="34" charset="0"/>
              </a:rPr>
              <a:t>wet forest</a:t>
            </a:r>
            <a:r>
              <a:rPr lang="en-US" sz="2400" b="1" dirty="0">
                <a:solidFill>
                  <a:srgbClr val="1E4622"/>
                </a:solidFill>
                <a:latin typeface="Aptos" panose="020B0004020202020204" pitchFamily="34" charset="0"/>
              </a:rPr>
              <a:t>.</a:t>
            </a:r>
          </a:p>
        </p:txBody>
      </p:sp>
      <p:cxnSp>
        <p:nvCxnSpPr>
          <p:cNvPr id="1058" name="Straight Arrow Connector 1057">
            <a:extLst>
              <a:ext uri="{FF2B5EF4-FFF2-40B4-BE49-F238E27FC236}">
                <a16:creationId xmlns:a16="http://schemas.microsoft.com/office/drawing/2014/main" id="{6415459F-8284-A711-FAAC-F49BFCB6AEA1}"/>
              </a:ext>
            </a:extLst>
          </p:cNvPr>
          <p:cNvCxnSpPr>
            <a:cxnSpLocks/>
          </p:cNvCxnSpPr>
          <p:nvPr/>
        </p:nvCxnSpPr>
        <p:spPr>
          <a:xfrm>
            <a:off x="15886590" y="16516455"/>
            <a:ext cx="1297718" cy="3086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9" name="TextBox 1058">
            <a:extLst>
              <a:ext uri="{FF2B5EF4-FFF2-40B4-BE49-F238E27FC236}">
                <a16:creationId xmlns:a16="http://schemas.microsoft.com/office/drawing/2014/main" id="{90C32D80-DF4A-3A41-BD05-DA6B45419553}"/>
              </a:ext>
            </a:extLst>
          </p:cNvPr>
          <p:cNvSpPr txBox="1"/>
          <p:nvPr/>
        </p:nvSpPr>
        <p:spPr>
          <a:xfrm>
            <a:off x="13996448" y="15135310"/>
            <a:ext cx="10092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The automation error on the final scenario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51194206-6C9D-0261-944A-CD9B468B7C5E}"/>
              </a:ext>
            </a:extLst>
          </p:cNvPr>
          <p:cNvSpPr txBox="1"/>
          <p:nvPr/>
        </p:nvSpPr>
        <p:spPr>
          <a:xfrm>
            <a:off x="19017022" y="15996933"/>
            <a:ext cx="1457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" panose="020B0004020202020204" pitchFamily="34" charset="0"/>
              </a:rPr>
              <a:t>Winds aloft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42228FC1-2B98-F190-AC1F-E3743ECEBAC8}"/>
              </a:ext>
            </a:extLst>
          </p:cNvPr>
          <p:cNvSpPr txBox="1"/>
          <p:nvPr/>
        </p:nvSpPr>
        <p:spPr>
          <a:xfrm>
            <a:off x="17184307" y="16119716"/>
            <a:ext cx="607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t3</a:t>
            </a:r>
          </a:p>
        </p:txBody>
      </p:sp>
      <p:sp>
        <p:nvSpPr>
          <p:cNvPr id="1063" name="Content Placeholder 2">
            <a:extLst>
              <a:ext uri="{FF2B5EF4-FFF2-40B4-BE49-F238E27FC236}">
                <a16:creationId xmlns:a16="http://schemas.microsoft.com/office/drawing/2014/main" id="{6FEF6B6D-41F2-D9E5-AB3C-82F35BE01EB3}"/>
              </a:ext>
            </a:extLst>
          </p:cNvPr>
          <p:cNvSpPr txBox="1">
            <a:spLocks/>
          </p:cNvSpPr>
          <p:nvPr/>
        </p:nvSpPr>
        <p:spPr>
          <a:xfrm>
            <a:off x="12885728" y="20944874"/>
            <a:ext cx="12496981" cy="4351338"/>
          </a:xfrm>
          <a:prstGeom prst="rect">
            <a:avLst/>
          </a:prstGeom>
        </p:spPr>
        <p:txBody>
          <a:bodyPr>
            <a:normAutofit fontScale="40000" lnSpcReduction="20000"/>
          </a:bodyPr>
          <a:lstStyle>
            <a:lvl1pPr marL="1400175" indent="-1400175" algn="l" defTabSz="3731578" rtl="0" fontAlgn="base">
              <a:spcBef>
                <a:spcPct val="20000"/>
              </a:spcBef>
              <a:spcAft>
                <a:spcPct val="0"/>
              </a:spcAft>
              <a:buChar char="•"/>
              <a:defRPr sz="1302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31490" indent="-1166813" algn="l" defTabSz="3731578" rtl="0" fontAlgn="base">
              <a:spcBef>
                <a:spcPct val="20000"/>
              </a:spcBef>
              <a:spcAft>
                <a:spcPct val="0"/>
              </a:spcAft>
              <a:buChar char="–"/>
              <a:defRPr sz="11340">
                <a:solidFill>
                  <a:schemeClr val="tx1"/>
                </a:solidFill>
                <a:latin typeface="+mn-lt"/>
              </a:defRPr>
            </a:lvl2pPr>
            <a:lvl3pPr marL="4662805" indent="-931228" algn="l" defTabSz="3731578" rtl="0" fontAlgn="base">
              <a:spcBef>
                <a:spcPct val="20000"/>
              </a:spcBef>
              <a:spcAft>
                <a:spcPct val="0"/>
              </a:spcAft>
              <a:buChar char="•"/>
              <a:defRPr sz="9800">
                <a:solidFill>
                  <a:schemeClr val="tx1"/>
                </a:solidFill>
                <a:latin typeface="+mn-lt"/>
              </a:defRPr>
            </a:lvl3pPr>
            <a:lvl4pPr marL="6527483" indent="-931228" algn="l" defTabSz="3731578" rtl="0" fontAlgn="base">
              <a:spcBef>
                <a:spcPct val="20000"/>
              </a:spcBef>
              <a:spcAft>
                <a:spcPct val="0"/>
              </a:spcAft>
              <a:buChar char="–"/>
              <a:defRPr sz="8120">
                <a:solidFill>
                  <a:schemeClr val="tx1"/>
                </a:solidFill>
                <a:latin typeface="+mn-lt"/>
              </a:defRPr>
            </a:lvl4pPr>
            <a:lvl5pPr marL="8394383" indent="-933450" algn="l" defTabSz="3731578" rtl="0" fontAlgn="base">
              <a:spcBef>
                <a:spcPct val="20000"/>
              </a:spcBef>
              <a:spcAft>
                <a:spcPct val="0"/>
              </a:spcAft>
              <a:buChar char="»"/>
              <a:defRPr sz="8120">
                <a:solidFill>
                  <a:schemeClr val="tx1"/>
                </a:solidFill>
                <a:latin typeface="+mn-lt"/>
              </a:defRPr>
            </a:lvl5pPr>
            <a:lvl6pPr marL="9034463" indent="-933450" algn="l" defTabSz="3731578" rtl="0" fontAlgn="base">
              <a:spcBef>
                <a:spcPct val="20000"/>
              </a:spcBef>
              <a:spcAft>
                <a:spcPct val="0"/>
              </a:spcAft>
              <a:buChar char="»"/>
              <a:defRPr sz="8120">
                <a:solidFill>
                  <a:schemeClr val="tx1"/>
                </a:solidFill>
                <a:latin typeface="+mn-lt"/>
              </a:defRPr>
            </a:lvl6pPr>
            <a:lvl7pPr marL="9674543" indent="-933450" algn="l" defTabSz="3731578" rtl="0" fontAlgn="base">
              <a:spcBef>
                <a:spcPct val="20000"/>
              </a:spcBef>
              <a:spcAft>
                <a:spcPct val="0"/>
              </a:spcAft>
              <a:buChar char="»"/>
              <a:defRPr sz="8120">
                <a:solidFill>
                  <a:schemeClr val="tx1"/>
                </a:solidFill>
                <a:latin typeface="+mn-lt"/>
              </a:defRPr>
            </a:lvl7pPr>
            <a:lvl8pPr marL="10314623" indent="-933450" algn="l" defTabSz="3731578" rtl="0" fontAlgn="base">
              <a:spcBef>
                <a:spcPct val="20000"/>
              </a:spcBef>
              <a:spcAft>
                <a:spcPct val="0"/>
              </a:spcAft>
              <a:buChar char="»"/>
              <a:defRPr sz="8120">
                <a:solidFill>
                  <a:schemeClr val="tx1"/>
                </a:solidFill>
                <a:latin typeface="+mn-lt"/>
              </a:defRPr>
            </a:lvl8pPr>
            <a:lvl9pPr marL="10954703" indent="-933450" algn="l" defTabSz="3731578" rtl="0" fontAlgn="base">
              <a:spcBef>
                <a:spcPct val="20000"/>
              </a:spcBef>
              <a:spcAft>
                <a:spcPct val="0"/>
              </a:spcAft>
              <a:buChar char="»"/>
              <a:defRPr sz="8120">
                <a:solidFill>
                  <a:schemeClr val="tx1"/>
                </a:solidFill>
                <a:latin typeface="+mn-lt"/>
              </a:defRPr>
            </a:lvl9pPr>
          </a:lstStyle>
          <a:p>
            <a:pPr marL="457200" lvl="1" indent="0">
              <a:lnSpc>
                <a:spcPct val="115000"/>
              </a:lnSpc>
              <a:buFontTx/>
              <a:buNone/>
            </a:pPr>
            <a:r>
              <a:rPr lang="en-US" sz="7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22 participants: Undergraduates at CSU received course credit for 1 hour of participation. The experiment proceeded with a brief tutorial on the fire model and 4 training scenario trials.</a:t>
            </a:r>
          </a:p>
          <a:p>
            <a:pPr marL="457200" lvl="1" indent="0">
              <a:lnSpc>
                <a:spcPct val="115000"/>
              </a:lnSpc>
              <a:buFontTx/>
              <a:buNone/>
            </a:pPr>
            <a:r>
              <a:rPr lang="en-US" sz="80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Hypotheses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7000" kern="100" dirty="0">
                <a:solidFill>
                  <a:srgbClr val="00B0F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</a:t>
            </a:r>
            <a:r>
              <a:rPr lang="en-US" sz="7000" kern="100" baseline="-25000" dirty="0">
                <a:solidFill>
                  <a:srgbClr val="00B0F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en-US" sz="7000" kern="100" dirty="0">
                <a:solidFill>
                  <a:srgbClr val="00B0F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The display will be useful to participants. 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7000" kern="100" dirty="0">
                <a:solidFill>
                  <a:srgbClr val="FF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</a:t>
            </a:r>
            <a:r>
              <a:rPr lang="en-US" sz="7000" kern="100" baseline="-25000" dirty="0">
                <a:solidFill>
                  <a:srgbClr val="FF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US" sz="7000" kern="100" dirty="0">
                <a:solidFill>
                  <a:srgbClr val="FF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When the display fails, automation bias will be observed. 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7000" kern="100" dirty="0">
                <a:solidFill>
                  <a:srgbClr val="00B05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</a:t>
            </a:r>
            <a:r>
              <a:rPr lang="en-US" sz="7000" kern="100" baseline="-25000" dirty="0">
                <a:solidFill>
                  <a:srgbClr val="00B05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en-US" sz="7000" kern="100" dirty="0">
                <a:solidFill>
                  <a:srgbClr val="00B05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Larger dependence on automation will result in a significantly larger automation bias when automation fails.</a:t>
            </a:r>
          </a:p>
          <a:p>
            <a:endParaRPr lang="en-US" kern="0" dirty="0">
              <a:latin typeface="Aptos" panose="020B0004020202020204" pitchFamily="34" charset="0"/>
            </a:endParaRP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472B8BA2-D49B-0E3B-30DA-FE02F9B5B142}"/>
              </a:ext>
            </a:extLst>
          </p:cNvPr>
          <p:cNvSpPr txBox="1"/>
          <p:nvPr/>
        </p:nvSpPr>
        <p:spPr>
          <a:xfrm>
            <a:off x="13262450" y="20467718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Participants</a:t>
            </a: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C67E82CB-B147-B539-667C-3F19F47CC1AC}"/>
              </a:ext>
            </a:extLst>
          </p:cNvPr>
          <p:cNvSpPr txBox="1"/>
          <p:nvPr/>
        </p:nvSpPr>
        <p:spPr>
          <a:xfrm>
            <a:off x="25738714" y="6264420"/>
            <a:ext cx="1243632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00B0F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Results – H</a:t>
            </a:r>
            <a:r>
              <a:rPr lang="en-US" sz="3200" b="1" baseline="-25000" dirty="0">
                <a:solidFill>
                  <a:srgbClr val="00B0F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1:   </a:t>
            </a:r>
            <a:r>
              <a:rPr lang="en-US" sz="3200" b="1" dirty="0">
                <a:solidFill>
                  <a:srgbClr val="00B0F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Predictor Benefit – Confirmed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</a:t>
            </a: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 measured what the error would be if participants predicted using a simple straight-line extrapolation and compared that with their actual error. This was the benefit of the </a:t>
            </a:r>
            <a:r>
              <a:rPr lang="en-US" sz="3200" u="sng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predictor display</a:t>
            </a: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en-US" sz="3200" dirty="0">
                <a:effectLst/>
                <a:latin typeface="Aptos" panose="020B0004020202020204" pitchFamily="34" charset="0"/>
              </a:rPr>
              <a:t> </a:t>
            </a:r>
          </a:p>
        </p:txBody>
      </p:sp>
      <p:graphicFrame>
        <p:nvGraphicFramePr>
          <p:cNvPr id="1067" name="Chart 1066">
            <a:extLst>
              <a:ext uri="{FF2B5EF4-FFF2-40B4-BE49-F238E27FC236}">
                <a16:creationId xmlns:a16="http://schemas.microsoft.com/office/drawing/2014/main" id="{8FCD0D3D-2BBF-C9C9-2C3C-E1CE4D0102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8978524"/>
              </p:ext>
            </p:extLst>
          </p:nvPr>
        </p:nvGraphicFramePr>
        <p:xfrm>
          <a:off x="28691764" y="8306361"/>
          <a:ext cx="6916634" cy="3765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1069" name="TextBox 1068">
            <a:extLst>
              <a:ext uri="{FF2B5EF4-FFF2-40B4-BE49-F238E27FC236}">
                <a16:creationId xmlns:a16="http://schemas.microsoft.com/office/drawing/2014/main" id="{CC241D04-BDA6-510A-7947-2BC18F563116}"/>
              </a:ext>
            </a:extLst>
          </p:cNvPr>
          <p:cNvSpPr txBox="1"/>
          <p:nvPr/>
        </p:nvSpPr>
        <p:spPr>
          <a:xfrm>
            <a:off x="25899568" y="11916749"/>
            <a:ext cx="11871195" cy="3388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  <a:latin typeface="Aptos" panose="020B0004020202020204" pitchFamily="34" charset="0"/>
              </a:rPr>
              <a:t>Results – H</a:t>
            </a:r>
            <a:r>
              <a:rPr lang="en-US" sz="3200" b="1" baseline="-25000" dirty="0">
                <a:solidFill>
                  <a:srgbClr val="FF0000"/>
                </a:solidFill>
                <a:latin typeface="Aptos" panose="020B0004020202020204" pitchFamily="34" charset="0"/>
              </a:rPr>
              <a:t>2 </a:t>
            </a:r>
            <a:r>
              <a:rPr lang="en-US" sz="3200" b="1" dirty="0">
                <a:solidFill>
                  <a:srgbClr val="FF0000"/>
                </a:solidFill>
                <a:latin typeface="Aptos" panose="020B0004020202020204" pitchFamily="34" charset="0"/>
              </a:rPr>
              <a:t>Automation Bias – Confirmed </a:t>
            </a:r>
            <a:endParaRPr lang="en-US" sz="3200" b="1" baseline="-25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457200" indent="-45720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Significantly larger error score when automation fails for scenarios A, </a:t>
            </a:r>
            <a:r>
              <a:rPr lang="en-US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&amp; E.</a:t>
            </a:r>
          </a:p>
          <a:p>
            <a:pPr marL="742950" marR="0" lvl="1" indent="-285750" algn="l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 </a:t>
            </a:r>
            <a:r>
              <a:rPr lang="en-US" sz="3200" i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 &lt; </a:t>
            </a:r>
            <a:r>
              <a:rPr lang="en-US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.05</a:t>
            </a:r>
          </a:p>
          <a:p>
            <a:pPr marL="742950" marR="0" lvl="1" indent="-285750" algn="l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3200" i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** p </a:t>
            </a:r>
            <a:r>
              <a:rPr lang="en-US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 .01</a:t>
            </a:r>
          </a:p>
          <a:p>
            <a:pPr marL="742950" marR="0" lvl="1" indent="-285750" algn="l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US" sz="3200" i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*** p </a:t>
            </a:r>
            <a:r>
              <a:rPr lang="en-US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 .001</a:t>
            </a:r>
            <a:endParaRPr lang="en-US" sz="3200" i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11431CEF-E608-2299-DE88-3980BAB41FB8}"/>
              </a:ext>
            </a:extLst>
          </p:cNvPr>
          <p:cNvSpPr txBox="1"/>
          <p:nvPr/>
        </p:nvSpPr>
        <p:spPr>
          <a:xfrm>
            <a:off x="30763602" y="16324091"/>
            <a:ext cx="7186802" cy="4429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Aptos" panose="020B0004020202020204" pitchFamily="34" charset="0"/>
              </a:rPr>
              <a:t>Results – H</a:t>
            </a:r>
            <a:r>
              <a:rPr lang="en-US" sz="3200" b="1" baseline="-25000" dirty="0">
                <a:solidFill>
                  <a:srgbClr val="00B050"/>
                </a:solidFill>
                <a:latin typeface="Aptos" panose="020B0004020202020204" pitchFamily="34" charset="0"/>
              </a:rPr>
              <a:t>3 </a:t>
            </a:r>
            <a:r>
              <a:rPr lang="en-US" sz="3200" b="1" dirty="0">
                <a:solidFill>
                  <a:srgbClr val="00B050"/>
                </a:solidFill>
                <a:latin typeface="Aptos" panose="020B0004020202020204" pitchFamily="34" charset="0"/>
              </a:rPr>
              <a:t>Dependence Does NOT Influence Automation Bias – Not Confirmed</a:t>
            </a:r>
            <a:endParaRPr lang="en-US" sz="3200" b="1" baseline="-25000" dirty="0">
              <a:solidFill>
                <a:srgbClr val="00B050"/>
              </a:solidFill>
              <a:latin typeface="Aptos" panose="020B0004020202020204" pitchFamily="34" charset="0"/>
            </a:endParaRPr>
          </a:p>
          <a:p>
            <a:pPr marL="914400" lvl="1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Participants who relied more upon the automation did NOT have a significantly larger error when it failed </a:t>
            </a:r>
            <a:r>
              <a:rPr lang="en-US" sz="3200" i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(p </a:t>
            </a:r>
            <a:r>
              <a:rPr lang="en-US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 .24)</a:t>
            </a:r>
            <a:r>
              <a:rPr lang="en-US" sz="3200" i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74134AD4-836F-A39F-DE03-9E93F48A1447}"/>
              </a:ext>
            </a:extLst>
          </p:cNvPr>
          <p:cNvSpPr txBox="1"/>
          <p:nvPr/>
        </p:nvSpPr>
        <p:spPr>
          <a:xfrm>
            <a:off x="9088597" y="28803600"/>
            <a:ext cx="1338828" cy="18805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1" algn="l">
              <a:lnSpc>
                <a:spcPct val="115000"/>
              </a:lnSpc>
            </a:pPr>
            <a:endParaRPr lang="en-US" sz="2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indent="-1143000" algn="l">
              <a:buFont typeface="Arial" panose="020B0604020202020204" pitchFamily="34" charset="0"/>
              <a:buChar char="•"/>
            </a:pPr>
            <a:endParaRPr lang="en-US" sz="2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indent="-1143000" algn="l">
              <a:buFont typeface="Arial" panose="020B0604020202020204" pitchFamily="34" charset="0"/>
              <a:buChar char="•"/>
            </a:pPr>
            <a:endParaRPr lang="en-US" sz="2800" kern="0" dirty="0">
              <a:latin typeface="Aptos" panose="020B0004020202020204" pitchFamily="34" charset="0"/>
            </a:endParaRPr>
          </a:p>
          <a:p>
            <a:pPr marL="1143000" indent="-1143000" algn="l">
              <a:buFont typeface="Arial" panose="020B0604020202020204" pitchFamily="34" charset="0"/>
              <a:buChar char="•"/>
            </a:pP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DDD9E7E6-7093-BCDF-8DBC-3211F560C0C6}"/>
              </a:ext>
            </a:extLst>
          </p:cNvPr>
          <p:cNvSpPr txBox="1"/>
          <p:nvPr/>
        </p:nvSpPr>
        <p:spPr>
          <a:xfrm>
            <a:off x="25724760" y="20989087"/>
            <a:ext cx="12307932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kern="0" dirty="0">
                <a:latin typeface="Aptos" panose="020B0004020202020204" pitchFamily="34" charset="0"/>
              </a:rPr>
              <a:t>We developed and evaluated a novel predictor display concept for wildfire suppression management.</a:t>
            </a:r>
          </a:p>
          <a:p>
            <a:pPr marL="1107110" lvl="1" indent="-457200" algn="l">
              <a:buFont typeface="Courier New" panose="02070309020205020404" pitchFamily="49" charset="0"/>
              <a:buChar char="o"/>
            </a:pPr>
            <a:r>
              <a:rPr lang="en-US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Participants experienced a prediction performance boost from using the display.</a:t>
            </a:r>
          </a:p>
          <a:p>
            <a:pPr marL="1107110" lvl="1" indent="-457200" algn="l">
              <a:buFont typeface="Courier New" panose="02070309020205020404" pitchFamily="49" charset="0"/>
              <a:buChar char="o"/>
            </a:pPr>
            <a:r>
              <a:rPr lang="en-US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improvement led them to </a:t>
            </a:r>
            <a:r>
              <a:rPr lang="en-US" sz="2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automation bias</a:t>
            </a:r>
            <a:r>
              <a:rPr lang="en-US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performing worse when the automation unexpectedly failed on the final trial. </a:t>
            </a:r>
          </a:p>
          <a:p>
            <a:pPr marL="1107110" lvl="1" indent="-457200" algn="l">
              <a:buFont typeface="Courier New" panose="02070309020205020404" pitchFamily="49" charset="0"/>
              <a:buChar char="o"/>
            </a:pPr>
            <a:r>
              <a:rPr lang="en-US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However, no indication of automation bias was observed between groups.</a:t>
            </a:r>
          </a:p>
          <a:p>
            <a:pPr marL="1757020" lvl="2" indent="-457200" algn="l">
              <a:buFont typeface="Courier New" panose="02070309020205020404" pitchFamily="49" charset="0"/>
              <a:buChar char="o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Certai</a:t>
            </a:r>
            <a:r>
              <a:rPr lang="en-US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 scenarios may have had failure and correct points too close to each other.</a:t>
            </a:r>
          </a:p>
          <a:p>
            <a:pPr marL="1757020" lvl="2" indent="-457200" algn="l">
              <a:buFont typeface="Courier New" panose="02070309020205020404" pitchFamily="49" charset="0"/>
              <a:buChar char="o"/>
            </a:pPr>
            <a:r>
              <a:rPr lang="en-US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Failure points may have been too obvious.</a:t>
            </a:r>
          </a:p>
          <a:p>
            <a:pPr marL="1143000" indent="-1143000" algn="l">
              <a:buFont typeface="Arial" panose="020B0604020202020204" pitchFamily="34" charset="0"/>
              <a:buChar char="•"/>
            </a:pPr>
            <a:endParaRPr lang="en-US" sz="2700" dirty="0">
              <a:latin typeface="Aptos" panose="020B0004020202020204" pitchFamily="34" charset="0"/>
            </a:endParaRP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B65758B6-8FA1-59F8-0A97-98D6A72C2E30}"/>
              </a:ext>
            </a:extLst>
          </p:cNvPr>
          <p:cNvSpPr txBox="1"/>
          <p:nvPr/>
        </p:nvSpPr>
        <p:spPr>
          <a:xfrm>
            <a:off x="25798365" y="24328078"/>
            <a:ext cx="12174993" cy="3420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Next steps: evaluate the benefits of presenting the raw data behind the prediction. </a:t>
            </a:r>
          </a:p>
          <a:p>
            <a:pPr marL="992810" lvl="1" indent="-342900" algn="l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400" kern="0" dirty="0">
                <a:latin typeface="Aptos" panose="020B0004020202020204" pitchFamily="34" charset="0"/>
              </a:rPr>
              <a:t>To what extent did participants depend on the raw data (terrain, winds,  vegetation) to make their own predictions, </a:t>
            </a:r>
            <a:r>
              <a:rPr lang="en-US" sz="2400" i="1" kern="0" dirty="0">
                <a:latin typeface="Aptos" panose="020B0004020202020204" pitchFamily="34" charset="0"/>
              </a:rPr>
              <a:t>rather than the predictive display</a:t>
            </a:r>
            <a:r>
              <a:rPr lang="en-US" sz="2400" kern="0" dirty="0">
                <a:latin typeface="Aptos" panose="020B0004020202020204" pitchFamily="34" charset="0"/>
              </a:rPr>
              <a:t>?</a:t>
            </a:r>
          </a:p>
          <a:p>
            <a:pPr marL="992810" lvl="1" indent="-342900" algn="l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400" kern="0" dirty="0">
                <a:latin typeface="Aptos" panose="020B0004020202020204" pitchFamily="34" charset="0"/>
              </a:rPr>
              <a:t>We do not know from the current data because raw data was always displayed.</a:t>
            </a:r>
          </a:p>
          <a:p>
            <a:pPr marL="992810" lvl="1" indent="-342900" algn="l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400" kern="0" dirty="0">
                <a:latin typeface="Aptos" panose="020B0004020202020204" pitchFamily="34" charset="0"/>
              </a:rPr>
              <a:t>Next experiment: same paradigm, but raw data of terrain, winds, and vegetation are removed.</a:t>
            </a:r>
          </a:p>
          <a:p>
            <a:pPr algn="l"/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9835D7C8-3C04-0369-3CFC-66A8A89CDCFE}"/>
              </a:ext>
            </a:extLst>
          </p:cNvPr>
          <p:cNvSpPr txBox="1"/>
          <p:nvPr/>
        </p:nvSpPr>
        <p:spPr>
          <a:xfrm>
            <a:off x="4452022" y="494618"/>
            <a:ext cx="19637331" cy="306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l">
              <a:lnSpc>
                <a:spcPct val="107000"/>
              </a:lnSpc>
              <a:spcAft>
                <a:spcPts val="800"/>
              </a:spcAft>
            </a:pPr>
            <a:r>
              <a:rPr lang="en-US" sz="6600" b="1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FIPRED: A study of predictive automated displays for wildfire fighting management.</a:t>
            </a:r>
          </a:p>
          <a:p>
            <a:pPr marL="0" marR="0" algn="l">
              <a:lnSpc>
                <a:spcPct val="107000"/>
              </a:lnSpc>
              <a:spcAft>
                <a:spcPts val="800"/>
              </a:spcAft>
            </a:pPr>
            <a:r>
              <a:rPr lang="en-US" sz="4400" b="1" kern="100" dirty="0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Robert J. Spenceley</a:t>
            </a:r>
            <a:r>
              <a:rPr lang="en-US" sz="4400" b="1" kern="100" baseline="30000" dirty="0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en-US" sz="4400" b="1" kern="100" dirty="0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Christopher D. Wickens</a:t>
            </a:r>
            <a:r>
              <a:rPr lang="en-US" sz="4400" b="1" kern="100" baseline="30000" dirty="0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US" sz="4400" b="1" kern="100" dirty="0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Bianca de Toledo Piza</a:t>
            </a:r>
            <a:r>
              <a:rPr lang="en-US" sz="4400" b="1" kern="100" baseline="30000" dirty="0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endParaRPr lang="en-US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856F1841-5F00-9DFC-08C4-48B2FAE157E9}"/>
              </a:ext>
            </a:extLst>
          </p:cNvPr>
          <p:cNvSpPr txBox="1"/>
          <p:nvPr/>
        </p:nvSpPr>
        <p:spPr>
          <a:xfrm>
            <a:off x="33411162" y="13504310"/>
            <a:ext cx="7473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ptos" panose="020B0004020202020204" pitchFamily="34" charset="0"/>
              </a:rPr>
              <a:t>***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C6B39057-D2DE-D0A3-11CB-F843202A30EC}"/>
              </a:ext>
            </a:extLst>
          </p:cNvPr>
          <p:cNvSpPr txBox="1"/>
          <p:nvPr/>
        </p:nvSpPr>
        <p:spPr>
          <a:xfrm>
            <a:off x="32587746" y="13796697"/>
            <a:ext cx="5597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ptos" panose="020B0004020202020204" pitchFamily="34" charset="0"/>
              </a:rPr>
              <a:t>**</a:t>
            </a:r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38D26670-C762-55E4-988D-0E043583C515}"/>
              </a:ext>
            </a:extLst>
          </p:cNvPr>
          <p:cNvSpPr txBox="1"/>
          <p:nvPr/>
        </p:nvSpPr>
        <p:spPr>
          <a:xfrm>
            <a:off x="31521812" y="14315951"/>
            <a:ext cx="5597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ptos" panose="020B0004020202020204" pitchFamily="34" charset="0"/>
              </a:rPr>
              <a:t>**</a:t>
            </a:r>
          </a:p>
        </p:txBody>
      </p:sp>
      <p:sp>
        <p:nvSpPr>
          <p:cNvPr id="2049" name="TextBox 2048">
            <a:extLst>
              <a:ext uri="{FF2B5EF4-FFF2-40B4-BE49-F238E27FC236}">
                <a16:creationId xmlns:a16="http://schemas.microsoft.com/office/drawing/2014/main" id="{3972E851-B443-4208-C662-28E6F5A448F6}"/>
              </a:ext>
            </a:extLst>
          </p:cNvPr>
          <p:cNvSpPr txBox="1"/>
          <p:nvPr/>
        </p:nvSpPr>
        <p:spPr>
          <a:xfrm>
            <a:off x="35407633" y="13603007"/>
            <a:ext cx="3722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ptos" panose="020B0004020202020204" pitchFamily="34" charset="0"/>
              </a:rPr>
              <a:t>*</a:t>
            </a:r>
          </a:p>
        </p:txBody>
      </p:sp>
      <p:pic>
        <p:nvPicPr>
          <p:cNvPr id="3" name="Picture 4" descr="Smokey Bear Educational Resources - Mississippi Forestry ...">
            <a:extLst>
              <a:ext uri="{FF2B5EF4-FFF2-40B4-BE49-F238E27FC236}">
                <a16:creationId xmlns:a16="http://schemas.microsoft.com/office/drawing/2014/main" id="{E056F614-4014-A3C4-845D-C8C43026D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9875" y="25033136"/>
            <a:ext cx="2712403" cy="307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qr code with a star&#10;&#10;AI-generated content may be incorrect.">
            <a:extLst>
              <a:ext uri="{FF2B5EF4-FFF2-40B4-BE49-F238E27FC236}">
                <a16:creationId xmlns:a16="http://schemas.microsoft.com/office/drawing/2014/main" id="{8B77F8C4-1FBC-0DF3-CAF0-AB4564346CD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6338" y="591418"/>
            <a:ext cx="3390717" cy="33907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AD56B0-A760-A643-D2F8-B7BBCB8154D9}"/>
              </a:ext>
            </a:extLst>
          </p:cNvPr>
          <p:cNvSpPr txBox="1"/>
          <p:nvPr/>
        </p:nvSpPr>
        <p:spPr>
          <a:xfrm>
            <a:off x="30612910" y="3995367"/>
            <a:ext cx="23775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/>
              <a:t>Linktree</a:t>
            </a:r>
            <a:endParaRPr lang="en-US" sz="4800" dirty="0"/>
          </a:p>
        </p:txBody>
      </p:sp>
      <p:graphicFrame>
        <p:nvGraphicFramePr>
          <p:cNvPr id="1070" name="Chart 1069">
            <a:extLst>
              <a:ext uri="{FF2B5EF4-FFF2-40B4-BE49-F238E27FC236}">
                <a16:creationId xmlns:a16="http://schemas.microsoft.com/office/drawing/2014/main" id="{45087E8C-822D-6EF4-F6E8-6BDE94D02E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9683716"/>
              </p:ext>
            </p:extLst>
          </p:nvPr>
        </p:nvGraphicFramePr>
        <p:xfrm>
          <a:off x="30907613" y="13090602"/>
          <a:ext cx="6351948" cy="34259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graphicFrame>
        <p:nvGraphicFramePr>
          <p:cNvPr id="1071" name="Chart 1070">
            <a:extLst>
              <a:ext uri="{FF2B5EF4-FFF2-40B4-BE49-F238E27FC236}">
                <a16:creationId xmlns:a16="http://schemas.microsoft.com/office/drawing/2014/main" id="{4EC26379-17F1-DCEB-DC2B-01B9A0DFAA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180413"/>
              </p:ext>
            </p:extLst>
          </p:nvPr>
        </p:nvGraphicFramePr>
        <p:xfrm>
          <a:off x="25798365" y="16273975"/>
          <a:ext cx="5057711" cy="31624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pic>
        <p:nvPicPr>
          <p:cNvPr id="15" name="Picture 14" descr="A white light in the sky&#10;&#10;AI-generated content may be incorrect.">
            <a:extLst>
              <a:ext uri="{FF2B5EF4-FFF2-40B4-BE49-F238E27FC236}">
                <a16:creationId xmlns:a16="http://schemas.microsoft.com/office/drawing/2014/main" id="{01E04F4D-98EE-9B5E-8F6E-8B7242E32A2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5922" y="-146077"/>
            <a:ext cx="5158415" cy="51584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6C4CA24-C58D-84FE-1DB8-BC312A127D04}"/>
              </a:ext>
            </a:extLst>
          </p:cNvPr>
          <p:cNvSpPr txBox="1"/>
          <p:nvPr/>
        </p:nvSpPr>
        <p:spPr>
          <a:xfrm>
            <a:off x="26136194" y="4063806"/>
            <a:ext cx="29931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Full Paper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2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3064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26654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5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26654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5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15879</TotalTime>
  <Words>878</Words>
  <Application>Microsoft Macintosh PowerPoint</Application>
  <PresentationFormat>Custom</PresentationFormat>
  <Paragraphs>112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Courier New</vt:lpstr>
      <vt:lpstr>Symbol</vt:lpstr>
      <vt:lpstr>Default Design</vt:lpstr>
      <vt:lpstr>Unknown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Spenceley,Rob</cp:lastModifiedBy>
  <cp:revision>104</cp:revision>
  <cp:lastPrinted>2019-10-11T19:41:03Z</cp:lastPrinted>
  <dcterms:created xsi:type="dcterms:W3CDTF">2008-12-04T00:20:37Z</dcterms:created>
  <dcterms:modified xsi:type="dcterms:W3CDTF">2025-10-12T10:22:25Z</dcterms:modified>
</cp:coreProperties>
</file>