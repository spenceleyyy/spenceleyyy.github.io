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63" r:id="rId6"/>
    <p:sldId id="259" r:id="rId7"/>
    <p:sldId id="261" r:id="rId8"/>
    <p:sldId id="265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57634"/>
  </p:normalViewPr>
  <p:slideViewPr>
    <p:cSldViewPr snapToGrid="0">
      <p:cViewPr varScale="1">
        <p:scale>
          <a:sx n="70" d="100"/>
          <a:sy n="70" d="100"/>
        </p:scale>
        <p:origin x="2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976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54C2A-7356-1240-AFBF-66877D7AFB3B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18771-1917-1E4E-81E6-C8FAFDD5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6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Studying abroad</a:t>
            </a:r>
          </a:p>
          <a:p>
            <a:endParaRPr lang="en-US" dirty="0"/>
          </a:p>
          <a:p>
            <a:r>
              <a:rPr lang="en-US" dirty="0"/>
              <a:t>Send the </a:t>
            </a:r>
            <a:r>
              <a:rPr lang="en-US" dirty="0" err="1"/>
              <a:t>mcneese</a:t>
            </a:r>
            <a:r>
              <a:rPr lang="en-US" dirty="0"/>
              <a:t> – added to the ICU channel, and the send the </a:t>
            </a:r>
            <a:r>
              <a:rPr lang="en-US" dirty="0" err="1"/>
              <a:t>caskey</a:t>
            </a:r>
            <a:r>
              <a:rPr lang="en-US" dirty="0"/>
              <a:t> paper – sed other </a:t>
            </a:r>
            <a:r>
              <a:rPr lang="en-US" dirty="0" err="1"/>
              <a:t>powerpoitn</a:t>
            </a:r>
            <a:r>
              <a:rPr lang="en-US" dirty="0"/>
              <a:t> and this one add to </a:t>
            </a:r>
            <a:r>
              <a:rPr lang="en-US" dirty="0" err="1"/>
              <a:t>zotereo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18771-1917-1E4E-81E6-C8FAFDD5B2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4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is open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the GE healthcare - there is an </a:t>
            </a:r>
            <a:r>
              <a:rPr lang="en-US" dirty="0" err="1"/>
              <a:t>intership</a:t>
            </a:r>
            <a:r>
              <a:rPr lang="en-US" dirty="0"/>
              <a:t> -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18771-1917-1E4E-81E6-C8FAFDD5B2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6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FHIR is basically just an API that allows data to be sent and received securely.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18771-1917-1E4E-81E6-C8FAFDD5B2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89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18771-1917-1E4E-81E6-C8FAFDD5B2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50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Parasuraman et al., https://</a:t>
            </a:r>
            <a:r>
              <a:rPr lang="en-US" dirty="0" err="1"/>
              <a:t>ieeexplore.ieee.org</a:t>
            </a:r>
            <a:r>
              <a:rPr lang="en-US" dirty="0"/>
              <a:t>/document/844354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18771-1917-1E4E-81E6-C8FAFDD5B2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3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36B5-D1B1-DB54-7BEF-CD8436ADD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227EF-6B3E-D66A-5667-6BA235AC7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C1425-42E6-1317-5B2F-4CC7EE80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60CD8-0535-4B48-96E9-F76B6C9B1B72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C86B2-9C30-A42C-DDEC-CD23BF49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C25E1-4609-CDAD-0D54-A3AB157D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3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693E-3897-28F7-A7B6-9DB9DF3C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D7843-038C-9C75-BAD5-4B08987FC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21DF0-FF37-F9F2-2954-F3544D162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73219-F8D4-774D-8ABF-8AABDD5DF129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9F087-8DEC-0B08-E8ED-4E215FA1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3DF0-5C16-A094-49C8-46C70EF0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360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8131118-3AB7-8946-97AE-A21AB020664F}" type="slidenum">
              <a:rPr lang="en-US" smtClean="0"/>
              <a:pPr/>
              <a:t>‹#›</a:t>
            </a:fld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E6E4B3-1D9C-02F0-7C23-9F1E7D3439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14100" y="5951220"/>
            <a:ext cx="9779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0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6549-BF88-24A7-46A9-6E15B366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FD7A5-EB7F-5983-58B2-E0334B786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8E8E7-677B-9111-396C-3EE5218B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1AF-3238-C142-9C24-8E8864F07FC7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6A5D-0F70-F0B7-072B-05F0C80E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1427E-BD9F-78F5-0EFF-11D1C27C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3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2274-DE32-F607-9D46-A27E38A3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B0DA-C28F-DBEE-8CCA-6DCCC09F6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82486-B2F4-46D6-426F-0AEA35F66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CDDA8-AF20-6793-DB30-442C7831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504EE-ABA5-6B49-BE05-25E3E3714251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C4CB3-B061-68EA-13BD-E068BE9A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A32BC-F186-4E27-F293-6CDA0C51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4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D6CC9-3ED1-469E-8929-FA9F1B43C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34AD0-5751-15B1-AB72-556DD5C35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C898F-63EE-2E8C-AB30-5E7263A0F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74D0D-2C60-6964-F4A4-588EDA7E0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8A9BB8-4D63-85F8-05D3-0C7020A2E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6AB1B-879B-B834-D661-37BA534D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0C5-DD10-A246-A55D-57D34D1FE684}" type="datetime1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B60E6-EEE7-E906-83CC-DD5D982E5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80806-D995-19F8-9F36-527A3E65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8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BBFC-C368-44AD-8BB9-28F83977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6F8FB-D392-E790-9615-72800E77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47CD-C2E0-8D4F-B160-7268667478B0}" type="datetime1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997BD-B9B6-0B34-45FA-DB51E752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C320C-240B-271A-D679-5E080B5F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0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A8024-2D8B-8F10-830C-09AC44F4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4240F-9169-4D44-836E-05DDA5BE3252}" type="datetime1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C4E78A-ABA5-1296-6B51-4483487A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B1A20-1417-9F29-BBD7-8D3F5776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7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CF02-8C5E-85CE-FFDA-A0A7687A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810C-D360-E329-B47B-A774C368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CAE49-69BB-EB50-1A5C-FB0D7EC54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73332-3B97-C2D5-2879-04B52BBC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7329-3F77-1C47-A331-7A192640C5F1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61DBE-B45C-1D95-3C68-5FD30495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FF90F-BCA9-4049-C8C9-D7E8EC04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4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E4E8-730C-1969-C619-0A3BAF10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F0F42-AD27-0BDD-A9D2-A7656F92B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3F7A0-76D1-FEB7-1627-0A026F7E1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F79F9-27C4-981E-5C1F-565535D2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BDF1-CACB-094E-8B4B-38A0155F48B0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A7813-95BB-6097-E3CC-1C22115E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5ACA3-6C52-4173-2193-80C65B8D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7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1411-3B06-BE20-810D-CDA75D13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21DE6-AD38-ACFB-6EAC-4B45ACBA7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2E717-4298-F4FF-D1FE-86E3D317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B047-BA01-3A49-A07A-1871691E123D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1E504-52A8-964A-A6F2-D1E43F2D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20863-C813-2317-A837-057416D0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2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11350-6EC0-97CF-87AE-F9D976579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68BD2-16EC-CF35-2C99-6F78040C2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7E470-2CA2-C89C-4B22-175108D9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8DD89-6113-9C4E-A629-6845A34BA742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E45F5-4B83-990B-CC96-41DD7D4A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453DE-EFF7-3610-E1A4-D6053C3A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383020"/>
            <a:ext cx="2743200" cy="365125"/>
          </a:xfrm>
          <a:prstGeom prst="rect">
            <a:avLst/>
          </a:prstGeom>
        </p:spPr>
        <p:txBody>
          <a:bodyPr/>
          <a:lstStyle/>
          <a:p>
            <a:fld id="{D8131118-3AB7-8946-97AE-A21AB020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1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84244-6E8C-B0D3-39DB-C4502064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0EE43-2104-4439-A006-2395B2FE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C96C3-C5F9-DC3C-A712-C5E313E78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C043B-EB6A-EF4A-A9E1-AFC90983F69E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586C9-B717-4384-A5B3-3825CBB55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732525-F2FF-4C4B-42CE-C41236879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0360" y="635634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r"/>
            <a:fld id="{D8131118-3AB7-8946-97AE-A21AB02066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4503F3-21F8-7A8C-6FEA-A9FE172FEAC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14100" y="5951220"/>
            <a:ext cx="9779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FE5F-85E8-F1F0-4707-D979DCD61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Fall Kickoff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B8231-DB5C-9653-D341-3A20EE619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34026-7EE3-E649-CBE9-80067C83D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941" y="5907087"/>
            <a:ext cx="949059" cy="95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6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66ED-7391-1691-9345-23C6F812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 Keeping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F4C0-F46D-E969-E96A-3CEB550D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Paid Positions</a:t>
            </a:r>
          </a:p>
          <a:p>
            <a:pPr marL="0" indent="0">
              <a:buNone/>
            </a:pPr>
            <a:r>
              <a:rPr lang="en-US" dirty="0"/>
              <a:t>2. Supply Chain Research (Dr. Zac Rogers – CSU)</a:t>
            </a:r>
          </a:p>
          <a:p>
            <a:pPr marL="0" indent="0">
              <a:buNone/>
            </a:pPr>
            <a:r>
              <a:rPr lang="en-US" dirty="0"/>
              <a:t>3. Increased Involvement (running studies)</a:t>
            </a:r>
          </a:p>
          <a:p>
            <a:pPr marL="0" indent="0">
              <a:buNone/>
            </a:pPr>
            <a:r>
              <a:rPr lang="en-US" dirty="0"/>
              <a:t>4. New Research Direction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16E2D-7350-929D-6577-26C3FFE1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8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3337-681A-11E9-6C19-6C3470FF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Orchestra ICU (Caskey et al.,)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4EC5-B7A7-B7ED-AB36-E8D160D77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Collaboration with Dr. Majid Afshar in the Department of Medicine</a:t>
            </a:r>
          </a:p>
          <a:p>
            <a:endParaRPr lang="en-US" dirty="0"/>
          </a:p>
          <a:p>
            <a:r>
              <a:rPr lang="en-US" dirty="0"/>
              <a:t>A system integrating AI into rounds in the ICU </a:t>
            </a:r>
          </a:p>
          <a:p>
            <a:pPr lvl="1"/>
            <a:r>
              <a:rPr lang="en-US" dirty="0"/>
              <a:t>Active data collection – ongoing</a:t>
            </a:r>
          </a:p>
          <a:p>
            <a:pPr lvl="1"/>
            <a:r>
              <a:rPr lang="en-US" dirty="0"/>
              <a:t>Planned data collection from us (IRB) </a:t>
            </a:r>
          </a:p>
          <a:p>
            <a:pPr lvl="1"/>
            <a:endParaRPr lang="en-US" dirty="0"/>
          </a:p>
          <a:p>
            <a:r>
              <a:rPr lang="en-US" dirty="0"/>
              <a:t>They are handling the development + medicine side of things</a:t>
            </a:r>
          </a:p>
          <a:p>
            <a:pPr lvl="1"/>
            <a:r>
              <a:rPr lang="en-US" dirty="0"/>
              <a:t>Want us to handle the HAI side of things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8B4A-2575-5810-868A-860A37AF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006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4889-8EA5-6CA9-87FE-A619E8FF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Orchestra ICU (Caskey et al.,)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E8224-34AD-F759-8041-7C05B9D9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Human AI teaming in during </a:t>
            </a:r>
            <a:r>
              <a:rPr lang="en-US" b="1" u="sng" dirty="0"/>
              <a:t>ICU rounds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Rounds are a </a:t>
            </a:r>
            <a:r>
              <a:rPr lang="en-US" b="1" dirty="0"/>
              <a:t>multidisciplinary </a:t>
            </a:r>
            <a:r>
              <a:rPr lang="en-US" dirty="0"/>
              <a:t>presentation of all patients admitted to the ICU within the past 24 hours</a:t>
            </a:r>
          </a:p>
          <a:p>
            <a:pPr lvl="1"/>
            <a:r>
              <a:rPr lang="en-US" dirty="0"/>
              <a:t>Occurs daily</a:t>
            </a:r>
          </a:p>
          <a:p>
            <a:pPr lvl="1"/>
            <a:r>
              <a:rPr lang="en-US" dirty="0"/>
              <a:t>Led by the fellow/resident/medical student who is primarily caring for the patient</a:t>
            </a:r>
          </a:p>
          <a:p>
            <a:pPr lvl="1"/>
            <a:r>
              <a:rPr lang="en-US" dirty="0"/>
              <a:t>Includes: </a:t>
            </a:r>
          </a:p>
          <a:p>
            <a:pPr lvl="2"/>
            <a:r>
              <a:rPr lang="en-US" dirty="0"/>
              <a:t>Respiratory therapists, nurses, dieticians, physicians (attending, resident, fellow), pharmacists, etc.</a:t>
            </a:r>
          </a:p>
          <a:p>
            <a:pPr lvl="1"/>
            <a:r>
              <a:rPr lang="en-US" dirty="0"/>
              <a:t>Serves as a way to: </a:t>
            </a:r>
          </a:p>
          <a:p>
            <a:pPr lvl="2"/>
            <a:r>
              <a:rPr lang="en-US" dirty="0"/>
              <a:t>Generate action items in relation to the care plan</a:t>
            </a:r>
          </a:p>
          <a:p>
            <a:pPr lvl="2"/>
            <a:r>
              <a:rPr lang="en-US" dirty="0"/>
              <a:t>Teach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42257-DC35-E4CF-19EC-A8F6D40F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9710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1DDEA-F97E-B401-97F4-63A9DA6D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24A2-FAB1-3733-95D3-DE1EFDDB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055" y="0"/>
            <a:ext cx="10515600" cy="1325563"/>
          </a:xfrm>
        </p:spPr>
        <p:txBody>
          <a:bodyPr/>
          <a:lstStyle/>
          <a:p>
            <a:r>
              <a:rPr lang="en-US" dirty="0"/>
              <a:t>Their Current System (Caskey et al.,)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34433-984A-C83E-E066-B9A384DEA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642" y="865240"/>
            <a:ext cx="3351028" cy="58562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Relies on the idea of </a:t>
            </a:r>
            <a:r>
              <a:rPr lang="en-US" b="1" dirty="0"/>
              <a:t>decomposition:</a:t>
            </a:r>
          </a:p>
          <a:p>
            <a:pPr lvl="1"/>
            <a:r>
              <a:rPr lang="en-US" dirty="0"/>
              <a:t>Breaking down a large task into smaller tasks that different AI agents can accomplish</a:t>
            </a:r>
          </a:p>
          <a:p>
            <a:pPr lvl="1"/>
            <a:r>
              <a:rPr lang="en-US" dirty="0"/>
              <a:t>Then having an overall agent assess quality and implement</a:t>
            </a:r>
          </a:p>
          <a:p>
            <a:pPr lvl="1"/>
            <a:endParaRPr lang="en-US" dirty="0"/>
          </a:p>
          <a:p>
            <a:r>
              <a:rPr lang="en-US" dirty="0"/>
              <a:t>Overall goal is to improve diagnostic accuracy, reduce load on clinicians, and improve accuracy.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7940-122C-AF84-C007-7F8240ED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5</a:t>
            </a:fld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3563A-12F7-8124-8281-1717C60F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" y="1083016"/>
            <a:ext cx="8341276" cy="46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8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0F8F-71A1-5560-A4BC-A961FB0D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Current System – Collecting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33DA-B092-32C4-D7B0-A2551E56D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now, in more of a feasibility / POC stage</a:t>
            </a:r>
          </a:p>
          <a:p>
            <a:pPr lvl="1"/>
            <a:r>
              <a:rPr lang="en-US" dirty="0"/>
              <a:t>Clinicians wear microphones when they are rounding, then the audio is transcribed using Whisper.</a:t>
            </a:r>
          </a:p>
          <a:p>
            <a:pPr lvl="1"/>
            <a:r>
              <a:rPr lang="en-US" dirty="0"/>
              <a:t>Then data it fed in from Epic’s electronic health records (EHR) through FHIR</a:t>
            </a:r>
          </a:p>
          <a:p>
            <a:pPr lvl="1"/>
            <a:r>
              <a:rPr lang="en-US" b="1" dirty="0"/>
              <a:t>No interaction between patient and AI</a:t>
            </a:r>
          </a:p>
          <a:p>
            <a:pPr lvl="1"/>
            <a:endParaRPr lang="en-US" b="1" dirty="0"/>
          </a:p>
          <a:p>
            <a:r>
              <a:rPr lang="en-US" dirty="0"/>
              <a:t>We have been tasked with adding non-verbal behavior of clinicians into the loop (will share in another ppt)</a:t>
            </a:r>
          </a:p>
          <a:p>
            <a:pPr lvl="1"/>
            <a:r>
              <a:rPr lang="en-US" dirty="0"/>
              <a:t>“Color” the audio data by coding non-verbal in real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8B690-D888-0DE7-E049-67A046ED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5772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0BF2-D2F0-6DAD-76E1-9D35B4B4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doing (for them)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8301-AA6B-6153-DB8B-D36ABBE3A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Developed a coding app, where we record non-verbal behavior in real time, and test how well it can predict teamwork, heuristic use, </a:t>
            </a:r>
            <a:r>
              <a:rPr lang="en-US" dirty="0" err="1"/>
              <a:t>etc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Gaze (Individual + Collective) </a:t>
            </a:r>
          </a:p>
          <a:p>
            <a:pPr lvl="1"/>
            <a:r>
              <a:rPr lang="en-US" dirty="0"/>
              <a:t>Pointing</a:t>
            </a:r>
          </a:p>
          <a:p>
            <a:pPr lvl="1"/>
            <a:r>
              <a:rPr lang="en-US" dirty="0"/>
              <a:t>Vertical + Horizontal Nods</a:t>
            </a:r>
          </a:p>
          <a:p>
            <a:pPr lvl="1"/>
            <a:r>
              <a:rPr lang="en-US" dirty="0"/>
              <a:t>Self Adaptors</a:t>
            </a:r>
          </a:p>
          <a:p>
            <a:pPr lvl="1"/>
            <a:r>
              <a:rPr lang="en-US" dirty="0"/>
              <a:t>Inward + Outward team movement</a:t>
            </a:r>
          </a:p>
          <a:p>
            <a:pPr lvl="1"/>
            <a:r>
              <a:rPr lang="en-US" dirty="0"/>
              <a:t>Gesticulation</a:t>
            </a:r>
          </a:p>
          <a:p>
            <a:pPr lvl="1"/>
            <a:r>
              <a:rPr lang="en-US" dirty="0"/>
              <a:t>Object Movement</a:t>
            </a:r>
          </a:p>
          <a:p>
            <a:pPr lvl="1"/>
            <a:endParaRPr lang="en-US" dirty="0"/>
          </a:p>
          <a:p>
            <a:r>
              <a:rPr lang="en-US" b="1" dirty="0"/>
              <a:t>Ultimately providing guidance on how they should be designing the AI to interact with clinicians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293F5-8AF0-E287-3F86-9793CD10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7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1711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3B6F-8F7E-9D64-EFC0-34C9FAB8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 for the ICU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E889-52A1-66D5-1766-709066FE8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Eventually need to do some training and calibration for the coding too:</a:t>
            </a:r>
          </a:p>
          <a:p>
            <a:pPr lvl="1"/>
            <a:r>
              <a:rPr lang="en-US" dirty="0"/>
              <a:t>Watching videos and calculating inter-rater reliability</a:t>
            </a:r>
          </a:p>
          <a:p>
            <a:pPr lvl="1"/>
            <a:endParaRPr lang="en-US" dirty="0"/>
          </a:p>
          <a:p>
            <a:r>
              <a:rPr lang="en-US" dirty="0"/>
              <a:t>Waiting for IRB approval, then collection in the ICU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087F4-940A-F99B-A087-9F74CB4E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8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102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B7C0-39DF-4C07-49DF-DDFB5465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that mean for our own research?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B111-3E9B-883B-8C3F-2B671C99A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37" y="1671285"/>
            <a:ext cx="10515600" cy="4351338"/>
          </a:xfrm>
        </p:spPr>
        <p:txBody>
          <a:bodyPr/>
          <a:lstStyle/>
          <a:p>
            <a:r>
              <a:rPr lang="en-US" b="1" dirty="0"/>
              <a:t>Shifting towards Human-AI teaming: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85814-A3B5-D834-38E9-6B486926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9</a:t>
            </a:fld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C71180-EC11-0800-CD25-73CA60E67282}"/>
              </a:ext>
            </a:extLst>
          </p:cNvPr>
          <p:cNvSpPr txBox="1">
            <a:spLocks/>
          </p:cNvSpPr>
          <p:nvPr/>
        </p:nvSpPr>
        <p:spPr>
          <a:xfrm>
            <a:off x="2761648" y="2005772"/>
            <a:ext cx="26244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8800" dirty="0">
              <a:solidFill>
                <a:srgbClr val="C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2D6132-93CD-2A46-E873-0B71B5ECDA3E}"/>
              </a:ext>
            </a:extLst>
          </p:cNvPr>
          <p:cNvSpPr txBox="1">
            <a:spLocks/>
          </p:cNvSpPr>
          <p:nvPr/>
        </p:nvSpPr>
        <p:spPr>
          <a:xfrm>
            <a:off x="665164" y="2289937"/>
            <a:ext cx="44756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What </a:t>
            </a:r>
            <a:r>
              <a:rPr lang="en-US" sz="2400" b="1" dirty="0">
                <a:solidFill>
                  <a:srgbClr val="9B1B1D"/>
                </a:solidFill>
              </a:rPr>
              <a:t>role</a:t>
            </a:r>
            <a:r>
              <a:rPr lang="en-US" sz="2400" dirty="0"/>
              <a:t> should an AI agent play?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17BD02-6D74-EBE2-7C3B-D9A331F06D22}"/>
              </a:ext>
            </a:extLst>
          </p:cNvPr>
          <p:cNvSpPr txBox="1">
            <a:spLocks/>
          </p:cNvSpPr>
          <p:nvPr/>
        </p:nvSpPr>
        <p:spPr>
          <a:xfrm>
            <a:off x="0" y="3861152"/>
            <a:ext cx="5805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How should an AI agent </a:t>
            </a:r>
            <a:r>
              <a:rPr lang="en-US" sz="2400" b="1" dirty="0">
                <a:solidFill>
                  <a:srgbClr val="9B1B1D"/>
                </a:solidFill>
              </a:rPr>
              <a:t>interact</a:t>
            </a:r>
            <a:r>
              <a:rPr lang="en-US" sz="2400" dirty="0"/>
              <a:t> with the team?</a:t>
            </a:r>
            <a:endParaRPr lang="en-US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6F95DF-25F5-C6DB-2FC1-05C95B0A866A}"/>
              </a:ext>
            </a:extLst>
          </p:cNvPr>
          <p:cNvSpPr txBox="1">
            <a:spLocks/>
          </p:cNvSpPr>
          <p:nvPr/>
        </p:nvSpPr>
        <p:spPr>
          <a:xfrm>
            <a:off x="0" y="5532437"/>
            <a:ext cx="5805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How should the AI agent be </a:t>
            </a:r>
            <a:r>
              <a:rPr lang="en-US" sz="2400" b="1" dirty="0">
                <a:solidFill>
                  <a:srgbClr val="9B1B1D"/>
                </a:solidFill>
              </a:rPr>
              <a:t>calibrated</a:t>
            </a:r>
            <a:r>
              <a:rPr lang="en-US" sz="2400" dirty="0"/>
              <a:t> to human members?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6A9AA-FB7D-B27C-F673-1D1190051271}"/>
              </a:ext>
            </a:extLst>
          </p:cNvPr>
          <p:cNvSpPr txBox="1"/>
          <p:nvPr/>
        </p:nvSpPr>
        <p:spPr>
          <a:xfrm>
            <a:off x="5978984" y="2523799"/>
            <a:ext cx="519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should it interact with procedures, tell people they are wrong, change thinking,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060B4-6AFB-A162-8B43-7361D6AEBE4B}"/>
              </a:ext>
            </a:extLst>
          </p:cNvPr>
          <p:cNvSpPr txBox="1"/>
          <p:nvPr/>
        </p:nvSpPr>
        <p:spPr>
          <a:xfrm>
            <a:off x="5968221" y="3877602"/>
            <a:ext cx="5198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modalities should the AI agent use to communicate with human members, how can we avoid bias in the way information is presented,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6B2A2-FC33-3C9C-7CA3-E747536BC764}"/>
              </a:ext>
            </a:extLst>
          </p:cNvPr>
          <p:cNvSpPr txBox="1"/>
          <p:nvPr/>
        </p:nvSpPr>
        <p:spPr>
          <a:xfrm>
            <a:off x="5978984" y="5569545"/>
            <a:ext cx="519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can we make sure that trust is calibrated to clinicians, how do we account for expertise, </a:t>
            </a:r>
            <a:r>
              <a:rPr lang="en-US" dirty="0" err="1"/>
              <a:t>etc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F88254-473B-3673-16E5-0451794F12F2}"/>
              </a:ext>
            </a:extLst>
          </p:cNvPr>
          <p:cNvCxnSpPr>
            <a:endCxn id="9" idx="1"/>
          </p:cNvCxnSpPr>
          <p:nvPr/>
        </p:nvCxnSpPr>
        <p:spPr>
          <a:xfrm flipV="1">
            <a:off x="5018567" y="2846965"/>
            <a:ext cx="960417" cy="10575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BAA11-93F7-4FE0-69CC-B2DD4BB598D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425637" y="4332729"/>
            <a:ext cx="542584" cy="65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941B54-4E8C-E1DC-BFA9-869F7D0BC4C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425637" y="5892711"/>
            <a:ext cx="553347" cy="1128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5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8553-6899-AA39-D932-A8353F03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Cognitive Psych Terms to Know Along the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E8B6E-3A05-92C5-5FB4-ED28F7DD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Heuristics</a:t>
            </a:r>
            <a:r>
              <a:rPr lang="en-US" dirty="0"/>
              <a:t>: mental “shortcuts” we use to arrive at solutions quicker, but sometimes with less accuracy (rule of thumb thinking; Tversky &amp; </a:t>
            </a:r>
            <a:r>
              <a:rPr lang="en-US" dirty="0" err="1"/>
              <a:t>Khaneman</a:t>
            </a:r>
            <a:r>
              <a:rPr lang="en-US" dirty="0"/>
              <a:t>, 1974)</a:t>
            </a:r>
          </a:p>
          <a:p>
            <a:pPr lvl="1"/>
            <a:r>
              <a:rPr lang="en-US" dirty="0"/>
              <a:t>In a maze:</a:t>
            </a:r>
          </a:p>
          <a:p>
            <a:pPr lvl="2"/>
            <a:r>
              <a:rPr lang="en-US" dirty="0"/>
              <a:t>Heuristic way of solving would be picking a direction that moves towards the exit</a:t>
            </a:r>
          </a:p>
          <a:p>
            <a:pPr lvl="2"/>
            <a:r>
              <a:rPr lang="en-US" dirty="0"/>
              <a:t>Algorithmic way of solving would be putting your hand on the wall until you are out.</a:t>
            </a:r>
          </a:p>
          <a:p>
            <a:r>
              <a:rPr lang="en-US" b="1" dirty="0"/>
              <a:t>Cognitive Biases </a:t>
            </a:r>
            <a:r>
              <a:rPr lang="en-US" dirty="0"/>
              <a:t>to Know (Wang et al., 2019): </a:t>
            </a:r>
          </a:p>
          <a:p>
            <a:pPr lvl="1"/>
            <a:r>
              <a:rPr lang="en-US" dirty="0"/>
              <a:t>Anchoring (Tversky &amp; </a:t>
            </a:r>
            <a:r>
              <a:rPr lang="en-US" dirty="0" err="1"/>
              <a:t>Khaneman</a:t>
            </a:r>
            <a:r>
              <a:rPr lang="en-US" dirty="0"/>
              <a:t>, 1974)</a:t>
            </a:r>
          </a:p>
          <a:p>
            <a:pPr lvl="1"/>
            <a:r>
              <a:rPr lang="en-US" dirty="0"/>
              <a:t>Automation Bias</a:t>
            </a:r>
            <a:r>
              <a:rPr lang="en-US"/>
              <a:t>: Following  </a:t>
            </a:r>
            <a:r>
              <a:rPr lang="en-US" dirty="0"/>
              <a:t>(Parasuraman et al., 2000)</a:t>
            </a:r>
          </a:p>
          <a:p>
            <a:pPr lvl="1"/>
            <a:r>
              <a:rPr lang="en-US" dirty="0"/>
              <a:t>Base Rate Neglect</a:t>
            </a:r>
          </a:p>
          <a:p>
            <a:pPr lvl="1"/>
            <a:r>
              <a:rPr lang="en-US" dirty="0"/>
              <a:t>Confirmation</a:t>
            </a:r>
          </a:p>
          <a:p>
            <a:pPr lvl="1"/>
            <a:endParaRPr lang="en-US" dirty="0"/>
          </a:p>
          <a:p>
            <a:r>
              <a:rPr lang="en-US" dirty="0"/>
              <a:t>Dual Process Model of Cognition (See Caskey et al., Preprint): </a:t>
            </a:r>
          </a:p>
          <a:p>
            <a:pPr lvl="1"/>
            <a:r>
              <a:rPr lang="en-US" b="1" dirty="0"/>
              <a:t>System 1</a:t>
            </a:r>
            <a:r>
              <a:rPr lang="en-US" dirty="0"/>
              <a:t>: Fast + automatic, relies on </a:t>
            </a:r>
            <a:r>
              <a:rPr lang="en-US" b="1" dirty="0"/>
              <a:t>heuristics, </a:t>
            </a:r>
            <a:r>
              <a:rPr lang="en-US" dirty="0"/>
              <a:t>more susceptible to bias</a:t>
            </a:r>
          </a:p>
          <a:p>
            <a:pPr lvl="1"/>
            <a:r>
              <a:rPr lang="en-US" b="1" dirty="0"/>
              <a:t>System 2</a:t>
            </a:r>
            <a:r>
              <a:rPr lang="en-US" dirty="0"/>
              <a:t>: Deliberate + slower, more “algorithmic” thinking, less susceptible to bias &lt;- </a:t>
            </a:r>
            <a:r>
              <a:rPr lang="en-US" dirty="0">
                <a:solidFill>
                  <a:srgbClr val="FF0000"/>
                </a:solidFill>
              </a:rPr>
              <a:t>evidence that you want to point people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22890-7E14-DD09-2BD0-F49470B1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1118-3AB7-8946-97AE-A21AB020664F}" type="slidenum">
              <a:rPr lang="en-US" smtClean="0"/>
              <a:pPr/>
              <a:t>10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939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787</Words>
  <Application>Microsoft Macintosh PowerPoint</Application>
  <PresentationFormat>Widescreen</PresentationFormat>
  <Paragraphs>97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Fall Kickoff</vt:lpstr>
      <vt:lpstr>House Keeping Items</vt:lpstr>
      <vt:lpstr>Orchestra ICU (Caskey et al.,) </vt:lpstr>
      <vt:lpstr>Orchestra ICU (Caskey et al.,)</vt:lpstr>
      <vt:lpstr>Their Current System (Caskey et al.,)</vt:lpstr>
      <vt:lpstr>Their Current System – Collecting Data</vt:lpstr>
      <vt:lpstr>What are we doing (for them)</vt:lpstr>
      <vt:lpstr>Action Items for the ICU</vt:lpstr>
      <vt:lpstr>What does that mean for our own research?</vt:lpstr>
      <vt:lpstr>Some Cognitive Psych Terms to Know Along the Way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SPENCELEY</dc:creator>
  <cp:lastModifiedBy>Rob SPENCELEY</cp:lastModifiedBy>
  <cp:revision>2</cp:revision>
  <dcterms:created xsi:type="dcterms:W3CDTF">2026-09-01T12:53:11Z</dcterms:created>
  <dcterms:modified xsi:type="dcterms:W3CDTF">2026-09-02T21:05:22Z</dcterms:modified>
</cp:coreProperties>
</file>