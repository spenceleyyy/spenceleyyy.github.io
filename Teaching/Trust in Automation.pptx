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1" r:id="rId5"/>
    <p:sldId id="260" r:id="rId6"/>
    <p:sldId id="259"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35"/>
  </p:normalViewPr>
  <p:slideViewPr>
    <p:cSldViewPr snapToGrid="0">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DE23D6-A95F-D848-810A-BC02064D59A3}" type="datetimeFigureOut">
              <a:rPr lang="en-US" smtClean="0"/>
              <a:t>3/11/26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FCBA10-2DF3-7B4A-BEF5-834FF53389D0}" type="slidenum">
              <a:rPr lang="en-US" smtClean="0"/>
              <a:t>‹#›</a:t>
            </a:fld>
            <a:endParaRPr lang="en-US"/>
          </a:p>
        </p:txBody>
      </p:sp>
    </p:spTree>
    <p:extLst>
      <p:ext uri="{BB962C8B-B14F-4D97-AF65-F5344CB8AC3E}">
        <p14:creationId xmlns:p14="http://schemas.microsoft.com/office/powerpoint/2010/main" val="1540572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sycnet.apa.org/doi/10.1518/001872001775898269"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psycnet.apa.org/doi/10.1016/j.jarmac.2015.07.008"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Lee, J. D., &amp; See, K. A. (2004). Trust in automation: designing for appropriate reliance. </a:t>
            </a:r>
            <a:r>
              <a:rPr lang="en-US" sz="1200" b="0" i="1" kern="1200" dirty="0">
                <a:solidFill>
                  <a:schemeClr val="tx1"/>
                </a:solidFill>
                <a:effectLst/>
                <a:latin typeface="+mn-lt"/>
                <a:ea typeface="+mn-ea"/>
                <a:cs typeface="+mn-cs"/>
              </a:rPr>
              <a:t>Human factors</a:t>
            </a:r>
            <a:r>
              <a:rPr lang="en-US" sz="1200" b="0" i="0" u="none" strike="noStrike"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46</a:t>
            </a:r>
            <a:r>
              <a:rPr lang="en-US" sz="1200" b="0" i="0" u="none" strike="noStrike" kern="1200" dirty="0">
                <a:solidFill>
                  <a:schemeClr val="tx1"/>
                </a:solidFill>
                <a:effectLst/>
                <a:latin typeface="+mn-lt"/>
                <a:ea typeface="+mn-ea"/>
                <a:cs typeface="+mn-cs"/>
              </a:rPr>
              <a:t>(1), 50–80. https://</a:t>
            </a:r>
            <a:r>
              <a:rPr lang="en-US" sz="1200" b="0" i="0" u="none" strike="noStrike" kern="1200" dirty="0" err="1">
                <a:solidFill>
                  <a:schemeClr val="tx1"/>
                </a:solidFill>
                <a:effectLst/>
                <a:latin typeface="+mn-lt"/>
                <a:ea typeface="+mn-ea"/>
                <a:cs typeface="+mn-cs"/>
              </a:rPr>
              <a:t>doi.org</a:t>
            </a:r>
            <a:r>
              <a:rPr lang="en-US" sz="1200" b="0" i="0" u="none" strike="noStrike" kern="1200" dirty="0">
                <a:solidFill>
                  <a:schemeClr val="tx1"/>
                </a:solidFill>
                <a:effectLst/>
                <a:latin typeface="+mn-lt"/>
                <a:ea typeface="+mn-ea"/>
                <a:cs typeface="+mn-cs"/>
              </a:rPr>
              <a:t>/10.1518/hfes.46.1.50_30392</a:t>
            </a:r>
            <a:endParaRPr lang="en-US" dirty="0"/>
          </a:p>
        </p:txBody>
      </p:sp>
      <p:sp>
        <p:nvSpPr>
          <p:cNvPr id="4" name="Slide Number Placeholder 3"/>
          <p:cNvSpPr>
            <a:spLocks noGrp="1"/>
          </p:cNvSpPr>
          <p:nvPr>
            <p:ph type="sldNum" sz="quarter" idx="5"/>
          </p:nvPr>
        </p:nvSpPr>
        <p:spPr/>
        <p:txBody>
          <a:bodyPr/>
          <a:lstStyle/>
          <a:p>
            <a:fld id="{7EFCBA10-2DF3-7B4A-BEF5-834FF53389D0}" type="slidenum">
              <a:rPr lang="en-US" smtClean="0"/>
              <a:t>2</a:t>
            </a:fld>
            <a:endParaRPr lang="en-US"/>
          </a:p>
        </p:txBody>
      </p:sp>
    </p:spTree>
    <p:extLst>
      <p:ext uri="{BB962C8B-B14F-4D97-AF65-F5344CB8AC3E}">
        <p14:creationId xmlns:p14="http://schemas.microsoft.com/office/powerpoint/2010/main" val="2074698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Yeh, M., &amp; Wickens, C. D. (2001). Display signaling in augmented reality: Effects of cue reliability and image realism on attention allocation and trust calibration. </a:t>
            </a:r>
            <a:r>
              <a:rPr lang="en-US" sz="1200" b="0" i="1" kern="1200" dirty="0">
                <a:solidFill>
                  <a:schemeClr val="tx1"/>
                </a:solidFill>
                <a:effectLst/>
                <a:latin typeface="+mn-lt"/>
                <a:ea typeface="+mn-ea"/>
                <a:cs typeface="+mn-cs"/>
              </a:rPr>
              <a:t>Human Factors, 43</a:t>
            </a:r>
            <a:r>
              <a:rPr lang="en-US" sz="1200" b="0" i="0" u="none" strike="noStrike" kern="1200" dirty="0">
                <a:solidFill>
                  <a:schemeClr val="tx1"/>
                </a:solidFill>
                <a:effectLst/>
                <a:latin typeface="+mn-lt"/>
                <a:ea typeface="+mn-ea"/>
                <a:cs typeface="+mn-cs"/>
              </a:rPr>
              <a:t>(3), 355–365. </a:t>
            </a:r>
            <a:r>
              <a:rPr lang="en-US" sz="1200" b="0" i="0" u="none" strike="noStrike" kern="1200" dirty="0">
                <a:solidFill>
                  <a:schemeClr val="tx1"/>
                </a:solidFill>
                <a:effectLst/>
                <a:latin typeface="+mn-lt"/>
                <a:ea typeface="+mn-ea"/>
                <a:cs typeface="+mn-cs"/>
                <a:hlinkClick r:id="rId3"/>
              </a:rPr>
              <a:t>https://doi.org/10.1518/001872001775898269</a:t>
            </a:r>
            <a:endParaRPr lang="en-US" dirty="0"/>
          </a:p>
        </p:txBody>
      </p:sp>
      <p:sp>
        <p:nvSpPr>
          <p:cNvPr id="4" name="Slide Number Placeholder 3"/>
          <p:cNvSpPr>
            <a:spLocks noGrp="1"/>
          </p:cNvSpPr>
          <p:nvPr>
            <p:ph type="sldNum" sz="quarter" idx="5"/>
          </p:nvPr>
        </p:nvSpPr>
        <p:spPr/>
        <p:txBody>
          <a:bodyPr/>
          <a:lstStyle/>
          <a:p>
            <a:fld id="{7EFCBA10-2DF3-7B4A-BEF5-834FF53389D0}" type="slidenum">
              <a:rPr lang="en-US" smtClean="0"/>
              <a:t>3</a:t>
            </a:fld>
            <a:endParaRPr lang="en-US"/>
          </a:p>
        </p:txBody>
      </p:sp>
    </p:spTree>
    <p:extLst>
      <p:ext uri="{BB962C8B-B14F-4D97-AF65-F5344CB8AC3E}">
        <p14:creationId xmlns:p14="http://schemas.microsoft.com/office/powerpoint/2010/main" val="1812984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Wickens, C. D., Clegg, B. A., </a:t>
            </a:r>
            <a:r>
              <a:rPr lang="en-US" sz="1200" b="0" i="0" u="none" strike="noStrike" kern="1200" dirty="0" err="1">
                <a:solidFill>
                  <a:schemeClr val="tx1"/>
                </a:solidFill>
                <a:effectLst/>
                <a:latin typeface="+mn-lt"/>
                <a:ea typeface="+mn-ea"/>
                <a:cs typeface="+mn-cs"/>
              </a:rPr>
              <a:t>Vieane</a:t>
            </a:r>
            <a:r>
              <a:rPr lang="en-US" sz="1200" b="0" i="0" u="none" strike="noStrike" kern="1200" dirty="0">
                <a:solidFill>
                  <a:schemeClr val="tx1"/>
                </a:solidFill>
                <a:effectLst/>
                <a:latin typeface="+mn-lt"/>
                <a:ea typeface="+mn-ea"/>
                <a:cs typeface="+mn-cs"/>
              </a:rPr>
              <a:t>, A. Z., &amp; Sebok, A. L. (2015). Complacency and Automation Bias in the Use of Imperfect Automation. </a:t>
            </a:r>
            <a:r>
              <a:rPr lang="en-US" sz="1200" b="0" i="1" kern="1200" dirty="0">
                <a:solidFill>
                  <a:schemeClr val="tx1"/>
                </a:solidFill>
                <a:effectLst/>
                <a:latin typeface="+mn-lt"/>
                <a:ea typeface="+mn-ea"/>
                <a:cs typeface="+mn-cs"/>
              </a:rPr>
              <a:t>Human factors</a:t>
            </a:r>
            <a:r>
              <a:rPr lang="en-US" sz="1200" b="0" i="0" u="none" strike="noStrike"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57</a:t>
            </a:r>
            <a:r>
              <a:rPr lang="en-US" sz="1200" b="0" i="0" u="none" strike="noStrike" kern="1200" dirty="0">
                <a:solidFill>
                  <a:schemeClr val="tx1"/>
                </a:solidFill>
                <a:effectLst/>
                <a:latin typeface="+mn-lt"/>
                <a:ea typeface="+mn-ea"/>
                <a:cs typeface="+mn-cs"/>
              </a:rPr>
              <a:t>(5), 728–739. https://</a:t>
            </a:r>
            <a:r>
              <a:rPr lang="en-US" sz="1200" b="0" i="0" u="none" strike="noStrike" kern="1200" dirty="0" err="1">
                <a:solidFill>
                  <a:schemeClr val="tx1"/>
                </a:solidFill>
                <a:effectLst/>
                <a:latin typeface="+mn-lt"/>
                <a:ea typeface="+mn-ea"/>
                <a:cs typeface="+mn-cs"/>
              </a:rPr>
              <a:t>doi.org</a:t>
            </a:r>
            <a:r>
              <a:rPr lang="en-US" sz="1200" b="0" i="0" u="none" strike="noStrike" kern="1200" dirty="0">
                <a:solidFill>
                  <a:schemeClr val="tx1"/>
                </a:solidFill>
                <a:effectLst/>
                <a:latin typeface="+mn-lt"/>
                <a:ea typeface="+mn-ea"/>
                <a:cs typeface="+mn-cs"/>
              </a:rPr>
              <a:t>/10.1177/0018720815581940</a:t>
            </a:r>
            <a:endParaRPr lang="en-US" dirty="0"/>
          </a:p>
        </p:txBody>
      </p:sp>
      <p:sp>
        <p:nvSpPr>
          <p:cNvPr id="4" name="Slide Number Placeholder 3"/>
          <p:cNvSpPr>
            <a:spLocks noGrp="1"/>
          </p:cNvSpPr>
          <p:nvPr>
            <p:ph type="sldNum" sz="quarter" idx="5"/>
          </p:nvPr>
        </p:nvSpPr>
        <p:spPr/>
        <p:txBody>
          <a:bodyPr/>
          <a:lstStyle/>
          <a:p>
            <a:fld id="{7EFCBA10-2DF3-7B4A-BEF5-834FF53389D0}" type="slidenum">
              <a:rPr lang="en-US" smtClean="0"/>
              <a:t>6</a:t>
            </a:fld>
            <a:endParaRPr lang="en-US"/>
          </a:p>
        </p:txBody>
      </p:sp>
    </p:spTree>
    <p:extLst>
      <p:ext uri="{BB962C8B-B14F-4D97-AF65-F5344CB8AC3E}">
        <p14:creationId xmlns:p14="http://schemas.microsoft.com/office/powerpoint/2010/main" val="3429243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amplab.colostate.edu</a:t>
            </a:r>
            <a:r>
              <a:rPr lang="en-US" dirty="0"/>
              <a:t>/reprints/Witt_etal_2012_GolfIllusions_PsychSci.pdf</a:t>
            </a:r>
          </a:p>
          <a:p>
            <a:endParaRPr lang="en-US" dirty="0"/>
          </a:p>
          <a:p>
            <a:r>
              <a:rPr lang="en-US" sz="1200" b="0" i="0" u="none" strike="noStrike" kern="1200" dirty="0">
                <a:solidFill>
                  <a:schemeClr val="tx1"/>
                </a:solidFill>
                <a:effectLst/>
                <a:latin typeface="+mn-lt"/>
                <a:ea typeface="+mn-ea"/>
                <a:cs typeface="+mn-cs"/>
              </a:rPr>
              <a:t>Witt, J. K., </a:t>
            </a:r>
            <a:r>
              <a:rPr lang="en-US" sz="1200" b="0" i="0" u="none" strike="noStrike" kern="1200" dirty="0" err="1">
                <a:solidFill>
                  <a:schemeClr val="tx1"/>
                </a:solidFill>
                <a:effectLst/>
                <a:latin typeface="+mn-lt"/>
                <a:ea typeface="+mn-ea"/>
                <a:cs typeface="+mn-cs"/>
              </a:rPr>
              <a:t>Linkenauger</a:t>
            </a:r>
            <a:r>
              <a:rPr lang="en-US" sz="1200" b="0" i="0" u="none" strike="noStrike" kern="1200" dirty="0">
                <a:solidFill>
                  <a:schemeClr val="tx1"/>
                </a:solidFill>
                <a:effectLst/>
                <a:latin typeface="+mn-lt"/>
                <a:ea typeface="+mn-ea"/>
                <a:cs typeface="+mn-cs"/>
              </a:rPr>
              <a:t>, S. A., &amp; Wickens, C. (2016). Action-specific effects in perception and their potential applications. </a:t>
            </a:r>
            <a:r>
              <a:rPr lang="en-US" sz="1200" b="0" i="1" kern="1200" dirty="0">
                <a:solidFill>
                  <a:schemeClr val="tx1"/>
                </a:solidFill>
                <a:effectLst/>
                <a:latin typeface="+mn-lt"/>
                <a:ea typeface="+mn-ea"/>
                <a:cs typeface="+mn-cs"/>
              </a:rPr>
              <a:t>Journal of Applied Research in Memory and Cognition, 5</a:t>
            </a:r>
            <a:r>
              <a:rPr lang="en-US" sz="1200" b="0" i="0" u="none" strike="noStrike" kern="1200" dirty="0">
                <a:solidFill>
                  <a:schemeClr val="tx1"/>
                </a:solidFill>
                <a:effectLst/>
                <a:latin typeface="+mn-lt"/>
                <a:ea typeface="+mn-ea"/>
                <a:cs typeface="+mn-cs"/>
              </a:rPr>
              <a:t>(1), 69–76. </a:t>
            </a:r>
            <a:r>
              <a:rPr lang="en-US" sz="1200" b="0" i="0" u="none" strike="noStrike" kern="1200" dirty="0">
                <a:solidFill>
                  <a:schemeClr val="tx1"/>
                </a:solidFill>
                <a:effectLst/>
                <a:latin typeface="+mn-lt"/>
                <a:ea typeface="+mn-ea"/>
                <a:cs typeface="+mn-cs"/>
                <a:hlinkClick r:id="rId3"/>
              </a:rPr>
              <a:t>https://doi.org/10.1016/j.jarmac.2015.07.008</a:t>
            </a:r>
            <a:endParaRPr lang="en-US" dirty="0"/>
          </a:p>
        </p:txBody>
      </p:sp>
      <p:sp>
        <p:nvSpPr>
          <p:cNvPr id="4" name="Slide Number Placeholder 3"/>
          <p:cNvSpPr>
            <a:spLocks noGrp="1"/>
          </p:cNvSpPr>
          <p:nvPr>
            <p:ph type="sldNum" sz="quarter" idx="5"/>
          </p:nvPr>
        </p:nvSpPr>
        <p:spPr/>
        <p:txBody>
          <a:bodyPr/>
          <a:lstStyle/>
          <a:p>
            <a:fld id="{7EFCBA10-2DF3-7B4A-BEF5-834FF53389D0}" type="slidenum">
              <a:rPr lang="en-US" smtClean="0"/>
              <a:t>7</a:t>
            </a:fld>
            <a:endParaRPr lang="en-US"/>
          </a:p>
        </p:txBody>
      </p:sp>
    </p:spTree>
    <p:extLst>
      <p:ext uri="{BB962C8B-B14F-4D97-AF65-F5344CB8AC3E}">
        <p14:creationId xmlns:p14="http://schemas.microsoft.com/office/powerpoint/2010/main" val="1487024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9C250-F799-0AA2-EDB8-B10BC0B3A4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30308B-F945-EAB9-EDDB-50D279F8C8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F2DFAD-F614-D2FB-57CB-8FB77F5F3D6F}"/>
              </a:ext>
            </a:extLst>
          </p:cNvPr>
          <p:cNvSpPr>
            <a:spLocks noGrp="1"/>
          </p:cNvSpPr>
          <p:nvPr>
            <p:ph type="dt" sz="half" idx="10"/>
          </p:nvPr>
        </p:nvSpPr>
        <p:spPr/>
        <p:txBody>
          <a:bodyPr/>
          <a:lstStyle/>
          <a:p>
            <a:fld id="{CFAF09B7-5EFA-8B40-9A7D-C8B2FA37A2CD}" type="datetimeFigureOut">
              <a:rPr lang="en-US" smtClean="0"/>
              <a:t>3/11/26</a:t>
            </a:fld>
            <a:endParaRPr lang="en-US"/>
          </a:p>
        </p:txBody>
      </p:sp>
      <p:sp>
        <p:nvSpPr>
          <p:cNvPr id="5" name="Footer Placeholder 4">
            <a:extLst>
              <a:ext uri="{FF2B5EF4-FFF2-40B4-BE49-F238E27FC236}">
                <a16:creationId xmlns:a16="http://schemas.microsoft.com/office/drawing/2014/main" id="{16302551-3209-1F8B-926B-735B4FC237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85377C-B086-135C-4952-A9FF1924557D}"/>
              </a:ext>
            </a:extLst>
          </p:cNvPr>
          <p:cNvSpPr>
            <a:spLocks noGrp="1"/>
          </p:cNvSpPr>
          <p:nvPr>
            <p:ph type="sldNum" sz="quarter" idx="12"/>
          </p:nvPr>
        </p:nvSpPr>
        <p:spPr/>
        <p:txBody>
          <a:bodyPr/>
          <a:lstStyle/>
          <a:p>
            <a:fld id="{DC876946-56D7-8644-9BCA-A999EA5AB464}" type="slidenum">
              <a:rPr lang="en-US" smtClean="0"/>
              <a:t>‹#›</a:t>
            </a:fld>
            <a:endParaRPr lang="en-US"/>
          </a:p>
        </p:txBody>
      </p:sp>
    </p:spTree>
    <p:extLst>
      <p:ext uri="{BB962C8B-B14F-4D97-AF65-F5344CB8AC3E}">
        <p14:creationId xmlns:p14="http://schemas.microsoft.com/office/powerpoint/2010/main" val="1739822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AB943-88FF-2779-4576-DCF07930D7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C46002-195A-92DC-C0F2-72BEB14F0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5DBE9-B88C-D704-6ECD-F0634C5DCF98}"/>
              </a:ext>
            </a:extLst>
          </p:cNvPr>
          <p:cNvSpPr>
            <a:spLocks noGrp="1"/>
          </p:cNvSpPr>
          <p:nvPr>
            <p:ph type="dt" sz="half" idx="10"/>
          </p:nvPr>
        </p:nvSpPr>
        <p:spPr/>
        <p:txBody>
          <a:bodyPr/>
          <a:lstStyle/>
          <a:p>
            <a:fld id="{CFAF09B7-5EFA-8B40-9A7D-C8B2FA37A2CD}" type="datetimeFigureOut">
              <a:rPr lang="en-US" smtClean="0"/>
              <a:t>3/11/26</a:t>
            </a:fld>
            <a:endParaRPr lang="en-US"/>
          </a:p>
        </p:txBody>
      </p:sp>
      <p:sp>
        <p:nvSpPr>
          <p:cNvPr id="5" name="Footer Placeholder 4">
            <a:extLst>
              <a:ext uri="{FF2B5EF4-FFF2-40B4-BE49-F238E27FC236}">
                <a16:creationId xmlns:a16="http://schemas.microsoft.com/office/drawing/2014/main" id="{832B97F6-2B17-68D5-2FD3-3C59F1849A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6D3793-9B4F-0B6C-3817-24FDB7770D51}"/>
              </a:ext>
            </a:extLst>
          </p:cNvPr>
          <p:cNvSpPr>
            <a:spLocks noGrp="1"/>
          </p:cNvSpPr>
          <p:nvPr>
            <p:ph type="sldNum" sz="quarter" idx="12"/>
          </p:nvPr>
        </p:nvSpPr>
        <p:spPr/>
        <p:txBody>
          <a:bodyPr/>
          <a:lstStyle/>
          <a:p>
            <a:fld id="{DC876946-56D7-8644-9BCA-A999EA5AB464}" type="slidenum">
              <a:rPr lang="en-US" smtClean="0"/>
              <a:t>‹#›</a:t>
            </a:fld>
            <a:endParaRPr lang="en-US"/>
          </a:p>
        </p:txBody>
      </p:sp>
    </p:spTree>
    <p:extLst>
      <p:ext uri="{BB962C8B-B14F-4D97-AF65-F5344CB8AC3E}">
        <p14:creationId xmlns:p14="http://schemas.microsoft.com/office/powerpoint/2010/main" val="1483949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1EFB-C064-B6C2-5106-C4107128B4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D352D4-74E7-D670-D5CC-F9F52D84E6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092F31-F68E-F128-A29D-700243453E24}"/>
              </a:ext>
            </a:extLst>
          </p:cNvPr>
          <p:cNvSpPr>
            <a:spLocks noGrp="1"/>
          </p:cNvSpPr>
          <p:nvPr>
            <p:ph type="dt" sz="half" idx="10"/>
          </p:nvPr>
        </p:nvSpPr>
        <p:spPr/>
        <p:txBody>
          <a:bodyPr/>
          <a:lstStyle/>
          <a:p>
            <a:fld id="{CFAF09B7-5EFA-8B40-9A7D-C8B2FA37A2CD}" type="datetimeFigureOut">
              <a:rPr lang="en-US" smtClean="0"/>
              <a:t>3/11/26</a:t>
            </a:fld>
            <a:endParaRPr lang="en-US"/>
          </a:p>
        </p:txBody>
      </p:sp>
      <p:sp>
        <p:nvSpPr>
          <p:cNvPr id="5" name="Footer Placeholder 4">
            <a:extLst>
              <a:ext uri="{FF2B5EF4-FFF2-40B4-BE49-F238E27FC236}">
                <a16:creationId xmlns:a16="http://schemas.microsoft.com/office/drawing/2014/main" id="{85C3A19D-4396-322A-8224-15CE34BD22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12B5D-C1F7-7E0C-199D-F9F0146544AC}"/>
              </a:ext>
            </a:extLst>
          </p:cNvPr>
          <p:cNvSpPr>
            <a:spLocks noGrp="1"/>
          </p:cNvSpPr>
          <p:nvPr>
            <p:ph type="sldNum" sz="quarter" idx="12"/>
          </p:nvPr>
        </p:nvSpPr>
        <p:spPr/>
        <p:txBody>
          <a:bodyPr/>
          <a:lstStyle/>
          <a:p>
            <a:fld id="{DC876946-56D7-8644-9BCA-A999EA5AB464}" type="slidenum">
              <a:rPr lang="en-US" smtClean="0"/>
              <a:t>‹#›</a:t>
            </a:fld>
            <a:endParaRPr lang="en-US"/>
          </a:p>
        </p:txBody>
      </p:sp>
    </p:spTree>
    <p:extLst>
      <p:ext uri="{BB962C8B-B14F-4D97-AF65-F5344CB8AC3E}">
        <p14:creationId xmlns:p14="http://schemas.microsoft.com/office/powerpoint/2010/main" val="4006606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C999C-329B-A3BC-B3C4-F3D739B1B8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1421F5-6192-C011-ED97-7A3C0120C3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36CD99-5583-5BDA-1E67-BCF391958C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67831A-3233-B07B-F5C2-FD8D4C65ED7D}"/>
              </a:ext>
            </a:extLst>
          </p:cNvPr>
          <p:cNvSpPr>
            <a:spLocks noGrp="1"/>
          </p:cNvSpPr>
          <p:nvPr>
            <p:ph type="dt" sz="half" idx="10"/>
          </p:nvPr>
        </p:nvSpPr>
        <p:spPr/>
        <p:txBody>
          <a:bodyPr/>
          <a:lstStyle/>
          <a:p>
            <a:fld id="{CFAF09B7-5EFA-8B40-9A7D-C8B2FA37A2CD}" type="datetimeFigureOut">
              <a:rPr lang="en-US" smtClean="0"/>
              <a:t>3/11/26</a:t>
            </a:fld>
            <a:endParaRPr lang="en-US"/>
          </a:p>
        </p:txBody>
      </p:sp>
      <p:sp>
        <p:nvSpPr>
          <p:cNvPr id="6" name="Footer Placeholder 5">
            <a:extLst>
              <a:ext uri="{FF2B5EF4-FFF2-40B4-BE49-F238E27FC236}">
                <a16:creationId xmlns:a16="http://schemas.microsoft.com/office/drawing/2014/main" id="{F66D1F94-9A2E-4E97-6F17-24F6B0A552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16BEE8-1DAA-0C3D-F8ED-25848021200F}"/>
              </a:ext>
            </a:extLst>
          </p:cNvPr>
          <p:cNvSpPr>
            <a:spLocks noGrp="1"/>
          </p:cNvSpPr>
          <p:nvPr>
            <p:ph type="sldNum" sz="quarter" idx="12"/>
          </p:nvPr>
        </p:nvSpPr>
        <p:spPr/>
        <p:txBody>
          <a:bodyPr/>
          <a:lstStyle/>
          <a:p>
            <a:fld id="{DC876946-56D7-8644-9BCA-A999EA5AB464}" type="slidenum">
              <a:rPr lang="en-US" smtClean="0"/>
              <a:t>‹#›</a:t>
            </a:fld>
            <a:endParaRPr lang="en-US"/>
          </a:p>
        </p:txBody>
      </p:sp>
    </p:spTree>
    <p:extLst>
      <p:ext uri="{BB962C8B-B14F-4D97-AF65-F5344CB8AC3E}">
        <p14:creationId xmlns:p14="http://schemas.microsoft.com/office/powerpoint/2010/main" val="3236732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FFD26-7120-ED32-1DD3-BF554DCCE0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0BD7EE-40F1-5ED7-07D6-BCF1688A76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D7A03A-5E69-66B7-B252-CA25F1997F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545FBD-5D54-1341-30D7-8E5F50501E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E75B53-C3B2-5003-9946-4C5A75B7BD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CCD1A5-820E-8C47-F360-B9D2408D1D63}"/>
              </a:ext>
            </a:extLst>
          </p:cNvPr>
          <p:cNvSpPr>
            <a:spLocks noGrp="1"/>
          </p:cNvSpPr>
          <p:nvPr>
            <p:ph type="dt" sz="half" idx="10"/>
          </p:nvPr>
        </p:nvSpPr>
        <p:spPr/>
        <p:txBody>
          <a:bodyPr/>
          <a:lstStyle/>
          <a:p>
            <a:fld id="{CFAF09B7-5EFA-8B40-9A7D-C8B2FA37A2CD}" type="datetimeFigureOut">
              <a:rPr lang="en-US" smtClean="0"/>
              <a:t>3/11/26</a:t>
            </a:fld>
            <a:endParaRPr lang="en-US"/>
          </a:p>
        </p:txBody>
      </p:sp>
      <p:sp>
        <p:nvSpPr>
          <p:cNvPr id="8" name="Footer Placeholder 7">
            <a:extLst>
              <a:ext uri="{FF2B5EF4-FFF2-40B4-BE49-F238E27FC236}">
                <a16:creationId xmlns:a16="http://schemas.microsoft.com/office/drawing/2014/main" id="{A0B44479-819C-5F82-44C2-7A7ED64A58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CE41D5-A358-3BC4-EC17-EB758D884134}"/>
              </a:ext>
            </a:extLst>
          </p:cNvPr>
          <p:cNvSpPr>
            <a:spLocks noGrp="1"/>
          </p:cNvSpPr>
          <p:nvPr>
            <p:ph type="sldNum" sz="quarter" idx="12"/>
          </p:nvPr>
        </p:nvSpPr>
        <p:spPr/>
        <p:txBody>
          <a:bodyPr/>
          <a:lstStyle/>
          <a:p>
            <a:fld id="{DC876946-56D7-8644-9BCA-A999EA5AB464}" type="slidenum">
              <a:rPr lang="en-US" smtClean="0"/>
              <a:t>‹#›</a:t>
            </a:fld>
            <a:endParaRPr lang="en-US"/>
          </a:p>
        </p:txBody>
      </p:sp>
    </p:spTree>
    <p:extLst>
      <p:ext uri="{BB962C8B-B14F-4D97-AF65-F5344CB8AC3E}">
        <p14:creationId xmlns:p14="http://schemas.microsoft.com/office/powerpoint/2010/main" val="3265297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FDF3C-9FF0-CB9C-3A70-5A2E4009BF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46CDB5-B16F-39DC-3358-22FB88A12DE8}"/>
              </a:ext>
            </a:extLst>
          </p:cNvPr>
          <p:cNvSpPr>
            <a:spLocks noGrp="1"/>
          </p:cNvSpPr>
          <p:nvPr>
            <p:ph type="dt" sz="half" idx="10"/>
          </p:nvPr>
        </p:nvSpPr>
        <p:spPr/>
        <p:txBody>
          <a:bodyPr/>
          <a:lstStyle/>
          <a:p>
            <a:fld id="{CFAF09B7-5EFA-8B40-9A7D-C8B2FA37A2CD}" type="datetimeFigureOut">
              <a:rPr lang="en-US" smtClean="0"/>
              <a:t>3/11/26</a:t>
            </a:fld>
            <a:endParaRPr lang="en-US"/>
          </a:p>
        </p:txBody>
      </p:sp>
      <p:sp>
        <p:nvSpPr>
          <p:cNvPr id="4" name="Footer Placeholder 3">
            <a:extLst>
              <a:ext uri="{FF2B5EF4-FFF2-40B4-BE49-F238E27FC236}">
                <a16:creationId xmlns:a16="http://schemas.microsoft.com/office/drawing/2014/main" id="{C37026A1-2246-0B16-3139-FFCA87E533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B3D250-8C2A-D742-BB32-D8B2FFE22BF3}"/>
              </a:ext>
            </a:extLst>
          </p:cNvPr>
          <p:cNvSpPr>
            <a:spLocks noGrp="1"/>
          </p:cNvSpPr>
          <p:nvPr>
            <p:ph type="sldNum" sz="quarter" idx="12"/>
          </p:nvPr>
        </p:nvSpPr>
        <p:spPr/>
        <p:txBody>
          <a:bodyPr/>
          <a:lstStyle/>
          <a:p>
            <a:fld id="{DC876946-56D7-8644-9BCA-A999EA5AB464}" type="slidenum">
              <a:rPr lang="en-US" smtClean="0"/>
              <a:t>‹#›</a:t>
            </a:fld>
            <a:endParaRPr lang="en-US"/>
          </a:p>
        </p:txBody>
      </p:sp>
    </p:spTree>
    <p:extLst>
      <p:ext uri="{BB962C8B-B14F-4D97-AF65-F5344CB8AC3E}">
        <p14:creationId xmlns:p14="http://schemas.microsoft.com/office/powerpoint/2010/main" val="1580230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D2880C-B029-37AA-485A-7BB6347CBFAD}"/>
              </a:ext>
            </a:extLst>
          </p:cNvPr>
          <p:cNvSpPr>
            <a:spLocks noGrp="1"/>
          </p:cNvSpPr>
          <p:nvPr>
            <p:ph type="dt" sz="half" idx="10"/>
          </p:nvPr>
        </p:nvSpPr>
        <p:spPr/>
        <p:txBody>
          <a:bodyPr/>
          <a:lstStyle/>
          <a:p>
            <a:fld id="{CFAF09B7-5EFA-8B40-9A7D-C8B2FA37A2CD}" type="datetimeFigureOut">
              <a:rPr lang="en-US" smtClean="0"/>
              <a:t>3/11/26</a:t>
            </a:fld>
            <a:endParaRPr lang="en-US"/>
          </a:p>
        </p:txBody>
      </p:sp>
      <p:sp>
        <p:nvSpPr>
          <p:cNvPr id="3" name="Footer Placeholder 2">
            <a:extLst>
              <a:ext uri="{FF2B5EF4-FFF2-40B4-BE49-F238E27FC236}">
                <a16:creationId xmlns:a16="http://schemas.microsoft.com/office/drawing/2014/main" id="{0B3F47C0-D076-412E-33E0-9EF437E218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06CE7B-B631-87EE-52CD-AABD74E26EFF}"/>
              </a:ext>
            </a:extLst>
          </p:cNvPr>
          <p:cNvSpPr>
            <a:spLocks noGrp="1"/>
          </p:cNvSpPr>
          <p:nvPr>
            <p:ph type="sldNum" sz="quarter" idx="12"/>
          </p:nvPr>
        </p:nvSpPr>
        <p:spPr/>
        <p:txBody>
          <a:bodyPr/>
          <a:lstStyle/>
          <a:p>
            <a:fld id="{DC876946-56D7-8644-9BCA-A999EA5AB464}" type="slidenum">
              <a:rPr lang="en-US" smtClean="0"/>
              <a:t>‹#›</a:t>
            </a:fld>
            <a:endParaRPr lang="en-US"/>
          </a:p>
        </p:txBody>
      </p:sp>
    </p:spTree>
    <p:extLst>
      <p:ext uri="{BB962C8B-B14F-4D97-AF65-F5344CB8AC3E}">
        <p14:creationId xmlns:p14="http://schemas.microsoft.com/office/powerpoint/2010/main" val="4148599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B3295-1C0B-698F-D0A5-35A0E9A1BF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CD9E9C-D7FE-FBB0-39B2-E6E09EE956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3D04A7-BBCF-79F3-4A7D-8E23BD353C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FC7286-FEAC-C96D-B86E-A04BBD7E9C78}"/>
              </a:ext>
            </a:extLst>
          </p:cNvPr>
          <p:cNvSpPr>
            <a:spLocks noGrp="1"/>
          </p:cNvSpPr>
          <p:nvPr>
            <p:ph type="dt" sz="half" idx="10"/>
          </p:nvPr>
        </p:nvSpPr>
        <p:spPr/>
        <p:txBody>
          <a:bodyPr/>
          <a:lstStyle/>
          <a:p>
            <a:fld id="{CFAF09B7-5EFA-8B40-9A7D-C8B2FA37A2CD}" type="datetimeFigureOut">
              <a:rPr lang="en-US" smtClean="0"/>
              <a:t>3/11/26</a:t>
            </a:fld>
            <a:endParaRPr lang="en-US"/>
          </a:p>
        </p:txBody>
      </p:sp>
      <p:sp>
        <p:nvSpPr>
          <p:cNvPr id="6" name="Footer Placeholder 5">
            <a:extLst>
              <a:ext uri="{FF2B5EF4-FFF2-40B4-BE49-F238E27FC236}">
                <a16:creationId xmlns:a16="http://schemas.microsoft.com/office/drawing/2014/main" id="{63A79E0D-AC75-4A21-61F5-18AFB154AA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8E15A7-6116-79CC-831C-705747C4D8C1}"/>
              </a:ext>
            </a:extLst>
          </p:cNvPr>
          <p:cNvSpPr>
            <a:spLocks noGrp="1"/>
          </p:cNvSpPr>
          <p:nvPr>
            <p:ph type="sldNum" sz="quarter" idx="12"/>
          </p:nvPr>
        </p:nvSpPr>
        <p:spPr/>
        <p:txBody>
          <a:bodyPr/>
          <a:lstStyle/>
          <a:p>
            <a:fld id="{DC876946-56D7-8644-9BCA-A999EA5AB464}" type="slidenum">
              <a:rPr lang="en-US" smtClean="0"/>
              <a:t>‹#›</a:t>
            </a:fld>
            <a:endParaRPr lang="en-US"/>
          </a:p>
        </p:txBody>
      </p:sp>
    </p:spTree>
    <p:extLst>
      <p:ext uri="{BB962C8B-B14F-4D97-AF65-F5344CB8AC3E}">
        <p14:creationId xmlns:p14="http://schemas.microsoft.com/office/powerpoint/2010/main" val="575170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A4D2B-2DB1-0EFC-FAA2-9EC6634E86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9D4F36-9BC9-F1C7-F431-7FE5854B50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85ED95-92BC-C99F-0B24-4AD5EFFD29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5911DF-3742-A17B-225E-69EF91BFE4FA}"/>
              </a:ext>
            </a:extLst>
          </p:cNvPr>
          <p:cNvSpPr>
            <a:spLocks noGrp="1"/>
          </p:cNvSpPr>
          <p:nvPr>
            <p:ph type="dt" sz="half" idx="10"/>
          </p:nvPr>
        </p:nvSpPr>
        <p:spPr/>
        <p:txBody>
          <a:bodyPr/>
          <a:lstStyle/>
          <a:p>
            <a:fld id="{CFAF09B7-5EFA-8B40-9A7D-C8B2FA37A2CD}" type="datetimeFigureOut">
              <a:rPr lang="en-US" smtClean="0"/>
              <a:t>3/11/26</a:t>
            </a:fld>
            <a:endParaRPr lang="en-US"/>
          </a:p>
        </p:txBody>
      </p:sp>
      <p:sp>
        <p:nvSpPr>
          <p:cNvPr id="6" name="Footer Placeholder 5">
            <a:extLst>
              <a:ext uri="{FF2B5EF4-FFF2-40B4-BE49-F238E27FC236}">
                <a16:creationId xmlns:a16="http://schemas.microsoft.com/office/drawing/2014/main" id="{628D3B18-0F48-3694-B3A7-97735879DC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83BCB1-CBDB-DD22-09E7-1521726496FD}"/>
              </a:ext>
            </a:extLst>
          </p:cNvPr>
          <p:cNvSpPr>
            <a:spLocks noGrp="1"/>
          </p:cNvSpPr>
          <p:nvPr>
            <p:ph type="sldNum" sz="quarter" idx="12"/>
          </p:nvPr>
        </p:nvSpPr>
        <p:spPr/>
        <p:txBody>
          <a:bodyPr/>
          <a:lstStyle/>
          <a:p>
            <a:fld id="{DC876946-56D7-8644-9BCA-A999EA5AB464}" type="slidenum">
              <a:rPr lang="en-US" smtClean="0"/>
              <a:t>‹#›</a:t>
            </a:fld>
            <a:endParaRPr lang="en-US"/>
          </a:p>
        </p:txBody>
      </p:sp>
    </p:spTree>
    <p:extLst>
      <p:ext uri="{BB962C8B-B14F-4D97-AF65-F5344CB8AC3E}">
        <p14:creationId xmlns:p14="http://schemas.microsoft.com/office/powerpoint/2010/main" val="4014449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998E-D92E-6D2B-F875-5775D52019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F4804B-EEFC-4E26-F8EE-0FAC277CF1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EC4C4F-3FC1-5A30-EF72-54B20EDAF502}"/>
              </a:ext>
            </a:extLst>
          </p:cNvPr>
          <p:cNvSpPr>
            <a:spLocks noGrp="1"/>
          </p:cNvSpPr>
          <p:nvPr>
            <p:ph type="dt" sz="half" idx="10"/>
          </p:nvPr>
        </p:nvSpPr>
        <p:spPr/>
        <p:txBody>
          <a:bodyPr/>
          <a:lstStyle/>
          <a:p>
            <a:fld id="{CFAF09B7-5EFA-8B40-9A7D-C8B2FA37A2CD}" type="datetimeFigureOut">
              <a:rPr lang="en-US" smtClean="0"/>
              <a:t>3/11/26</a:t>
            </a:fld>
            <a:endParaRPr lang="en-US"/>
          </a:p>
        </p:txBody>
      </p:sp>
      <p:sp>
        <p:nvSpPr>
          <p:cNvPr id="5" name="Footer Placeholder 4">
            <a:extLst>
              <a:ext uri="{FF2B5EF4-FFF2-40B4-BE49-F238E27FC236}">
                <a16:creationId xmlns:a16="http://schemas.microsoft.com/office/drawing/2014/main" id="{7F0D8267-596B-273F-8ABF-550A1A8288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5F2638-4E0C-9F01-D2FE-488FA16E979C}"/>
              </a:ext>
            </a:extLst>
          </p:cNvPr>
          <p:cNvSpPr>
            <a:spLocks noGrp="1"/>
          </p:cNvSpPr>
          <p:nvPr>
            <p:ph type="sldNum" sz="quarter" idx="12"/>
          </p:nvPr>
        </p:nvSpPr>
        <p:spPr/>
        <p:txBody>
          <a:bodyPr/>
          <a:lstStyle/>
          <a:p>
            <a:fld id="{DC876946-56D7-8644-9BCA-A999EA5AB464}" type="slidenum">
              <a:rPr lang="en-US" smtClean="0"/>
              <a:t>‹#›</a:t>
            </a:fld>
            <a:endParaRPr lang="en-US"/>
          </a:p>
        </p:txBody>
      </p:sp>
    </p:spTree>
    <p:extLst>
      <p:ext uri="{BB962C8B-B14F-4D97-AF65-F5344CB8AC3E}">
        <p14:creationId xmlns:p14="http://schemas.microsoft.com/office/powerpoint/2010/main" val="2857507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6E7C92-CD40-0648-5437-4DBDDF15E7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86B34D-D600-8E9A-1F74-9F77476E0C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7E0F72-561B-6EE3-CD0C-988112D773C6}"/>
              </a:ext>
            </a:extLst>
          </p:cNvPr>
          <p:cNvSpPr>
            <a:spLocks noGrp="1"/>
          </p:cNvSpPr>
          <p:nvPr>
            <p:ph type="dt" sz="half" idx="10"/>
          </p:nvPr>
        </p:nvSpPr>
        <p:spPr/>
        <p:txBody>
          <a:bodyPr/>
          <a:lstStyle/>
          <a:p>
            <a:fld id="{CFAF09B7-5EFA-8B40-9A7D-C8B2FA37A2CD}" type="datetimeFigureOut">
              <a:rPr lang="en-US" smtClean="0"/>
              <a:t>3/11/26</a:t>
            </a:fld>
            <a:endParaRPr lang="en-US"/>
          </a:p>
        </p:txBody>
      </p:sp>
      <p:sp>
        <p:nvSpPr>
          <p:cNvPr id="5" name="Footer Placeholder 4">
            <a:extLst>
              <a:ext uri="{FF2B5EF4-FFF2-40B4-BE49-F238E27FC236}">
                <a16:creationId xmlns:a16="http://schemas.microsoft.com/office/drawing/2014/main" id="{9ADBEE36-85CF-5C0E-6717-6409C068E2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AC8C22-F50F-642D-52A5-834D6979EF1F}"/>
              </a:ext>
            </a:extLst>
          </p:cNvPr>
          <p:cNvSpPr>
            <a:spLocks noGrp="1"/>
          </p:cNvSpPr>
          <p:nvPr>
            <p:ph type="sldNum" sz="quarter" idx="12"/>
          </p:nvPr>
        </p:nvSpPr>
        <p:spPr/>
        <p:txBody>
          <a:bodyPr/>
          <a:lstStyle/>
          <a:p>
            <a:fld id="{DC876946-56D7-8644-9BCA-A999EA5AB464}" type="slidenum">
              <a:rPr lang="en-US" smtClean="0"/>
              <a:t>‹#›</a:t>
            </a:fld>
            <a:endParaRPr lang="en-US"/>
          </a:p>
        </p:txBody>
      </p:sp>
    </p:spTree>
    <p:extLst>
      <p:ext uri="{BB962C8B-B14F-4D97-AF65-F5344CB8AC3E}">
        <p14:creationId xmlns:p14="http://schemas.microsoft.com/office/powerpoint/2010/main" val="3277947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192BCB-208F-DE5C-A399-180051214E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47B444-B4CE-5010-8029-4EAE2D9B3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538CD9-2CDC-992A-87D2-37E0C099F6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AF09B7-5EFA-8B40-9A7D-C8B2FA37A2CD}" type="datetimeFigureOut">
              <a:rPr lang="en-US" smtClean="0"/>
              <a:t>3/11/26</a:t>
            </a:fld>
            <a:endParaRPr lang="en-US"/>
          </a:p>
        </p:txBody>
      </p:sp>
      <p:sp>
        <p:nvSpPr>
          <p:cNvPr id="5" name="Footer Placeholder 4">
            <a:extLst>
              <a:ext uri="{FF2B5EF4-FFF2-40B4-BE49-F238E27FC236}">
                <a16:creationId xmlns:a16="http://schemas.microsoft.com/office/drawing/2014/main" id="{1829E255-6436-D6F1-4D8E-F27E1A2EAC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2E80A03-8F04-E187-A826-A8BDB0AC4D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876946-56D7-8644-9BCA-A999EA5AB464}" type="slidenum">
              <a:rPr lang="en-US" smtClean="0"/>
              <a:t>‹#›</a:t>
            </a:fld>
            <a:endParaRPr lang="en-US"/>
          </a:p>
        </p:txBody>
      </p:sp>
    </p:spTree>
    <p:extLst>
      <p:ext uri="{BB962C8B-B14F-4D97-AF65-F5344CB8AC3E}">
        <p14:creationId xmlns:p14="http://schemas.microsoft.com/office/powerpoint/2010/main" val="2824431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4ED5C-B896-68EB-05CA-6711D6A9D3CE}"/>
              </a:ext>
            </a:extLst>
          </p:cNvPr>
          <p:cNvSpPr>
            <a:spLocks noGrp="1"/>
          </p:cNvSpPr>
          <p:nvPr>
            <p:ph type="ctrTitle"/>
          </p:nvPr>
        </p:nvSpPr>
        <p:spPr/>
        <p:txBody>
          <a:bodyPr/>
          <a:lstStyle/>
          <a:p>
            <a:r>
              <a:rPr lang="en-US" dirty="0"/>
              <a:t>Trust in Automation (</a:t>
            </a:r>
            <a:r>
              <a:rPr lang="en-US" dirty="0" err="1"/>
              <a:t>TiA</a:t>
            </a:r>
            <a:r>
              <a:rPr lang="en-US" dirty="0"/>
              <a:t>) </a:t>
            </a:r>
          </a:p>
        </p:txBody>
      </p:sp>
      <p:sp>
        <p:nvSpPr>
          <p:cNvPr id="3" name="Subtitle 2">
            <a:extLst>
              <a:ext uri="{FF2B5EF4-FFF2-40B4-BE49-F238E27FC236}">
                <a16:creationId xmlns:a16="http://schemas.microsoft.com/office/drawing/2014/main" id="{0F07B2F7-073E-FEF4-9E93-F6C6D5BD71F1}"/>
              </a:ext>
            </a:extLst>
          </p:cNvPr>
          <p:cNvSpPr>
            <a:spLocks noGrp="1"/>
          </p:cNvSpPr>
          <p:nvPr>
            <p:ph type="subTitle" idx="1"/>
          </p:nvPr>
        </p:nvSpPr>
        <p:spPr/>
        <p:txBody>
          <a:bodyPr/>
          <a:lstStyle/>
          <a:p>
            <a:r>
              <a:rPr lang="en-US" dirty="0"/>
              <a:t>Fundamental ideas to aid in interpretation</a:t>
            </a:r>
          </a:p>
        </p:txBody>
      </p:sp>
    </p:spTree>
    <p:extLst>
      <p:ext uri="{BB962C8B-B14F-4D97-AF65-F5344CB8AC3E}">
        <p14:creationId xmlns:p14="http://schemas.microsoft.com/office/powerpoint/2010/main" val="3169815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36811-E106-15D2-CE0F-A4E2A1EA437B}"/>
              </a:ext>
            </a:extLst>
          </p:cNvPr>
          <p:cNvSpPr>
            <a:spLocks noGrp="1"/>
          </p:cNvSpPr>
          <p:nvPr>
            <p:ph type="title"/>
          </p:nvPr>
        </p:nvSpPr>
        <p:spPr/>
        <p:txBody>
          <a:bodyPr/>
          <a:lstStyle/>
          <a:p>
            <a:r>
              <a:rPr lang="en-US" dirty="0" err="1"/>
              <a:t>TiA</a:t>
            </a:r>
            <a:r>
              <a:rPr lang="en-US" dirty="0"/>
              <a:t> Defined by Lee &amp; See (2004)</a:t>
            </a:r>
          </a:p>
        </p:txBody>
      </p:sp>
      <p:sp>
        <p:nvSpPr>
          <p:cNvPr id="3" name="Content Placeholder 2">
            <a:extLst>
              <a:ext uri="{FF2B5EF4-FFF2-40B4-BE49-F238E27FC236}">
                <a16:creationId xmlns:a16="http://schemas.microsoft.com/office/drawing/2014/main" id="{CECF5311-3C6C-730B-D991-1FBB05A99907}"/>
              </a:ext>
            </a:extLst>
          </p:cNvPr>
          <p:cNvSpPr>
            <a:spLocks noGrp="1"/>
          </p:cNvSpPr>
          <p:nvPr>
            <p:ph idx="1"/>
          </p:nvPr>
        </p:nvSpPr>
        <p:spPr/>
        <p:txBody>
          <a:bodyPr/>
          <a:lstStyle/>
          <a:p>
            <a:r>
              <a:rPr lang="en-US" dirty="0"/>
              <a:t>“the attitude that an agent will help achieve an individual’s goals in a situation characterized by uncertainty and </a:t>
            </a:r>
            <a:r>
              <a:rPr lang="en-US" b="1" dirty="0"/>
              <a:t>vulnerability</a:t>
            </a:r>
            <a:r>
              <a:rPr lang="en-US" dirty="0"/>
              <a:t>” </a:t>
            </a:r>
          </a:p>
          <a:p>
            <a:endParaRPr lang="en-US" dirty="0"/>
          </a:p>
          <a:p>
            <a:r>
              <a:rPr lang="en-US" dirty="0"/>
              <a:t>Places an emphasis on </a:t>
            </a:r>
            <a:r>
              <a:rPr lang="en-US" b="1" dirty="0"/>
              <a:t>calibration</a:t>
            </a:r>
            <a:r>
              <a:rPr lang="en-US" dirty="0"/>
              <a:t> of </a:t>
            </a:r>
            <a:r>
              <a:rPr lang="en-US" b="1" dirty="0"/>
              <a:t>appropriate</a:t>
            </a:r>
            <a:r>
              <a:rPr lang="en-US" dirty="0"/>
              <a:t> trust</a:t>
            </a:r>
          </a:p>
        </p:txBody>
      </p:sp>
    </p:spTree>
    <p:extLst>
      <p:ext uri="{BB962C8B-B14F-4D97-AF65-F5344CB8AC3E}">
        <p14:creationId xmlns:p14="http://schemas.microsoft.com/office/powerpoint/2010/main" val="345046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92F0-9A91-4BDE-99A7-7F0120C0F277}"/>
              </a:ext>
            </a:extLst>
          </p:cNvPr>
          <p:cNvSpPr>
            <a:spLocks noGrp="1"/>
          </p:cNvSpPr>
          <p:nvPr>
            <p:ph type="title"/>
          </p:nvPr>
        </p:nvSpPr>
        <p:spPr/>
        <p:txBody>
          <a:bodyPr/>
          <a:lstStyle/>
          <a:p>
            <a:r>
              <a:rPr lang="en-US" dirty="0"/>
              <a:t>Trust Calibration</a:t>
            </a:r>
          </a:p>
        </p:txBody>
      </p:sp>
      <p:pic>
        <p:nvPicPr>
          <p:cNvPr id="5" name="Content Placeholder 4">
            <a:extLst>
              <a:ext uri="{FF2B5EF4-FFF2-40B4-BE49-F238E27FC236}">
                <a16:creationId xmlns:a16="http://schemas.microsoft.com/office/drawing/2014/main" id="{8DE35048-6880-2356-69E5-D751E4861691}"/>
              </a:ext>
            </a:extLst>
          </p:cNvPr>
          <p:cNvPicPr>
            <a:picLocks noGrp="1" noChangeAspect="1"/>
          </p:cNvPicPr>
          <p:nvPr>
            <p:ph idx="1"/>
          </p:nvPr>
        </p:nvPicPr>
        <p:blipFill>
          <a:blip r:embed="rId3"/>
          <a:stretch>
            <a:fillRect/>
          </a:stretch>
        </p:blipFill>
        <p:spPr>
          <a:xfrm>
            <a:off x="6423957" y="658905"/>
            <a:ext cx="5207747" cy="5207747"/>
          </a:xfrm>
          <a:prstGeom prst="rect">
            <a:avLst/>
          </a:prstGeom>
        </p:spPr>
      </p:pic>
      <p:sp>
        <p:nvSpPr>
          <p:cNvPr id="6" name="TextBox 5">
            <a:extLst>
              <a:ext uri="{FF2B5EF4-FFF2-40B4-BE49-F238E27FC236}">
                <a16:creationId xmlns:a16="http://schemas.microsoft.com/office/drawing/2014/main" id="{445B31F8-03F9-59A1-DCAF-4CA42E097DEE}"/>
              </a:ext>
            </a:extLst>
          </p:cNvPr>
          <p:cNvSpPr txBox="1"/>
          <p:nvPr/>
        </p:nvSpPr>
        <p:spPr>
          <a:xfrm>
            <a:off x="735853" y="1690688"/>
            <a:ext cx="5567083" cy="4401205"/>
          </a:xfrm>
          <a:prstGeom prst="rect">
            <a:avLst/>
          </a:prstGeom>
          <a:noFill/>
        </p:spPr>
        <p:txBody>
          <a:bodyPr wrap="square" rtlCol="0">
            <a:spAutoFit/>
          </a:bodyPr>
          <a:lstStyle/>
          <a:p>
            <a:pPr marL="285750" indent="-285750">
              <a:buFont typeface="Arial" panose="020B0604020202020204" pitchFamily="34" charset="0"/>
              <a:buChar char="•"/>
            </a:pPr>
            <a:r>
              <a:rPr lang="en-US" sz="2000" dirty="0"/>
              <a:t>Should be based (partially) on automation reliability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2 important distinctions: </a:t>
            </a:r>
          </a:p>
          <a:p>
            <a:pPr marL="742950" lvl="1" indent="-285750">
              <a:buFont typeface="Arial" panose="020B0604020202020204" pitchFamily="34" charset="0"/>
              <a:buChar char="•"/>
            </a:pPr>
            <a:r>
              <a:rPr lang="en-US" sz="2000" dirty="0"/>
              <a:t>Disuse: not using the system when you should </a:t>
            </a:r>
          </a:p>
          <a:p>
            <a:pPr marL="742950" lvl="1" indent="-285750">
              <a:buFont typeface="Arial" panose="020B0604020202020204" pitchFamily="34" charset="0"/>
              <a:buChar char="•"/>
            </a:pPr>
            <a:r>
              <a:rPr lang="en-US" sz="2000" dirty="0"/>
              <a:t>Misuse: using the system when you should not</a:t>
            </a:r>
          </a:p>
          <a:p>
            <a:pPr marL="742950" lvl="1"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idea here is that the operator should be </a:t>
            </a:r>
            <a:r>
              <a:rPr lang="en-US" sz="2000" b="1" dirty="0"/>
              <a:t>in the loop </a:t>
            </a:r>
          </a:p>
          <a:p>
            <a:pPr marL="742950" lvl="1" indent="-285750">
              <a:buFont typeface="Arial" panose="020B0604020202020204" pitchFamily="34" charset="0"/>
              <a:buChar char="•"/>
            </a:pPr>
            <a:r>
              <a:rPr lang="en-US" sz="2000" dirty="0"/>
              <a:t>Situation awareness</a:t>
            </a:r>
          </a:p>
          <a:p>
            <a:pPr marL="742950" lvl="1" indent="-285750">
              <a:buFont typeface="Arial" panose="020B0604020202020204" pitchFamily="34" charset="0"/>
              <a:buChar char="•"/>
            </a:pPr>
            <a:r>
              <a:rPr lang="en-US" sz="2000" dirty="0"/>
              <a:t>Failure points</a:t>
            </a:r>
          </a:p>
          <a:p>
            <a:pPr marL="742950" lvl="1"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2939473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1817-B972-28EA-325B-1AA0E7B07697}"/>
              </a:ext>
            </a:extLst>
          </p:cNvPr>
          <p:cNvSpPr>
            <a:spLocks noGrp="1"/>
          </p:cNvSpPr>
          <p:nvPr>
            <p:ph type="title"/>
          </p:nvPr>
        </p:nvSpPr>
        <p:spPr/>
        <p:txBody>
          <a:bodyPr/>
          <a:lstStyle/>
          <a:p>
            <a:r>
              <a:rPr lang="en-US" dirty="0"/>
              <a:t>Disuse</a:t>
            </a:r>
          </a:p>
        </p:txBody>
      </p:sp>
      <p:sp>
        <p:nvSpPr>
          <p:cNvPr id="3" name="Content Placeholder 2">
            <a:extLst>
              <a:ext uri="{FF2B5EF4-FFF2-40B4-BE49-F238E27FC236}">
                <a16:creationId xmlns:a16="http://schemas.microsoft.com/office/drawing/2014/main" id="{D7D4BA21-2B56-C31C-98DD-F4A9292534A2}"/>
              </a:ext>
            </a:extLst>
          </p:cNvPr>
          <p:cNvSpPr>
            <a:spLocks noGrp="1"/>
          </p:cNvSpPr>
          <p:nvPr>
            <p:ph idx="1"/>
          </p:nvPr>
        </p:nvSpPr>
        <p:spPr/>
        <p:txBody>
          <a:bodyPr/>
          <a:lstStyle/>
          <a:p>
            <a:r>
              <a:rPr lang="en-US" dirty="0"/>
              <a:t>Not using the automation even in situations where you should</a:t>
            </a:r>
          </a:p>
          <a:p>
            <a:endParaRPr lang="en-US" dirty="0"/>
          </a:p>
          <a:p>
            <a:r>
              <a:rPr lang="en-US" dirty="0"/>
              <a:t>Can be caused by things like faulty alarms, where operator ignores warnings</a:t>
            </a:r>
          </a:p>
          <a:p>
            <a:pPr lvl="1"/>
            <a:r>
              <a:rPr lang="en-US" dirty="0"/>
              <a:t>I.e., car tire pressure light </a:t>
            </a:r>
          </a:p>
          <a:p>
            <a:pPr lvl="1"/>
            <a:endParaRPr lang="en-US" dirty="0"/>
          </a:p>
          <a:p>
            <a:r>
              <a:rPr lang="en-US" dirty="0"/>
              <a:t>May result in: </a:t>
            </a:r>
          </a:p>
          <a:p>
            <a:pPr lvl="1"/>
            <a:r>
              <a:rPr lang="en-US" dirty="0"/>
              <a:t>Decreased performance + situation awareness</a:t>
            </a:r>
          </a:p>
          <a:p>
            <a:pPr lvl="1"/>
            <a:r>
              <a:rPr lang="en-US" dirty="0"/>
              <a:t>Increased fatigue + workload</a:t>
            </a:r>
          </a:p>
          <a:p>
            <a:pPr lvl="1"/>
            <a:endParaRPr lang="en-US" dirty="0"/>
          </a:p>
        </p:txBody>
      </p:sp>
    </p:spTree>
    <p:extLst>
      <p:ext uri="{BB962C8B-B14F-4D97-AF65-F5344CB8AC3E}">
        <p14:creationId xmlns:p14="http://schemas.microsoft.com/office/powerpoint/2010/main" val="3368134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16BFF-B860-E958-4E1D-A8B95CD89440}"/>
              </a:ext>
            </a:extLst>
          </p:cNvPr>
          <p:cNvSpPr>
            <a:spLocks noGrp="1"/>
          </p:cNvSpPr>
          <p:nvPr>
            <p:ph type="title"/>
          </p:nvPr>
        </p:nvSpPr>
        <p:spPr/>
        <p:txBody>
          <a:bodyPr/>
          <a:lstStyle/>
          <a:p>
            <a:r>
              <a:rPr lang="en-US" dirty="0"/>
              <a:t>Out of the Loop Unfamiliarity (OOTLUF) </a:t>
            </a:r>
          </a:p>
        </p:txBody>
      </p:sp>
      <p:sp>
        <p:nvSpPr>
          <p:cNvPr id="3" name="Content Placeholder 2">
            <a:extLst>
              <a:ext uri="{FF2B5EF4-FFF2-40B4-BE49-F238E27FC236}">
                <a16:creationId xmlns:a16="http://schemas.microsoft.com/office/drawing/2014/main" id="{69D74A3D-F23C-419F-F42D-083DCC12F189}"/>
              </a:ext>
            </a:extLst>
          </p:cNvPr>
          <p:cNvSpPr>
            <a:spLocks noGrp="1"/>
          </p:cNvSpPr>
          <p:nvPr>
            <p:ph idx="1"/>
          </p:nvPr>
        </p:nvSpPr>
        <p:spPr/>
        <p:txBody>
          <a:bodyPr>
            <a:normAutofit fontScale="92500" lnSpcReduction="10000"/>
          </a:bodyPr>
          <a:lstStyle/>
          <a:p>
            <a:r>
              <a:rPr lang="en-US" dirty="0"/>
              <a:t>Assumption that as the degree of automation increases, human familiarity with (1) how to do the task, (2) when to take over, and (3) skills required to complete the task decreases</a:t>
            </a:r>
          </a:p>
          <a:p>
            <a:endParaRPr lang="en-US" dirty="0"/>
          </a:p>
          <a:p>
            <a:r>
              <a:rPr lang="en-US" dirty="0"/>
              <a:t>Practically: </a:t>
            </a:r>
          </a:p>
          <a:p>
            <a:pPr lvl="1"/>
            <a:r>
              <a:rPr lang="en-US" dirty="0"/>
              <a:t>Less familiarity with how a system works = slower reaction time </a:t>
            </a:r>
          </a:p>
          <a:p>
            <a:pPr lvl="2"/>
            <a:r>
              <a:rPr lang="en-US" dirty="0"/>
              <a:t>Automation failures in many cases need fast response time </a:t>
            </a:r>
          </a:p>
          <a:p>
            <a:pPr lvl="2"/>
            <a:r>
              <a:rPr lang="en-US" dirty="0"/>
              <a:t>i.e., sensor failure in an AV = accident </a:t>
            </a:r>
          </a:p>
          <a:p>
            <a:pPr lvl="2"/>
            <a:endParaRPr lang="en-US" dirty="0"/>
          </a:p>
          <a:p>
            <a:pPr lvl="1"/>
            <a:r>
              <a:rPr lang="en-US" dirty="0"/>
              <a:t>De-skilling</a:t>
            </a:r>
          </a:p>
          <a:p>
            <a:pPr lvl="1"/>
            <a:endParaRPr lang="en-US" dirty="0"/>
          </a:p>
          <a:p>
            <a:pPr lvl="1"/>
            <a:r>
              <a:rPr lang="en-US" dirty="0"/>
              <a:t>Symptom of </a:t>
            </a:r>
            <a:r>
              <a:rPr lang="en-US" dirty="0" err="1"/>
              <a:t>overtrust</a:t>
            </a:r>
            <a:endParaRPr lang="en-US" dirty="0"/>
          </a:p>
          <a:p>
            <a:pPr lvl="2"/>
            <a:endParaRPr lang="en-US" dirty="0"/>
          </a:p>
          <a:p>
            <a:pPr lvl="1"/>
            <a:endParaRPr lang="en-US" dirty="0"/>
          </a:p>
        </p:txBody>
      </p:sp>
    </p:spTree>
    <p:extLst>
      <p:ext uri="{BB962C8B-B14F-4D97-AF65-F5344CB8AC3E}">
        <p14:creationId xmlns:p14="http://schemas.microsoft.com/office/powerpoint/2010/main" val="2716935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40538-71DA-5BF8-63DE-ED07B0916087}"/>
              </a:ext>
            </a:extLst>
          </p:cNvPr>
          <p:cNvSpPr>
            <a:spLocks noGrp="1"/>
          </p:cNvSpPr>
          <p:nvPr>
            <p:ph type="title"/>
          </p:nvPr>
        </p:nvSpPr>
        <p:spPr/>
        <p:txBody>
          <a:bodyPr/>
          <a:lstStyle/>
          <a:p>
            <a:r>
              <a:rPr lang="en-US" dirty="0"/>
              <a:t>Automation Bias</a:t>
            </a:r>
          </a:p>
        </p:txBody>
      </p:sp>
      <p:sp>
        <p:nvSpPr>
          <p:cNvPr id="3" name="Content Placeholder 2">
            <a:extLst>
              <a:ext uri="{FF2B5EF4-FFF2-40B4-BE49-F238E27FC236}">
                <a16:creationId xmlns:a16="http://schemas.microsoft.com/office/drawing/2014/main" id="{31903BB2-83BB-F06F-DC87-2A3923D066FE}"/>
              </a:ext>
            </a:extLst>
          </p:cNvPr>
          <p:cNvSpPr>
            <a:spLocks noGrp="1"/>
          </p:cNvSpPr>
          <p:nvPr>
            <p:ph idx="1"/>
          </p:nvPr>
        </p:nvSpPr>
        <p:spPr/>
        <p:txBody>
          <a:bodyPr/>
          <a:lstStyle/>
          <a:p>
            <a:r>
              <a:rPr lang="en-US" dirty="0"/>
              <a:t>Misuse </a:t>
            </a:r>
          </a:p>
          <a:p>
            <a:endParaRPr lang="en-US" dirty="0"/>
          </a:p>
          <a:p>
            <a:r>
              <a:rPr lang="en-US" dirty="0"/>
              <a:t>Continuing to use automation, despite failures</a:t>
            </a:r>
          </a:p>
          <a:p>
            <a:endParaRPr lang="en-US" dirty="0"/>
          </a:p>
          <a:p>
            <a:r>
              <a:rPr lang="en-US" dirty="0"/>
              <a:t>Reflective of complacency, suggesting human is out of the loop</a:t>
            </a:r>
          </a:p>
        </p:txBody>
      </p:sp>
    </p:spTree>
    <p:extLst>
      <p:ext uri="{BB962C8B-B14F-4D97-AF65-F5344CB8AC3E}">
        <p14:creationId xmlns:p14="http://schemas.microsoft.com/office/powerpoint/2010/main" val="2235016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90E35-1494-29C9-D016-01D2084459AA}"/>
              </a:ext>
            </a:extLst>
          </p:cNvPr>
          <p:cNvSpPr>
            <a:spLocks noGrp="1"/>
          </p:cNvSpPr>
          <p:nvPr>
            <p:ph type="title"/>
          </p:nvPr>
        </p:nvSpPr>
        <p:spPr/>
        <p:txBody>
          <a:bodyPr/>
          <a:lstStyle/>
          <a:p>
            <a:r>
              <a:rPr lang="en-US" dirty="0"/>
              <a:t>Additional Context</a:t>
            </a:r>
          </a:p>
        </p:txBody>
      </p:sp>
      <p:sp>
        <p:nvSpPr>
          <p:cNvPr id="3" name="Content Placeholder 2">
            <a:extLst>
              <a:ext uri="{FF2B5EF4-FFF2-40B4-BE49-F238E27FC236}">
                <a16:creationId xmlns:a16="http://schemas.microsoft.com/office/drawing/2014/main" id="{F421975F-4EF3-AB0B-F748-D358BC18F81D}"/>
              </a:ext>
            </a:extLst>
          </p:cNvPr>
          <p:cNvSpPr>
            <a:spLocks noGrp="1"/>
          </p:cNvSpPr>
          <p:nvPr>
            <p:ph idx="1"/>
          </p:nvPr>
        </p:nvSpPr>
        <p:spPr/>
        <p:txBody>
          <a:bodyPr/>
          <a:lstStyle/>
          <a:p>
            <a:r>
              <a:rPr lang="en-US" dirty="0"/>
              <a:t>Influences of action specific perception: </a:t>
            </a:r>
          </a:p>
          <a:p>
            <a:pPr lvl="1"/>
            <a:r>
              <a:rPr lang="en-US" dirty="0"/>
              <a:t>Your belief about your ability to act on the world influences your actual ability to act on the world </a:t>
            </a:r>
          </a:p>
          <a:p>
            <a:pPr lvl="2"/>
            <a:r>
              <a:rPr lang="en-US" dirty="0"/>
              <a:t>Ebbinghaus golf illusion (Witt et al,. 2012)</a:t>
            </a:r>
          </a:p>
          <a:p>
            <a:pPr lvl="2"/>
            <a:r>
              <a:rPr lang="en-US" dirty="0"/>
              <a:t>Heavy backpack = steeper hills (Witt et al., 2016)</a:t>
            </a:r>
          </a:p>
          <a:p>
            <a:pPr lvl="2"/>
            <a:endParaRPr lang="en-US" dirty="0"/>
          </a:p>
          <a:p>
            <a:pPr lvl="1"/>
            <a:r>
              <a:rPr lang="en-US" dirty="0"/>
              <a:t>In terms of automation, something like fatigue may fundamentally change the HAI</a:t>
            </a:r>
          </a:p>
        </p:txBody>
      </p:sp>
    </p:spTree>
    <p:extLst>
      <p:ext uri="{BB962C8B-B14F-4D97-AF65-F5344CB8AC3E}">
        <p14:creationId xmlns:p14="http://schemas.microsoft.com/office/powerpoint/2010/main" val="292171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89503-D6CB-24A9-2F4B-94F0C498EEBB}"/>
              </a:ext>
            </a:extLst>
          </p:cNvPr>
          <p:cNvSpPr>
            <a:spLocks noGrp="1"/>
          </p:cNvSpPr>
          <p:nvPr>
            <p:ph type="title"/>
          </p:nvPr>
        </p:nvSpPr>
        <p:spPr/>
        <p:txBody>
          <a:bodyPr/>
          <a:lstStyle/>
          <a:p>
            <a:r>
              <a:rPr lang="en-US" dirty="0"/>
              <a:t>In terms of the present work</a:t>
            </a:r>
          </a:p>
        </p:txBody>
      </p:sp>
      <p:sp>
        <p:nvSpPr>
          <p:cNvPr id="3" name="Content Placeholder 2">
            <a:extLst>
              <a:ext uri="{FF2B5EF4-FFF2-40B4-BE49-F238E27FC236}">
                <a16:creationId xmlns:a16="http://schemas.microsoft.com/office/drawing/2014/main" id="{32C6D135-32DE-6850-585F-57581D099FA0}"/>
              </a:ext>
            </a:extLst>
          </p:cNvPr>
          <p:cNvSpPr>
            <a:spLocks noGrp="1"/>
          </p:cNvSpPr>
          <p:nvPr>
            <p:ph idx="1"/>
          </p:nvPr>
        </p:nvSpPr>
        <p:spPr/>
        <p:txBody>
          <a:bodyPr/>
          <a:lstStyle/>
          <a:p>
            <a:r>
              <a:rPr lang="en-US" dirty="0"/>
              <a:t>Low agency and low risk </a:t>
            </a:r>
          </a:p>
          <a:p>
            <a:pPr lvl="1"/>
            <a:r>
              <a:rPr lang="en-US" dirty="0"/>
              <a:t>Agency: participants cant really move the object without the robot</a:t>
            </a:r>
          </a:p>
          <a:p>
            <a:pPr lvl="1"/>
            <a:r>
              <a:rPr lang="en-US" dirty="0"/>
              <a:t>Risk: what happens if the robot does fail? </a:t>
            </a:r>
          </a:p>
          <a:p>
            <a:pPr lvl="1"/>
            <a:r>
              <a:rPr lang="en-US" dirty="0"/>
              <a:t>Potential that each of these reduce impact of robot errors? </a:t>
            </a:r>
          </a:p>
          <a:p>
            <a:pPr lvl="1"/>
            <a:endParaRPr lang="en-US" dirty="0"/>
          </a:p>
          <a:p>
            <a:r>
              <a:rPr lang="en-US" dirty="0"/>
              <a:t>Possible that errors are not large enough to create the desired response? </a:t>
            </a:r>
          </a:p>
          <a:p>
            <a:endParaRPr lang="en-US" dirty="0"/>
          </a:p>
          <a:p>
            <a:r>
              <a:rPr lang="en-US" dirty="0"/>
              <a:t>From a trust calibration lens, maybe low trust participants are ALWAYS prepared for a robot failure</a:t>
            </a:r>
          </a:p>
          <a:p>
            <a:endParaRPr lang="en-US" dirty="0"/>
          </a:p>
          <a:p>
            <a:endParaRPr lang="en-US" dirty="0"/>
          </a:p>
          <a:p>
            <a:pPr lvl="1"/>
            <a:endParaRPr lang="en-US" dirty="0"/>
          </a:p>
        </p:txBody>
      </p:sp>
    </p:spTree>
    <p:extLst>
      <p:ext uri="{BB962C8B-B14F-4D97-AF65-F5344CB8AC3E}">
        <p14:creationId xmlns:p14="http://schemas.microsoft.com/office/powerpoint/2010/main" val="1371377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609</Words>
  <Application>Microsoft Macintosh PowerPoint</Application>
  <PresentationFormat>Widescreen</PresentationFormat>
  <Paragraphs>69</Paragraphs>
  <Slides>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Trust in Automation (TiA) </vt:lpstr>
      <vt:lpstr>TiA Defined by Lee &amp; See (2004)</vt:lpstr>
      <vt:lpstr>Trust Calibration</vt:lpstr>
      <vt:lpstr>Disuse</vt:lpstr>
      <vt:lpstr>Out of the Loop Unfamiliarity (OOTLUF) </vt:lpstr>
      <vt:lpstr>Automation Bias</vt:lpstr>
      <vt:lpstr>Additional Context</vt:lpstr>
      <vt:lpstr>In terms of the present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 SPENCELEY</dc:creator>
  <cp:lastModifiedBy>Rob SPENCELEY</cp:lastModifiedBy>
  <cp:revision>2</cp:revision>
  <dcterms:created xsi:type="dcterms:W3CDTF">2026-03-11T14:15:32Z</dcterms:created>
  <dcterms:modified xsi:type="dcterms:W3CDTF">2026-03-11T16:31:16Z</dcterms:modified>
</cp:coreProperties>
</file>