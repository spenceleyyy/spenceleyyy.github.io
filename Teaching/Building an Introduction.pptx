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1" r:id="rId4"/>
    <p:sldId id="258" r:id="rId5"/>
    <p:sldId id="259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35"/>
    <p:restoredTop sz="96286"/>
  </p:normalViewPr>
  <p:slideViewPr>
    <p:cSldViewPr snapToGrid="0">
      <p:cViewPr varScale="1">
        <p:scale>
          <a:sx n="127" d="100"/>
          <a:sy n="127" d="100"/>
        </p:scale>
        <p:origin x="3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876B0B-6B70-5742-B1CB-9C90C0242441}" type="datetimeFigureOut">
              <a:rPr lang="en-US" smtClean="0"/>
              <a:t>2/6/26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291432-4B88-A74D-A3D9-D2B855C50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359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www.frontiersin.org</a:t>
            </a:r>
            <a:r>
              <a:rPr lang="en-US" dirty="0"/>
              <a:t>/journals/neurorobotics/articles/10.3389/fnbot.2025.1480399/full H-H co manipulation</a:t>
            </a:r>
          </a:p>
          <a:p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dl.acm.org</a:t>
            </a:r>
            <a:r>
              <a:rPr lang="en-US" dirty="0"/>
              <a:t>/</a:t>
            </a:r>
            <a:r>
              <a:rPr lang="en-US" dirty="0" err="1"/>
              <a:t>doi</a:t>
            </a:r>
            <a:r>
              <a:rPr lang="en-US" dirty="0"/>
              <a:t>/10.1145/3659059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91432-4B88-A74D-A3D9-D2B855C50DE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5941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shouldn’t need to be included in a poster, but you should consider why you are </a:t>
            </a:r>
            <a:r>
              <a:rPr lang="en-US" dirty="0" err="1"/>
              <a:t>usng</a:t>
            </a:r>
            <a:r>
              <a:rPr lang="en-US" dirty="0"/>
              <a:t> ERN over </a:t>
            </a:r>
            <a:r>
              <a:rPr lang="en-US" dirty="0" err="1"/>
              <a:t>ErrP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91432-4B88-A74D-A3D9-D2B855C50DE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9775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pmc.ncbi.nlm.nih.gov</a:t>
            </a:r>
            <a:r>
              <a:rPr lang="en-US" dirty="0"/>
              <a:t>/articles/PMC2615243/?</a:t>
            </a:r>
            <a:r>
              <a:rPr lang="en-US" dirty="0" err="1"/>
              <a:t>utm.com</a:t>
            </a:r>
            <a:r>
              <a:rPr lang="en-US" dirty="0"/>
              <a:t> &lt;- this is a really good source for the basics of ERN</a:t>
            </a:r>
          </a:p>
          <a:p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pmc.ncbi.nlm.nih.gov</a:t>
            </a:r>
            <a:r>
              <a:rPr lang="en-US" dirty="0"/>
              <a:t>/articles/PMC4756390/?</a:t>
            </a:r>
            <a:r>
              <a:rPr lang="en-US" dirty="0" err="1"/>
              <a:t>utm.com</a:t>
            </a:r>
            <a:endParaRPr lang="en-US" dirty="0"/>
          </a:p>
          <a:p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ieeexplore.ieee.org</a:t>
            </a:r>
            <a:r>
              <a:rPr lang="en-US" dirty="0"/>
              <a:t>/document/5491194 &lt;- ERN, FRN, and </a:t>
            </a:r>
            <a:r>
              <a:rPr lang="en-US" dirty="0" err="1"/>
              <a:t>ErrP</a:t>
            </a:r>
            <a:r>
              <a:rPr lang="en-US" dirty="0"/>
              <a:t> evaluation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91432-4B88-A74D-A3D9-D2B855C50DE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5572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C1441-25FC-71D5-B9CB-73C6DA5141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DBE760-2AA9-AAA8-CE93-E35390278A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21FD4-6DA4-9E0D-6059-A0B63A32D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31283-834F-1F4C-A66C-193794FC43A2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F169-2341-FDD1-A3F7-BC959CF54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332C1-77C5-C8C0-2A7D-A0AEB8084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F357B-D839-C545-A40B-83F4AA384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22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3DA4-883F-4C6E-B8F3-8A655C72C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482ED-5566-8351-3FE3-3D3E9A03C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0D28D-70A1-1EC7-35CB-E8830FFD2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31283-834F-1F4C-A66C-193794FC43A2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7B4FF-8C17-68F3-6F41-7E79CF944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15B5F-06D2-5293-8D0F-1F02D65AB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F357B-D839-C545-A40B-83F4AA384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820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E40BE-B4F5-710E-5102-905AC6461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4E1A17-D040-541D-674F-716D68B83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822516-376D-B6D7-F615-97C4B6860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31283-834F-1F4C-A66C-193794FC43A2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49E3E-DCDA-0985-55E2-30FEB28C1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A0BBE-1322-DD30-B5B3-CC7CD218C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F357B-D839-C545-A40B-83F4AA384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492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B7F68-2EFF-6753-8319-46231A98C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65087-808D-5745-D091-CF7F7C88B3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E1F4B4-0F76-92C8-8C9E-52E613163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8787F-61C0-54A2-73CF-29EDD5564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31283-834F-1F4C-A66C-193794FC43A2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80B315-7D3D-3D38-C6AB-DE979F51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AE27C6-4FDF-2EA3-5E84-881D0C946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F357B-D839-C545-A40B-83F4AA384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957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82A51-9E19-85D2-75C7-F2C624C02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6A54C5-7E57-7DCC-24A2-1C04A45B74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B052C8-DA80-310D-8512-8DE3CAAB32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AEEADA-0649-B62B-C31A-9216FDB0C2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7AC376-2D8C-E729-B41E-421E6439F9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ECD21D-2569-A2CA-B0B3-2A03812C6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31283-834F-1F4C-A66C-193794FC43A2}" type="datetimeFigureOut">
              <a:rPr lang="en-US" smtClean="0"/>
              <a:t>2/6/26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59504A-0DA7-FF0B-F66F-FB974C520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A68F7B-AEC7-A7C4-58B3-40BB3F063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F357B-D839-C545-A40B-83F4AA384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178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53A3C-5F64-150F-6C74-EE3106DCF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A3D8AE-7BC1-1853-3EEB-347430BA1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31283-834F-1F4C-A66C-193794FC43A2}" type="datetimeFigureOut">
              <a:rPr lang="en-US" smtClean="0"/>
              <a:t>2/6/26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BEE833-B80C-62B6-0F82-DFB005B9F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99BB74-7C92-A705-6FE5-CBF44388B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F357B-D839-C545-A40B-83F4AA384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006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55793A-47FB-6F47-7AFE-BCA855544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31283-834F-1F4C-A66C-193794FC43A2}" type="datetimeFigureOut">
              <a:rPr lang="en-US" smtClean="0"/>
              <a:t>2/6/26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B1159B-361A-17DA-F77E-DBCF36823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DBC8E4-DD53-3941-3AC7-AE93EDA31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F357B-D839-C545-A40B-83F4AA384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652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1CDE3-0470-9129-55FF-8D4C2A41C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69C9E-9342-92DF-E705-849813DF8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27422A-DC41-50A2-2870-7C7A93300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E869C0-ADFD-751C-51A3-BE995DBEF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31283-834F-1F4C-A66C-193794FC43A2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530527-72E4-D1CE-CEF7-24B7AE297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666A70-5FA0-2C13-5EFD-CACB65E2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F357B-D839-C545-A40B-83F4AA384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978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D0CC7-0D70-E7D4-2752-ABEE56327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26CE41-D790-05F1-2B8F-DD30A4DB2C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5D554B-7944-66B1-D248-107DA6ACC5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DD2810-F0BE-7B5C-1547-79C6ECF7D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31283-834F-1F4C-A66C-193794FC43A2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C00C0-8F36-02D1-0505-E38161FEF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F3BE57-5519-6AEE-4FDF-85F4A759A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F357B-D839-C545-A40B-83F4AA384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64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C42F5-D6E8-E5BF-5CAD-4E87A8838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D9B4B7-267F-AF5A-8818-94A656C3E2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1E43C-0802-72A0-F96F-53B056824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31283-834F-1F4C-A66C-193794FC43A2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95244-9502-BEE2-A5B1-84C4219D1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E271E-6C71-4AE6-1040-004453339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F357B-D839-C545-A40B-83F4AA384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74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D41024-F456-9E4E-C4A1-60E5735E3D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8CEF4A-00AC-CD21-55F5-88F5B35242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575F7-9334-6EC1-C1E8-4E24E6D8B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31283-834F-1F4C-A66C-193794FC43A2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F169B-0FD8-7E80-111C-E49567733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5FCCB-F17F-5E7E-CA2D-2661F527A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F357B-D839-C545-A40B-83F4AA384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118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38CD1D-7B18-970C-58E9-B8073A12C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EEE61-4058-C74D-7C87-D327EDBCB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61EF1-60F5-8306-98D8-C0FDD8A4F7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131283-834F-1F4C-A66C-193794FC43A2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7AD1B-5729-4086-B213-2E64FF31A1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F51B9-DB36-B491-6398-E9E52DAF08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EF357B-D839-C545-A40B-83F4AA384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173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ugradsymposium.wisc.edu/wp-content/uploads/sites/454/2025/12/2026-Undergraduate-Symposium-Mentor-Approval-Form.pdf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6A63B-24D9-B120-611B-69EF6647C8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Building Your 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6ED863-EDB4-D44A-0990-9AD7AA3345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All about framing the problem</a:t>
            </a:r>
          </a:p>
        </p:txBody>
      </p:sp>
    </p:spTree>
    <p:extLst>
      <p:ext uri="{BB962C8B-B14F-4D97-AF65-F5344CB8AC3E}">
        <p14:creationId xmlns:p14="http://schemas.microsoft.com/office/powerpoint/2010/main" val="3633110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094D3-19A4-9118-824A-1E96848C5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Symposium Guidelines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1E598-8F29-8991-DC6B-78BE1E968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Will need to have Dr. Mehta fill this out: </a:t>
            </a:r>
            <a:r>
              <a:rPr lang="en-US" dirty="0">
                <a:hlinkClick r:id="rId2"/>
              </a:rPr>
              <a:t>https://ugradsymposium.wisc.edu/wp-content/uploads/sites/454/2025/12/2026-Undergraduate-Symposium-Mentor-Approval-Form.pdf</a:t>
            </a:r>
            <a:endParaRPr lang="en-US" dirty="0"/>
          </a:p>
          <a:p>
            <a:r>
              <a:rPr lang="en-US" dirty="0"/>
              <a:t>By March 6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Title </a:t>
            </a:r>
          </a:p>
          <a:p>
            <a:pPr lvl="1"/>
            <a:r>
              <a:rPr lang="en-US" dirty="0"/>
              <a:t>Abstract (MAX 125 words)</a:t>
            </a:r>
          </a:p>
          <a:p>
            <a:pPr lvl="1"/>
            <a:endParaRPr lang="en-US" dirty="0"/>
          </a:p>
          <a:p>
            <a:r>
              <a:rPr lang="en-US" dirty="0"/>
              <a:t>I think our goal should be to have this done by March 1</a:t>
            </a:r>
            <a:r>
              <a:rPr lang="en-US" baseline="30000" dirty="0"/>
              <a:t>st</a:t>
            </a:r>
          </a:p>
          <a:p>
            <a:endParaRPr lang="en-US" baseline="30000" dirty="0"/>
          </a:p>
          <a:p>
            <a:r>
              <a:rPr lang="en-US" baseline="30000" dirty="0"/>
              <a:t>Up to you whether you want to do a ppt or poster presentation.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880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FE28F-4DE8-F0E0-2D38-DB1D955B1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Since the abstract is short…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7AB50-66EC-275D-FAC4-7B3F789FA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sentence should have a purpose. </a:t>
            </a:r>
          </a:p>
          <a:p>
            <a:endParaRPr lang="en-US" dirty="0"/>
          </a:p>
          <a:p>
            <a:r>
              <a:rPr lang="en-US" dirty="0"/>
              <a:t>When you are writing your abstract, after each sentence, think about what value that is adding. </a:t>
            </a:r>
          </a:p>
          <a:p>
            <a:pPr lvl="1"/>
            <a:r>
              <a:rPr lang="en-US" dirty="0"/>
              <a:t>Would the abstract be dramatically different without that sentence?</a:t>
            </a:r>
          </a:p>
          <a:p>
            <a:pPr lvl="1"/>
            <a:r>
              <a:rPr lang="en-US" dirty="0"/>
              <a:t>If no, chose something more impactful</a:t>
            </a:r>
          </a:p>
        </p:txBody>
      </p:sp>
    </p:spTree>
    <p:extLst>
      <p:ext uri="{BB962C8B-B14F-4D97-AF65-F5344CB8AC3E}">
        <p14:creationId xmlns:p14="http://schemas.microsoft.com/office/powerpoint/2010/main" val="1851910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43EE5-791F-CDBC-5707-4F553033F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an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73EFE-13FE-CF28-A94E-A1D08CA3D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What is the problem space? </a:t>
            </a:r>
          </a:p>
          <a:p>
            <a:pPr marL="514350" indent="-514350">
              <a:buAutoNum type="arabicPeriod"/>
            </a:pPr>
            <a:r>
              <a:rPr lang="en-US" dirty="0"/>
              <a:t>How has this problem space been addressed in the past, what is the existing knowledge, and what is not know? </a:t>
            </a:r>
          </a:p>
          <a:p>
            <a:pPr marL="971550" lvl="1" indent="-514350">
              <a:buAutoNum type="arabicPeriod"/>
            </a:pPr>
            <a:r>
              <a:rPr lang="en-US" dirty="0"/>
              <a:t>Establish a gap </a:t>
            </a:r>
          </a:p>
          <a:p>
            <a:pPr marL="971550" lvl="1" indent="-514350">
              <a:buAutoNum type="arabicPeriod"/>
            </a:pPr>
            <a:r>
              <a:rPr lang="en-US" dirty="0"/>
              <a:t>Adress relevant topics</a:t>
            </a:r>
          </a:p>
          <a:p>
            <a:pPr marL="971550" lvl="1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Motivate a way to study that gap using existing knowledge.</a:t>
            </a:r>
          </a:p>
          <a:p>
            <a:pPr marL="514350" indent="-514350">
              <a:buAutoNum type="arabicPeriod"/>
            </a:pPr>
            <a:r>
              <a:rPr lang="en-US" dirty="0"/>
              <a:t>Given existing knowledge, what do we expect to happen/what do we need to know? </a:t>
            </a:r>
          </a:p>
          <a:p>
            <a:pPr marL="971550" lvl="1" indent="-514350">
              <a:buAutoNum type="arabicPeriod"/>
            </a:pPr>
            <a:r>
              <a:rPr lang="en-US" dirty="0"/>
              <a:t>Hypotheses and research questions</a:t>
            </a:r>
          </a:p>
        </p:txBody>
      </p:sp>
    </p:spTree>
    <p:extLst>
      <p:ext uri="{BB962C8B-B14F-4D97-AF65-F5344CB8AC3E}">
        <p14:creationId xmlns:p14="http://schemas.microsoft.com/office/powerpoint/2010/main" val="2423168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AB55A-96D0-95AC-42E2-58E2B9B8D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introduction should “funnel” towards your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B870E-AF8C-9A2B-B885-5F17E3817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032376"/>
          </a:xfrm>
        </p:spPr>
        <p:txBody>
          <a:bodyPr>
            <a:normAutofit/>
          </a:bodyPr>
          <a:lstStyle/>
          <a:p>
            <a:r>
              <a:rPr lang="en-US" dirty="0"/>
              <a:t>Start with problem space: </a:t>
            </a:r>
            <a:r>
              <a:rPr lang="en-US" b="1" dirty="0"/>
              <a:t>Co-Lifting 	</a:t>
            </a:r>
          </a:p>
          <a:p>
            <a:pPr lvl="1"/>
            <a:r>
              <a:rPr lang="en-US" dirty="0"/>
              <a:t>Discuss co-manipulation in H-H interactions</a:t>
            </a:r>
          </a:p>
          <a:p>
            <a:pPr lvl="2"/>
            <a:r>
              <a:rPr lang="en-US" dirty="0"/>
              <a:t>Define where this may be problematic, and how a robot is a plausible alternative</a:t>
            </a:r>
          </a:p>
          <a:p>
            <a:pPr lvl="3"/>
            <a:r>
              <a:rPr lang="en-US" dirty="0"/>
              <a:t>Discussion of injury/resources could be good here</a:t>
            </a:r>
          </a:p>
          <a:p>
            <a:pPr lvl="3"/>
            <a:r>
              <a:rPr lang="en-US" dirty="0"/>
              <a:t>For Robots, </a:t>
            </a:r>
          </a:p>
          <a:p>
            <a:pPr lvl="1"/>
            <a:endParaRPr lang="en-US" dirty="0"/>
          </a:p>
          <a:p>
            <a:r>
              <a:rPr lang="en-US" dirty="0"/>
              <a:t>Scope: Physical human-robot interaction </a:t>
            </a:r>
            <a:r>
              <a:rPr lang="en-US" b="1" dirty="0"/>
              <a:t>Co-Manipulation</a:t>
            </a:r>
            <a:endParaRPr lang="en-US" dirty="0"/>
          </a:p>
          <a:p>
            <a:pPr lvl="1"/>
            <a:r>
              <a:rPr lang="en-US" dirty="0"/>
              <a:t>Despite the possibility of robots being a good option, we still don’t know how x, y, and z work (gap) </a:t>
            </a:r>
          </a:p>
          <a:p>
            <a:pPr lvl="1"/>
            <a:r>
              <a:rPr lang="en-US" dirty="0"/>
              <a:t>For Co-Manipulation to be effective, what needs to happen? </a:t>
            </a:r>
          </a:p>
          <a:p>
            <a:pPr lvl="2"/>
            <a:r>
              <a:rPr lang="en-US" dirty="0"/>
              <a:t>Does something need to change with robot design?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F78821-5E7E-81B7-137B-0BAE16D4DF1D}"/>
              </a:ext>
            </a:extLst>
          </p:cNvPr>
          <p:cNvSpPr txBox="1"/>
          <p:nvPr/>
        </p:nvSpPr>
        <p:spPr>
          <a:xfrm>
            <a:off x="106326" y="6400800"/>
            <a:ext cx="3580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Useful Sources in presenter notes</a:t>
            </a:r>
          </a:p>
        </p:txBody>
      </p:sp>
    </p:spTree>
    <p:extLst>
      <p:ext uri="{BB962C8B-B14F-4D97-AF65-F5344CB8AC3E}">
        <p14:creationId xmlns:p14="http://schemas.microsoft.com/office/powerpoint/2010/main" val="3361783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73825-8358-9F11-62E7-FA1AF20D0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Once you have your scope…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9687F-6604-67C2-34B9-540BA842C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Propose your method:</a:t>
            </a:r>
          </a:p>
          <a:p>
            <a:pPr lvl="1"/>
            <a:r>
              <a:rPr lang="en-US" dirty="0"/>
              <a:t>How does ERN specifically help you to fill in those gaps?</a:t>
            </a:r>
          </a:p>
          <a:p>
            <a:pPr lvl="1"/>
            <a:r>
              <a:rPr lang="en-US" dirty="0"/>
              <a:t>How has ERN been used in the past? </a:t>
            </a:r>
          </a:p>
          <a:p>
            <a:pPr lvl="1"/>
            <a:r>
              <a:rPr lang="en-US" dirty="0"/>
              <a:t>What are some of the most relevant things people have found in the past?</a:t>
            </a:r>
          </a:p>
          <a:p>
            <a:pPr lvl="1"/>
            <a:r>
              <a:rPr lang="en-US" b="1" dirty="0"/>
              <a:t>Specifically mention here – what does increased ERN mean, what does decreased ERN mean.</a:t>
            </a:r>
          </a:p>
          <a:p>
            <a:pPr lvl="2"/>
            <a:r>
              <a:rPr lang="en-US" b="1" dirty="0"/>
              <a:t>If you are also using Ne/Pe, you will need to know what those indicate as well</a:t>
            </a:r>
          </a:p>
          <a:p>
            <a:pPr lvl="2"/>
            <a:r>
              <a:rPr lang="en-US" b="1" dirty="0"/>
              <a:t>If not, why are we not using them</a:t>
            </a:r>
          </a:p>
          <a:p>
            <a:pPr lvl="1"/>
            <a:endParaRPr lang="en-US" dirty="0"/>
          </a:p>
          <a:p>
            <a:r>
              <a:rPr lang="en-US" dirty="0"/>
              <a:t>Then, synthesize to the current project!</a:t>
            </a:r>
          </a:p>
          <a:p>
            <a:pPr lvl="1"/>
            <a:r>
              <a:rPr lang="en-US" dirty="0"/>
              <a:t>Use what has been found in the past to fuel your </a:t>
            </a:r>
            <a:r>
              <a:rPr lang="en-US" dirty="0" err="1"/>
              <a:t>hyptotheses</a:t>
            </a:r>
            <a:endParaRPr lang="en-US" dirty="0"/>
          </a:p>
          <a:p>
            <a:pPr lvl="1"/>
            <a:r>
              <a:rPr lang="en-US" dirty="0"/>
              <a:t>___, ___, &amp; ___ found x, so we can reasonably assume that x will happen here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572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CF46F-4194-30A3-0E76-9008F0158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Robs ERN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FD0D7-3487-A539-3496-460165DF2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212" y="1839072"/>
            <a:ext cx="5898776" cy="4351338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Fronto-central component</a:t>
            </a:r>
          </a:p>
          <a:p>
            <a:pPr lvl="1"/>
            <a:r>
              <a:rPr lang="en-US" dirty="0"/>
              <a:t>Strongest over </a:t>
            </a:r>
            <a:r>
              <a:rPr lang="en-US" dirty="0" err="1"/>
              <a:t>fronto</a:t>
            </a:r>
            <a:r>
              <a:rPr lang="en-US" dirty="0"/>
              <a:t>-central cites (</a:t>
            </a:r>
            <a:r>
              <a:rPr lang="en-US" dirty="0" err="1"/>
              <a:t>FCz</a:t>
            </a:r>
            <a:r>
              <a:rPr lang="en-US" dirty="0"/>
              <a:t> and CZ) </a:t>
            </a:r>
          </a:p>
          <a:p>
            <a:endParaRPr lang="en-US" dirty="0"/>
          </a:p>
          <a:p>
            <a:r>
              <a:rPr lang="en-US" dirty="0"/>
              <a:t>Negative deflection – ERN more frontal (50-100ms)</a:t>
            </a:r>
          </a:p>
          <a:p>
            <a:r>
              <a:rPr lang="en-US" dirty="0"/>
              <a:t>Positive deflection – Pe more </a:t>
            </a:r>
            <a:r>
              <a:rPr lang="en-US" dirty="0" err="1"/>
              <a:t>patietal</a:t>
            </a:r>
            <a:r>
              <a:rPr lang="en-US" dirty="0"/>
              <a:t> (200-400ms)</a:t>
            </a:r>
          </a:p>
          <a:p>
            <a:endParaRPr lang="en-US" dirty="0"/>
          </a:p>
          <a:p>
            <a:r>
              <a:rPr lang="en-US" dirty="0"/>
              <a:t>ERN behavior: </a:t>
            </a:r>
          </a:p>
          <a:p>
            <a:pPr lvl="1"/>
            <a:r>
              <a:rPr lang="en-US" dirty="0"/>
              <a:t>Increased ERN = more stim monitoring </a:t>
            </a:r>
          </a:p>
          <a:p>
            <a:pPr lvl="1"/>
            <a:r>
              <a:rPr lang="en-US" dirty="0"/>
              <a:t>Decreased ERN </a:t>
            </a:r>
          </a:p>
          <a:p>
            <a:pPr lvl="1"/>
            <a:endParaRPr lang="en-US" dirty="0"/>
          </a:p>
          <a:p>
            <a:r>
              <a:rPr lang="en-US" dirty="0"/>
              <a:t>Potential correlates of interest: </a:t>
            </a:r>
          </a:p>
          <a:p>
            <a:pPr lvl="1"/>
            <a:r>
              <a:rPr lang="en-US" dirty="0"/>
              <a:t>Error detection</a:t>
            </a:r>
          </a:p>
          <a:p>
            <a:pPr lvl="1"/>
            <a:r>
              <a:rPr lang="en-US" dirty="0"/>
              <a:t>Vigilance</a:t>
            </a:r>
          </a:p>
          <a:p>
            <a:pPr lvl="1"/>
            <a:r>
              <a:rPr lang="en-US" dirty="0"/>
              <a:t>Cognitive control/conflict </a:t>
            </a:r>
          </a:p>
          <a:p>
            <a:pPr lvl="1"/>
            <a:r>
              <a:rPr lang="en-US" dirty="0"/>
              <a:t>Attention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7B04BFC-2C2F-EF1D-97C8-3EA7300D5A18}"/>
              </a:ext>
            </a:extLst>
          </p:cNvPr>
          <p:cNvSpPr txBox="1">
            <a:spLocks/>
          </p:cNvSpPr>
          <p:nvPr/>
        </p:nvSpPr>
        <p:spPr>
          <a:xfrm>
            <a:off x="6225988" y="1839072"/>
            <a:ext cx="589877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b="1" dirty="0"/>
              <a:t>ERN is a subcomponent of </a:t>
            </a:r>
            <a:r>
              <a:rPr lang="en-US" b="1" dirty="0" err="1"/>
              <a:t>ErrP</a:t>
            </a:r>
            <a:endParaRPr lang="en-US" b="1" dirty="0"/>
          </a:p>
          <a:p>
            <a:pPr lvl="2"/>
            <a:r>
              <a:rPr lang="en-US" b="1" dirty="0"/>
              <a:t>So, expand your search to </a:t>
            </a:r>
            <a:r>
              <a:rPr lang="en-US" b="1" dirty="0" err="1"/>
              <a:t>ErrP</a:t>
            </a:r>
            <a:r>
              <a:rPr lang="en-US" b="1" dirty="0"/>
              <a:t> (which has been more commonly used in HRI) and then focus on how ERN specifically changes in those papers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777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91621-4230-2E9C-7E79-7D582825C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E5B4C-705F-FD40-708E-A197F7374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Identify problem?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Provide details about what is know about the problem, and what is not – </a:t>
            </a:r>
            <a:r>
              <a:rPr lang="en-US" b="1" dirty="0"/>
              <a:t>Why is this a problem and what is still unknown?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3. What can we use to study this problem?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4. Based on 2. propose your hypotheses.</a:t>
            </a:r>
          </a:p>
        </p:txBody>
      </p:sp>
    </p:spTree>
    <p:extLst>
      <p:ext uri="{BB962C8B-B14F-4D97-AF65-F5344CB8AC3E}">
        <p14:creationId xmlns:p14="http://schemas.microsoft.com/office/powerpoint/2010/main" val="3227255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4647</TotalTime>
  <Words>699</Words>
  <Application>Microsoft Macintosh PowerPoint</Application>
  <PresentationFormat>Widescreen</PresentationFormat>
  <Paragraphs>89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Building Your Introduction</vt:lpstr>
      <vt:lpstr>Research Symposium Guidelines</vt:lpstr>
      <vt:lpstr>Since the abstract is short…</vt:lpstr>
      <vt:lpstr>Components of an introduction</vt:lpstr>
      <vt:lpstr>An introduction should “funnel” towards your solution</vt:lpstr>
      <vt:lpstr>Once you have your scope…</vt:lpstr>
      <vt:lpstr>Robs ERN notes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 SPENCELEY</dc:creator>
  <cp:lastModifiedBy>Rob SPENCELEY</cp:lastModifiedBy>
  <cp:revision>2</cp:revision>
  <dcterms:created xsi:type="dcterms:W3CDTF">2026-02-06T13:05:50Z</dcterms:created>
  <dcterms:modified xsi:type="dcterms:W3CDTF">2026-02-09T18:33:44Z</dcterms:modified>
</cp:coreProperties>
</file>