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63"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94635"/>
  </p:normalViewPr>
  <p:slideViewPr>
    <p:cSldViewPr snapToGrid="0">
      <p:cViewPr>
        <p:scale>
          <a:sx n="63" d="100"/>
          <a:sy n="63" d="100"/>
        </p:scale>
        <p:origin x="1424" y="1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5C3410-CA47-9E43-8F4E-A79C11526443}" type="datetimeFigureOut">
              <a:rPr lang="en-US" smtClean="0"/>
              <a:t>1/28/26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6C842D-B741-4B40-835E-8CFDD43CA419}" type="slidenum">
              <a:rPr lang="en-US" smtClean="0"/>
              <a:t>‹#›</a:t>
            </a:fld>
            <a:endParaRPr lang="en-US"/>
          </a:p>
        </p:txBody>
      </p:sp>
    </p:spTree>
    <p:extLst>
      <p:ext uri="{BB962C8B-B14F-4D97-AF65-F5344CB8AC3E}">
        <p14:creationId xmlns:p14="http://schemas.microsoft.com/office/powerpoint/2010/main" val="1735012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1 error, false positive, you observe a difference, when in reality, no difference is present</a:t>
            </a:r>
          </a:p>
          <a:p>
            <a:endParaRPr lang="en-US" dirty="0"/>
          </a:p>
          <a:p>
            <a:r>
              <a:rPr lang="en-US" dirty="0"/>
              <a:t>Type 2 error, you observe no difference when there should be a difference</a:t>
            </a:r>
          </a:p>
        </p:txBody>
      </p:sp>
      <p:sp>
        <p:nvSpPr>
          <p:cNvPr id="4" name="Slide Number Placeholder 3"/>
          <p:cNvSpPr>
            <a:spLocks noGrp="1"/>
          </p:cNvSpPr>
          <p:nvPr>
            <p:ph type="sldNum" sz="quarter" idx="5"/>
          </p:nvPr>
        </p:nvSpPr>
        <p:spPr/>
        <p:txBody>
          <a:bodyPr/>
          <a:lstStyle/>
          <a:p>
            <a:fld id="{1B6C842D-B741-4B40-835E-8CFDD43CA419}" type="slidenum">
              <a:rPr lang="en-US" smtClean="0"/>
              <a:t>4</a:t>
            </a:fld>
            <a:endParaRPr lang="en-US"/>
          </a:p>
        </p:txBody>
      </p:sp>
    </p:spTree>
    <p:extLst>
      <p:ext uri="{BB962C8B-B14F-4D97-AF65-F5344CB8AC3E}">
        <p14:creationId xmlns:p14="http://schemas.microsoft.com/office/powerpoint/2010/main" val="3759664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65C13-8AB3-033B-CDF5-192399BF84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FD19E7A-3295-3B71-64C1-2DA193A43E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051BB7D-1DE8-CFF3-F926-D0B31EDFA371}"/>
              </a:ext>
            </a:extLst>
          </p:cNvPr>
          <p:cNvSpPr>
            <a:spLocks noGrp="1"/>
          </p:cNvSpPr>
          <p:nvPr>
            <p:ph type="dt" sz="half" idx="10"/>
          </p:nvPr>
        </p:nvSpPr>
        <p:spPr/>
        <p:txBody>
          <a:bodyPr/>
          <a:lstStyle/>
          <a:p>
            <a:fld id="{6E321D5F-16D8-C344-B3B5-FE5455A2E651}" type="datetimeFigureOut">
              <a:rPr lang="en-US" smtClean="0"/>
              <a:t>1/28/26</a:t>
            </a:fld>
            <a:endParaRPr lang="en-US"/>
          </a:p>
        </p:txBody>
      </p:sp>
      <p:sp>
        <p:nvSpPr>
          <p:cNvPr id="5" name="Footer Placeholder 4">
            <a:extLst>
              <a:ext uri="{FF2B5EF4-FFF2-40B4-BE49-F238E27FC236}">
                <a16:creationId xmlns:a16="http://schemas.microsoft.com/office/drawing/2014/main" id="{179F21E5-B150-579C-BA6C-DC3E0001F2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CA6802-D606-5009-CFD7-176127CC5850}"/>
              </a:ext>
            </a:extLst>
          </p:cNvPr>
          <p:cNvSpPr>
            <a:spLocks noGrp="1"/>
          </p:cNvSpPr>
          <p:nvPr>
            <p:ph type="sldNum" sz="quarter" idx="12"/>
          </p:nvPr>
        </p:nvSpPr>
        <p:spPr/>
        <p:txBody>
          <a:bodyPr/>
          <a:lstStyle/>
          <a:p>
            <a:fld id="{78AC5707-D482-9149-BF05-65E60BF46BA9}" type="slidenum">
              <a:rPr lang="en-US" smtClean="0"/>
              <a:t>‹#›</a:t>
            </a:fld>
            <a:endParaRPr lang="en-US"/>
          </a:p>
        </p:txBody>
      </p:sp>
    </p:spTree>
    <p:extLst>
      <p:ext uri="{BB962C8B-B14F-4D97-AF65-F5344CB8AC3E}">
        <p14:creationId xmlns:p14="http://schemas.microsoft.com/office/powerpoint/2010/main" val="13605969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75CA5-F992-B25A-A114-5A8A7FB011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7D7960-55B3-33C7-875C-E629DE5061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0DFFAC-55C6-97A3-099B-811B0ABD7451}"/>
              </a:ext>
            </a:extLst>
          </p:cNvPr>
          <p:cNvSpPr>
            <a:spLocks noGrp="1"/>
          </p:cNvSpPr>
          <p:nvPr>
            <p:ph type="dt" sz="half" idx="10"/>
          </p:nvPr>
        </p:nvSpPr>
        <p:spPr/>
        <p:txBody>
          <a:bodyPr/>
          <a:lstStyle/>
          <a:p>
            <a:fld id="{6E321D5F-16D8-C344-B3B5-FE5455A2E651}" type="datetimeFigureOut">
              <a:rPr lang="en-US" smtClean="0"/>
              <a:t>1/28/26</a:t>
            </a:fld>
            <a:endParaRPr lang="en-US"/>
          </a:p>
        </p:txBody>
      </p:sp>
      <p:sp>
        <p:nvSpPr>
          <p:cNvPr id="5" name="Footer Placeholder 4">
            <a:extLst>
              <a:ext uri="{FF2B5EF4-FFF2-40B4-BE49-F238E27FC236}">
                <a16:creationId xmlns:a16="http://schemas.microsoft.com/office/drawing/2014/main" id="{00C3652B-5045-60D4-F710-B943A77A43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C44729-E19E-1F46-A635-21DD7555C3F4}"/>
              </a:ext>
            </a:extLst>
          </p:cNvPr>
          <p:cNvSpPr>
            <a:spLocks noGrp="1"/>
          </p:cNvSpPr>
          <p:nvPr>
            <p:ph type="sldNum" sz="quarter" idx="12"/>
          </p:nvPr>
        </p:nvSpPr>
        <p:spPr/>
        <p:txBody>
          <a:bodyPr/>
          <a:lstStyle/>
          <a:p>
            <a:fld id="{78AC5707-D482-9149-BF05-65E60BF46BA9}" type="slidenum">
              <a:rPr lang="en-US" smtClean="0"/>
              <a:t>‹#›</a:t>
            </a:fld>
            <a:endParaRPr lang="en-US"/>
          </a:p>
        </p:txBody>
      </p:sp>
    </p:spTree>
    <p:extLst>
      <p:ext uri="{BB962C8B-B14F-4D97-AF65-F5344CB8AC3E}">
        <p14:creationId xmlns:p14="http://schemas.microsoft.com/office/powerpoint/2010/main" val="1954003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B0D65-6F64-7651-BEFE-7CF2D410C1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8A2D49D-A3D6-D9C3-8EA8-39FD69C2C76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EDB430-6D72-3F35-5FC9-F299F356C2F3}"/>
              </a:ext>
            </a:extLst>
          </p:cNvPr>
          <p:cNvSpPr>
            <a:spLocks noGrp="1"/>
          </p:cNvSpPr>
          <p:nvPr>
            <p:ph type="dt" sz="half" idx="10"/>
          </p:nvPr>
        </p:nvSpPr>
        <p:spPr/>
        <p:txBody>
          <a:bodyPr/>
          <a:lstStyle/>
          <a:p>
            <a:fld id="{6E321D5F-16D8-C344-B3B5-FE5455A2E651}" type="datetimeFigureOut">
              <a:rPr lang="en-US" smtClean="0"/>
              <a:t>1/28/26</a:t>
            </a:fld>
            <a:endParaRPr lang="en-US"/>
          </a:p>
        </p:txBody>
      </p:sp>
      <p:sp>
        <p:nvSpPr>
          <p:cNvPr id="5" name="Footer Placeholder 4">
            <a:extLst>
              <a:ext uri="{FF2B5EF4-FFF2-40B4-BE49-F238E27FC236}">
                <a16:creationId xmlns:a16="http://schemas.microsoft.com/office/drawing/2014/main" id="{C2C59285-295B-F9EF-A9D9-5DB7468A49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6863F8-9D11-98E6-EDF4-A5F80ADADDD2}"/>
              </a:ext>
            </a:extLst>
          </p:cNvPr>
          <p:cNvSpPr>
            <a:spLocks noGrp="1"/>
          </p:cNvSpPr>
          <p:nvPr>
            <p:ph type="sldNum" sz="quarter" idx="12"/>
          </p:nvPr>
        </p:nvSpPr>
        <p:spPr/>
        <p:txBody>
          <a:bodyPr/>
          <a:lstStyle/>
          <a:p>
            <a:fld id="{78AC5707-D482-9149-BF05-65E60BF46BA9}" type="slidenum">
              <a:rPr lang="en-US" smtClean="0"/>
              <a:t>‹#›</a:t>
            </a:fld>
            <a:endParaRPr lang="en-US"/>
          </a:p>
        </p:txBody>
      </p:sp>
    </p:spTree>
    <p:extLst>
      <p:ext uri="{BB962C8B-B14F-4D97-AF65-F5344CB8AC3E}">
        <p14:creationId xmlns:p14="http://schemas.microsoft.com/office/powerpoint/2010/main" val="689501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6C9D-DA1B-CA37-C67E-2F81C71073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F5A724-D6F3-3D39-EE15-E554C65ACBA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8554E1-59D3-56B9-187F-AA2B272810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68966A3-ADEE-792D-15E4-B47D44545755}"/>
              </a:ext>
            </a:extLst>
          </p:cNvPr>
          <p:cNvSpPr>
            <a:spLocks noGrp="1"/>
          </p:cNvSpPr>
          <p:nvPr>
            <p:ph type="dt" sz="half" idx="10"/>
          </p:nvPr>
        </p:nvSpPr>
        <p:spPr/>
        <p:txBody>
          <a:bodyPr/>
          <a:lstStyle/>
          <a:p>
            <a:fld id="{6E321D5F-16D8-C344-B3B5-FE5455A2E651}" type="datetimeFigureOut">
              <a:rPr lang="en-US" smtClean="0"/>
              <a:t>1/28/26</a:t>
            </a:fld>
            <a:endParaRPr lang="en-US"/>
          </a:p>
        </p:txBody>
      </p:sp>
      <p:sp>
        <p:nvSpPr>
          <p:cNvPr id="6" name="Footer Placeholder 5">
            <a:extLst>
              <a:ext uri="{FF2B5EF4-FFF2-40B4-BE49-F238E27FC236}">
                <a16:creationId xmlns:a16="http://schemas.microsoft.com/office/drawing/2014/main" id="{62093376-1E45-7791-1F59-C44A5B338C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700FEB-6CD0-1592-B634-1BD8D5A38E9C}"/>
              </a:ext>
            </a:extLst>
          </p:cNvPr>
          <p:cNvSpPr>
            <a:spLocks noGrp="1"/>
          </p:cNvSpPr>
          <p:nvPr>
            <p:ph type="sldNum" sz="quarter" idx="12"/>
          </p:nvPr>
        </p:nvSpPr>
        <p:spPr/>
        <p:txBody>
          <a:bodyPr/>
          <a:lstStyle/>
          <a:p>
            <a:fld id="{78AC5707-D482-9149-BF05-65E60BF46BA9}" type="slidenum">
              <a:rPr lang="en-US" smtClean="0"/>
              <a:t>‹#›</a:t>
            </a:fld>
            <a:endParaRPr lang="en-US"/>
          </a:p>
        </p:txBody>
      </p:sp>
    </p:spTree>
    <p:extLst>
      <p:ext uri="{BB962C8B-B14F-4D97-AF65-F5344CB8AC3E}">
        <p14:creationId xmlns:p14="http://schemas.microsoft.com/office/powerpoint/2010/main" val="26853601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D9094-C889-14D8-BCB7-7F96EA43772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4B65835-45FD-B056-E70B-5C79BC5F9E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298922-E7F1-93CB-059C-95836E3444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AD2F527-49D8-BDE7-CBD0-E32A0CA9F7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24B1B8-5057-0A14-092B-1BC2E2C204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FDB3DB9-38D6-6D7A-72AA-27A92A90ECCB}"/>
              </a:ext>
            </a:extLst>
          </p:cNvPr>
          <p:cNvSpPr>
            <a:spLocks noGrp="1"/>
          </p:cNvSpPr>
          <p:nvPr>
            <p:ph type="dt" sz="half" idx="10"/>
          </p:nvPr>
        </p:nvSpPr>
        <p:spPr/>
        <p:txBody>
          <a:bodyPr/>
          <a:lstStyle/>
          <a:p>
            <a:fld id="{6E321D5F-16D8-C344-B3B5-FE5455A2E651}" type="datetimeFigureOut">
              <a:rPr lang="en-US" smtClean="0"/>
              <a:t>1/28/26</a:t>
            </a:fld>
            <a:endParaRPr lang="en-US"/>
          </a:p>
        </p:txBody>
      </p:sp>
      <p:sp>
        <p:nvSpPr>
          <p:cNvPr id="8" name="Footer Placeholder 7">
            <a:extLst>
              <a:ext uri="{FF2B5EF4-FFF2-40B4-BE49-F238E27FC236}">
                <a16:creationId xmlns:a16="http://schemas.microsoft.com/office/drawing/2014/main" id="{277D9282-30C0-F2A3-4A6C-F7A2438465C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BB1F9E-9466-C0F2-C0B3-95778FB0D6D4}"/>
              </a:ext>
            </a:extLst>
          </p:cNvPr>
          <p:cNvSpPr>
            <a:spLocks noGrp="1"/>
          </p:cNvSpPr>
          <p:nvPr>
            <p:ph type="sldNum" sz="quarter" idx="12"/>
          </p:nvPr>
        </p:nvSpPr>
        <p:spPr/>
        <p:txBody>
          <a:bodyPr/>
          <a:lstStyle/>
          <a:p>
            <a:fld id="{78AC5707-D482-9149-BF05-65E60BF46BA9}" type="slidenum">
              <a:rPr lang="en-US" smtClean="0"/>
              <a:t>‹#›</a:t>
            </a:fld>
            <a:endParaRPr lang="en-US"/>
          </a:p>
        </p:txBody>
      </p:sp>
    </p:spTree>
    <p:extLst>
      <p:ext uri="{BB962C8B-B14F-4D97-AF65-F5344CB8AC3E}">
        <p14:creationId xmlns:p14="http://schemas.microsoft.com/office/powerpoint/2010/main" val="3351074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DE01F-984D-BCC9-904C-757B5F48D37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CC08782-E565-7F2D-1001-B4590F3A32F0}"/>
              </a:ext>
            </a:extLst>
          </p:cNvPr>
          <p:cNvSpPr>
            <a:spLocks noGrp="1"/>
          </p:cNvSpPr>
          <p:nvPr>
            <p:ph type="dt" sz="half" idx="10"/>
          </p:nvPr>
        </p:nvSpPr>
        <p:spPr/>
        <p:txBody>
          <a:bodyPr/>
          <a:lstStyle/>
          <a:p>
            <a:fld id="{6E321D5F-16D8-C344-B3B5-FE5455A2E651}" type="datetimeFigureOut">
              <a:rPr lang="en-US" smtClean="0"/>
              <a:t>1/28/26</a:t>
            </a:fld>
            <a:endParaRPr lang="en-US"/>
          </a:p>
        </p:txBody>
      </p:sp>
      <p:sp>
        <p:nvSpPr>
          <p:cNvPr id="4" name="Footer Placeholder 3">
            <a:extLst>
              <a:ext uri="{FF2B5EF4-FFF2-40B4-BE49-F238E27FC236}">
                <a16:creationId xmlns:a16="http://schemas.microsoft.com/office/drawing/2014/main" id="{6872AA15-BD63-8867-C8F8-B0CF1680393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37838DF-9932-F716-33C0-CB4DD6FC2FB3}"/>
              </a:ext>
            </a:extLst>
          </p:cNvPr>
          <p:cNvSpPr>
            <a:spLocks noGrp="1"/>
          </p:cNvSpPr>
          <p:nvPr>
            <p:ph type="sldNum" sz="quarter" idx="12"/>
          </p:nvPr>
        </p:nvSpPr>
        <p:spPr/>
        <p:txBody>
          <a:bodyPr/>
          <a:lstStyle/>
          <a:p>
            <a:fld id="{78AC5707-D482-9149-BF05-65E60BF46BA9}" type="slidenum">
              <a:rPr lang="en-US" smtClean="0"/>
              <a:t>‹#›</a:t>
            </a:fld>
            <a:endParaRPr lang="en-US"/>
          </a:p>
        </p:txBody>
      </p:sp>
    </p:spTree>
    <p:extLst>
      <p:ext uri="{BB962C8B-B14F-4D97-AF65-F5344CB8AC3E}">
        <p14:creationId xmlns:p14="http://schemas.microsoft.com/office/powerpoint/2010/main" val="28545590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B9973C-2ED7-1C52-9B80-875F9838911D}"/>
              </a:ext>
            </a:extLst>
          </p:cNvPr>
          <p:cNvSpPr>
            <a:spLocks noGrp="1"/>
          </p:cNvSpPr>
          <p:nvPr>
            <p:ph type="dt" sz="half" idx="10"/>
          </p:nvPr>
        </p:nvSpPr>
        <p:spPr/>
        <p:txBody>
          <a:bodyPr/>
          <a:lstStyle/>
          <a:p>
            <a:fld id="{6E321D5F-16D8-C344-B3B5-FE5455A2E651}" type="datetimeFigureOut">
              <a:rPr lang="en-US" smtClean="0"/>
              <a:t>1/28/26</a:t>
            </a:fld>
            <a:endParaRPr lang="en-US"/>
          </a:p>
        </p:txBody>
      </p:sp>
      <p:sp>
        <p:nvSpPr>
          <p:cNvPr id="3" name="Footer Placeholder 2">
            <a:extLst>
              <a:ext uri="{FF2B5EF4-FFF2-40B4-BE49-F238E27FC236}">
                <a16:creationId xmlns:a16="http://schemas.microsoft.com/office/drawing/2014/main" id="{A08DF73A-7296-D182-F2CA-7FE87940DF2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0C21372-B5AB-B31D-F16F-48B558245A7D}"/>
              </a:ext>
            </a:extLst>
          </p:cNvPr>
          <p:cNvSpPr>
            <a:spLocks noGrp="1"/>
          </p:cNvSpPr>
          <p:nvPr>
            <p:ph type="sldNum" sz="quarter" idx="12"/>
          </p:nvPr>
        </p:nvSpPr>
        <p:spPr/>
        <p:txBody>
          <a:bodyPr/>
          <a:lstStyle/>
          <a:p>
            <a:fld id="{78AC5707-D482-9149-BF05-65E60BF46BA9}" type="slidenum">
              <a:rPr lang="en-US" smtClean="0"/>
              <a:t>‹#›</a:t>
            </a:fld>
            <a:endParaRPr lang="en-US"/>
          </a:p>
        </p:txBody>
      </p:sp>
    </p:spTree>
    <p:extLst>
      <p:ext uri="{BB962C8B-B14F-4D97-AF65-F5344CB8AC3E}">
        <p14:creationId xmlns:p14="http://schemas.microsoft.com/office/powerpoint/2010/main" val="6635522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3558B-81B2-9B70-7694-EE31C31A31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3B485B5-E404-349E-6695-6C0A9FFE9C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2CA69A4-F5EC-FAE5-C687-E7A74AC26C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22E18C-E221-F665-A21A-BF840D6440D6}"/>
              </a:ext>
            </a:extLst>
          </p:cNvPr>
          <p:cNvSpPr>
            <a:spLocks noGrp="1"/>
          </p:cNvSpPr>
          <p:nvPr>
            <p:ph type="dt" sz="half" idx="10"/>
          </p:nvPr>
        </p:nvSpPr>
        <p:spPr/>
        <p:txBody>
          <a:bodyPr/>
          <a:lstStyle/>
          <a:p>
            <a:fld id="{6E321D5F-16D8-C344-B3B5-FE5455A2E651}" type="datetimeFigureOut">
              <a:rPr lang="en-US" smtClean="0"/>
              <a:t>1/28/26</a:t>
            </a:fld>
            <a:endParaRPr lang="en-US"/>
          </a:p>
        </p:txBody>
      </p:sp>
      <p:sp>
        <p:nvSpPr>
          <p:cNvPr id="6" name="Footer Placeholder 5">
            <a:extLst>
              <a:ext uri="{FF2B5EF4-FFF2-40B4-BE49-F238E27FC236}">
                <a16:creationId xmlns:a16="http://schemas.microsoft.com/office/drawing/2014/main" id="{705FF091-BD13-444C-E37D-BDE177CBB8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0C07FA-EE9F-D5A3-09BF-AE4122DCCEB4}"/>
              </a:ext>
            </a:extLst>
          </p:cNvPr>
          <p:cNvSpPr>
            <a:spLocks noGrp="1"/>
          </p:cNvSpPr>
          <p:nvPr>
            <p:ph type="sldNum" sz="quarter" idx="12"/>
          </p:nvPr>
        </p:nvSpPr>
        <p:spPr/>
        <p:txBody>
          <a:bodyPr/>
          <a:lstStyle/>
          <a:p>
            <a:fld id="{78AC5707-D482-9149-BF05-65E60BF46BA9}" type="slidenum">
              <a:rPr lang="en-US" smtClean="0"/>
              <a:t>‹#›</a:t>
            </a:fld>
            <a:endParaRPr lang="en-US"/>
          </a:p>
        </p:txBody>
      </p:sp>
    </p:spTree>
    <p:extLst>
      <p:ext uri="{BB962C8B-B14F-4D97-AF65-F5344CB8AC3E}">
        <p14:creationId xmlns:p14="http://schemas.microsoft.com/office/powerpoint/2010/main" val="1628405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F0106-4CE1-B54C-0259-518386CD2C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7FD91F8-D399-34E6-4C6B-45C4D59396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D3B397E-DFB8-1AF2-73B6-F3D8520AC6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54CBCA-FB1A-A285-0760-2EF5955AA365}"/>
              </a:ext>
            </a:extLst>
          </p:cNvPr>
          <p:cNvSpPr>
            <a:spLocks noGrp="1"/>
          </p:cNvSpPr>
          <p:nvPr>
            <p:ph type="dt" sz="half" idx="10"/>
          </p:nvPr>
        </p:nvSpPr>
        <p:spPr/>
        <p:txBody>
          <a:bodyPr/>
          <a:lstStyle/>
          <a:p>
            <a:fld id="{6E321D5F-16D8-C344-B3B5-FE5455A2E651}" type="datetimeFigureOut">
              <a:rPr lang="en-US" smtClean="0"/>
              <a:t>1/28/26</a:t>
            </a:fld>
            <a:endParaRPr lang="en-US"/>
          </a:p>
        </p:txBody>
      </p:sp>
      <p:sp>
        <p:nvSpPr>
          <p:cNvPr id="6" name="Footer Placeholder 5">
            <a:extLst>
              <a:ext uri="{FF2B5EF4-FFF2-40B4-BE49-F238E27FC236}">
                <a16:creationId xmlns:a16="http://schemas.microsoft.com/office/drawing/2014/main" id="{F72EFF10-4917-9EAE-DB90-07A9926726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818C22-8A8E-254B-FE12-E44FB65A6382}"/>
              </a:ext>
            </a:extLst>
          </p:cNvPr>
          <p:cNvSpPr>
            <a:spLocks noGrp="1"/>
          </p:cNvSpPr>
          <p:nvPr>
            <p:ph type="sldNum" sz="quarter" idx="12"/>
          </p:nvPr>
        </p:nvSpPr>
        <p:spPr/>
        <p:txBody>
          <a:bodyPr/>
          <a:lstStyle/>
          <a:p>
            <a:fld id="{78AC5707-D482-9149-BF05-65E60BF46BA9}" type="slidenum">
              <a:rPr lang="en-US" smtClean="0"/>
              <a:t>‹#›</a:t>
            </a:fld>
            <a:endParaRPr lang="en-US"/>
          </a:p>
        </p:txBody>
      </p:sp>
    </p:spTree>
    <p:extLst>
      <p:ext uri="{BB962C8B-B14F-4D97-AF65-F5344CB8AC3E}">
        <p14:creationId xmlns:p14="http://schemas.microsoft.com/office/powerpoint/2010/main" val="903183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12B79-8239-F638-3D66-20D4D4BD14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1837DDF-61E4-9160-1FB5-72B38E1C2F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9C2B79-F234-FCA5-37C6-5148FD5BA621}"/>
              </a:ext>
            </a:extLst>
          </p:cNvPr>
          <p:cNvSpPr>
            <a:spLocks noGrp="1"/>
          </p:cNvSpPr>
          <p:nvPr>
            <p:ph type="dt" sz="half" idx="10"/>
          </p:nvPr>
        </p:nvSpPr>
        <p:spPr/>
        <p:txBody>
          <a:bodyPr/>
          <a:lstStyle/>
          <a:p>
            <a:fld id="{6E321D5F-16D8-C344-B3B5-FE5455A2E651}" type="datetimeFigureOut">
              <a:rPr lang="en-US" smtClean="0"/>
              <a:t>1/28/26</a:t>
            </a:fld>
            <a:endParaRPr lang="en-US"/>
          </a:p>
        </p:txBody>
      </p:sp>
      <p:sp>
        <p:nvSpPr>
          <p:cNvPr id="5" name="Footer Placeholder 4">
            <a:extLst>
              <a:ext uri="{FF2B5EF4-FFF2-40B4-BE49-F238E27FC236}">
                <a16:creationId xmlns:a16="http://schemas.microsoft.com/office/drawing/2014/main" id="{7D91141F-4E88-6D7D-8DF3-22B57383A3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BD89FD-0107-2712-6C74-3EA253D1E333}"/>
              </a:ext>
            </a:extLst>
          </p:cNvPr>
          <p:cNvSpPr>
            <a:spLocks noGrp="1"/>
          </p:cNvSpPr>
          <p:nvPr>
            <p:ph type="sldNum" sz="quarter" idx="12"/>
          </p:nvPr>
        </p:nvSpPr>
        <p:spPr/>
        <p:txBody>
          <a:bodyPr/>
          <a:lstStyle/>
          <a:p>
            <a:fld id="{78AC5707-D482-9149-BF05-65E60BF46BA9}" type="slidenum">
              <a:rPr lang="en-US" smtClean="0"/>
              <a:t>‹#›</a:t>
            </a:fld>
            <a:endParaRPr lang="en-US"/>
          </a:p>
        </p:txBody>
      </p:sp>
    </p:spTree>
    <p:extLst>
      <p:ext uri="{BB962C8B-B14F-4D97-AF65-F5344CB8AC3E}">
        <p14:creationId xmlns:p14="http://schemas.microsoft.com/office/powerpoint/2010/main" val="41806922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F1CB01-2F09-B6BC-CAC4-F1C3C3AFDF7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468F2AA-CD01-5497-3766-88A6B76BD4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FBFC08-49F2-95C4-224C-4E8CB3A0ECF0}"/>
              </a:ext>
            </a:extLst>
          </p:cNvPr>
          <p:cNvSpPr>
            <a:spLocks noGrp="1"/>
          </p:cNvSpPr>
          <p:nvPr>
            <p:ph type="dt" sz="half" idx="10"/>
          </p:nvPr>
        </p:nvSpPr>
        <p:spPr/>
        <p:txBody>
          <a:bodyPr/>
          <a:lstStyle/>
          <a:p>
            <a:fld id="{6E321D5F-16D8-C344-B3B5-FE5455A2E651}" type="datetimeFigureOut">
              <a:rPr lang="en-US" smtClean="0"/>
              <a:t>1/28/26</a:t>
            </a:fld>
            <a:endParaRPr lang="en-US"/>
          </a:p>
        </p:txBody>
      </p:sp>
      <p:sp>
        <p:nvSpPr>
          <p:cNvPr id="5" name="Footer Placeholder 4">
            <a:extLst>
              <a:ext uri="{FF2B5EF4-FFF2-40B4-BE49-F238E27FC236}">
                <a16:creationId xmlns:a16="http://schemas.microsoft.com/office/drawing/2014/main" id="{5B7DDF1E-C29B-745B-A049-D5345A1F22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B7A454-D77D-BFA9-9506-5F5A5B735858}"/>
              </a:ext>
            </a:extLst>
          </p:cNvPr>
          <p:cNvSpPr>
            <a:spLocks noGrp="1"/>
          </p:cNvSpPr>
          <p:nvPr>
            <p:ph type="sldNum" sz="quarter" idx="12"/>
          </p:nvPr>
        </p:nvSpPr>
        <p:spPr/>
        <p:txBody>
          <a:bodyPr/>
          <a:lstStyle/>
          <a:p>
            <a:fld id="{78AC5707-D482-9149-BF05-65E60BF46BA9}" type="slidenum">
              <a:rPr lang="en-US" smtClean="0"/>
              <a:t>‹#›</a:t>
            </a:fld>
            <a:endParaRPr lang="en-US"/>
          </a:p>
        </p:txBody>
      </p:sp>
    </p:spTree>
    <p:extLst>
      <p:ext uri="{BB962C8B-B14F-4D97-AF65-F5344CB8AC3E}">
        <p14:creationId xmlns:p14="http://schemas.microsoft.com/office/powerpoint/2010/main" val="1799629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E5F727-CE3D-5D02-B53D-267E903BD6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5CB1B0-6E5C-D2F8-0BBE-5A9D9F1FE0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44A194-17C3-D110-FA61-A6949B4BB0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E321D5F-16D8-C344-B3B5-FE5455A2E651}" type="datetimeFigureOut">
              <a:rPr lang="en-US" smtClean="0"/>
              <a:t>1/28/26</a:t>
            </a:fld>
            <a:endParaRPr lang="en-US"/>
          </a:p>
        </p:txBody>
      </p:sp>
      <p:sp>
        <p:nvSpPr>
          <p:cNvPr id="5" name="Footer Placeholder 4">
            <a:extLst>
              <a:ext uri="{FF2B5EF4-FFF2-40B4-BE49-F238E27FC236}">
                <a16:creationId xmlns:a16="http://schemas.microsoft.com/office/drawing/2014/main" id="{3BABD4A5-38E0-4145-ADEA-439EA5C4BC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3F09064-0D34-03CD-F084-6EA7073FE3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8AC5707-D482-9149-BF05-65E60BF46BA9}" type="slidenum">
              <a:rPr lang="en-US" smtClean="0"/>
              <a:t>‹#›</a:t>
            </a:fld>
            <a:endParaRPr lang="en-US"/>
          </a:p>
        </p:txBody>
      </p:sp>
    </p:spTree>
    <p:extLst>
      <p:ext uri="{BB962C8B-B14F-4D97-AF65-F5344CB8AC3E}">
        <p14:creationId xmlns:p14="http://schemas.microsoft.com/office/powerpoint/2010/main" val="40429210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3906A-ED4F-47C3-26AE-E60A404F9EB5}"/>
              </a:ext>
            </a:extLst>
          </p:cNvPr>
          <p:cNvSpPr>
            <a:spLocks noGrp="1"/>
          </p:cNvSpPr>
          <p:nvPr>
            <p:ph type="ctrTitle"/>
          </p:nvPr>
        </p:nvSpPr>
        <p:spPr/>
        <p:txBody>
          <a:bodyPr/>
          <a:lstStyle/>
          <a:p>
            <a:r>
              <a:rPr lang="en-US" dirty="0"/>
              <a:t>Statistics Intro</a:t>
            </a:r>
          </a:p>
        </p:txBody>
      </p:sp>
      <p:sp>
        <p:nvSpPr>
          <p:cNvPr id="3" name="Subtitle 2">
            <a:extLst>
              <a:ext uri="{FF2B5EF4-FFF2-40B4-BE49-F238E27FC236}">
                <a16:creationId xmlns:a16="http://schemas.microsoft.com/office/drawing/2014/main" id="{A4245B70-6049-D43D-D82A-A72E3FBA6B2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784578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DFCC6-C16F-E287-A951-4DBF8091D6E3}"/>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138C0EE6-49C1-7B9F-664B-D03D06519372}"/>
              </a:ext>
            </a:extLst>
          </p:cNvPr>
          <p:cNvSpPr>
            <a:spLocks noGrp="1"/>
          </p:cNvSpPr>
          <p:nvPr>
            <p:ph idx="1"/>
          </p:nvPr>
        </p:nvSpPr>
        <p:spPr/>
        <p:txBody>
          <a:bodyPr/>
          <a:lstStyle/>
          <a:p>
            <a:r>
              <a:rPr lang="en-US" dirty="0"/>
              <a:t>Background information </a:t>
            </a:r>
          </a:p>
          <a:p>
            <a:r>
              <a:rPr lang="en-US" dirty="0"/>
              <a:t>Summary statistics </a:t>
            </a:r>
          </a:p>
          <a:p>
            <a:r>
              <a:rPr lang="en-US" dirty="0"/>
              <a:t>The holy </a:t>
            </a:r>
            <a:r>
              <a:rPr lang="en-US" i="1" dirty="0"/>
              <a:t>p </a:t>
            </a:r>
            <a:r>
              <a:rPr lang="en-US" dirty="0"/>
              <a:t>value </a:t>
            </a:r>
          </a:p>
          <a:p>
            <a:r>
              <a:rPr lang="en-US" dirty="0"/>
              <a:t>Stats in practice </a:t>
            </a:r>
          </a:p>
          <a:p>
            <a:endParaRPr lang="en-US" dirty="0"/>
          </a:p>
        </p:txBody>
      </p:sp>
    </p:spTree>
    <p:extLst>
      <p:ext uri="{BB962C8B-B14F-4D97-AF65-F5344CB8AC3E}">
        <p14:creationId xmlns:p14="http://schemas.microsoft.com/office/powerpoint/2010/main" val="1356257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C7CE9-9764-5FDA-0544-408CC75D8941}"/>
              </a:ext>
            </a:extLst>
          </p:cNvPr>
          <p:cNvSpPr>
            <a:spLocks noGrp="1"/>
          </p:cNvSpPr>
          <p:nvPr>
            <p:ph type="title"/>
          </p:nvPr>
        </p:nvSpPr>
        <p:spPr>
          <a:xfrm>
            <a:off x="473710" y="356926"/>
            <a:ext cx="10515600" cy="1325563"/>
          </a:xfrm>
        </p:spPr>
        <p:txBody>
          <a:bodyPr/>
          <a:lstStyle/>
          <a:p>
            <a:r>
              <a:rPr lang="en-US" dirty="0"/>
              <a:t>Alpha (Significance Testing) </a:t>
            </a:r>
          </a:p>
        </p:txBody>
      </p:sp>
      <p:sp>
        <p:nvSpPr>
          <p:cNvPr id="3" name="Content Placeholder 2">
            <a:extLst>
              <a:ext uri="{FF2B5EF4-FFF2-40B4-BE49-F238E27FC236}">
                <a16:creationId xmlns:a16="http://schemas.microsoft.com/office/drawing/2014/main" id="{15993577-B2B5-8CEC-464F-38192F04ADE2}"/>
              </a:ext>
            </a:extLst>
          </p:cNvPr>
          <p:cNvSpPr>
            <a:spLocks noGrp="1"/>
          </p:cNvSpPr>
          <p:nvPr>
            <p:ph idx="1"/>
          </p:nvPr>
        </p:nvSpPr>
        <p:spPr>
          <a:xfrm>
            <a:off x="838200" y="1825625"/>
            <a:ext cx="5867400" cy="4351338"/>
          </a:xfrm>
        </p:spPr>
        <p:txBody>
          <a:bodyPr/>
          <a:lstStyle/>
          <a:p>
            <a:r>
              <a:rPr lang="en-US" dirty="0"/>
              <a:t>Alpha values are the threshold we set for significance testing</a:t>
            </a:r>
          </a:p>
          <a:p>
            <a:endParaRPr lang="en-US" dirty="0"/>
          </a:p>
          <a:p>
            <a:r>
              <a:rPr lang="en-US" dirty="0"/>
              <a:t>Standard value is  .05</a:t>
            </a:r>
          </a:p>
          <a:p>
            <a:pPr lvl="1"/>
            <a:r>
              <a:rPr lang="en-US" dirty="0"/>
              <a:t>&lt; .05 = significant!</a:t>
            </a:r>
          </a:p>
          <a:p>
            <a:pPr lvl="1"/>
            <a:r>
              <a:rPr lang="en-US" dirty="0"/>
              <a:t>&gt; .05 = non-significant </a:t>
            </a:r>
            <a:r>
              <a:rPr lang="en-US" dirty="0">
                <a:sym typeface="Wingdings" pitchFamily="2" charset="2"/>
              </a:rPr>
              <a:t>:(</a:t>
            </a:r>
          </a:p>
          <a:p>
            <a:pPr lvl="1"/>
            <a:endParaRPr lang="en-US" dirty="0">
              <a:sym typeface="Wingdings" pitchFamily="2" charset="2"/>
            </a:endParaRPr>
          </a:p>
          <a:p>
            <a:r>
              <a:rPr lang="en-US" dirty="0">
                <a:sym typeface="Wingdings" pitchFamily="2" charset="2"/>
              </a:rPr>
              <a:t>This is an </a:t>
            </a:r>
            <a:r>
              <a:rPr lang="en-US" b="1" dirty="0">
                <a:sym typeface="Wingdings" pitchFamily="2" charset="2"/>
              </a:rPr>
              <a:t>arbitrary threshold</a:t>
            </a:r>
            <a:endParaRPr lang="en-US" dirty="0"/>
          </a:p>
        </p:txBody>
      </p:sp>
      <p:pic>
        <p:nvPicPr>
          <p:cNvPr id="4" name="Picture 3" descr="Hypoglycaemic Memes for Diabetic Teens - I even got p&gt;0.05 when I tried to  prove the autosomal recessive inheritance of cystic fibrosis 😢 | Facebook">
            <a:extLst>
              <a:ext uri="{FF2B5EF4-FFF2-40B4-BE49-F238E27FC236}">
                <a16:creationId xmlns:a16="http://schemas.microsoft.com/office/drawing/2014/main" id="{3D9E608B-A473-22C0-98BE-4FCC0B6E5A5E}"/>
              </a:ext>
            </a:extLst>
          </p:cNvPr>
          <p:cNvPicPr>
            <a:picLocks noChangeAspect="1"/>
          </p:cNvPicPr>
          <p:nvPr/>
        </p:nvPicPr>
        <p:blipFill>
          <a:blip r:embed="rId2"/>
          <a:stretch>
            <a:fillRect/>
          </a:stretch>
        </p:blipFill>
        <p:spPr>
          <a:xfrm>
            <a:off x="6705600" y="213789"/>
            <a:ext cx="5012690" cy="6430421"/>
          </a:xfrm>
          <a:prstGeom prst="rect">
            <a:avLst/>
          </a:prstGeom>
        </p:spPr>
      </p:pic>
    </p:spTree>
    <p:extLst>
      <p:ext uri="{BB962C8B-B14F-4D97-AF65-F5344CB8AC3E}">
        <p14:creationId xmlns:p14="http://schemas.microsoft.com/office/powerpoint/2010/main" val="19356601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A311F-F29B-A231-4755-9FD9EF03DF4B}"/>
              </a:ext>
            </a:extLst>
          </p:cNvPr>
          <p:cNvSpPr>
            <a:spLocks noGrp="1"/>
          </p:cNvSpPr>
          <p:nvPr>
            <p:ph type="title"/>
          </p:nvPr>
        </p:nvSpPr>
        <p:spPr>
          <a:xfrm>
            <a:off x="5547360" y="0"/>
            <a:ext cx="10515600" cy="1325563"/>
          </a:xfrm>
        </p:spPr>
        <p:txBody>
          <a:bodyPr/>
          <a:lstStyle/>
          <a:p>
            <a:r>
              <a:rPr lang="en-US" dirty="0"/>
              <a:t>What is p actually measures</a:t>
            </a:r>
          </a:p>
        </p:txBody>
      </p:sp>
      <p:sp>
        <p:nvSpPr>
          <p:cNvPr id="3" name="Content Placeholder 2">
            <a:extLst>
              <a:ext uri="{FF2B5EF4-FFF2-40B4-BE49-F238E27FC236}">
                <a16:creationId xmlns:a16="http://schemas.microsoft.com/office/drawing/2014/main" id="{52E66C03-752A-6E73-815A-8699AD692FC4}"/>
              </a:ext>
            </a:extLst>
          </p:cNvPr>
          <p:cNvSpPr>
            <a:spLocks noGrp="1"/>
          </p:cNvSpPr>
          <p:nvPr>
            <p:ph idx="1"/>
          </p:nvPr>
        </p:nvSpPr>
        <p:spPr>
          <a:xfrm>
            <a:off x="7091680" y="1825624"/>
            <a:ext cx="4262120" cy="4778375"/>
          </a:xfrm>
        </p:spPr>
        <p:txBody>
          <a:bodyPr>
            <a:normAutofit fontScale="92500" lnSpcReduction="20000"/>
          </a:bodyPr>
          <a:lstStyle/>
          <a:p>
            <a:r>
              <a:rPr lang="en-US" dirty="0"/>
              <a:t>All about type 1 errors</a:t>
            </a:r>
          </a:p>
          <a:p>
            <a:endParaRPr lang="en-US" dirty="0"/>
          </a:p>
          <a:p>
            <a:r>
              <a:rPr lang="en-US" dirty="0"/>
              <a:t>P is saying: “how likely is is to observe this pattern of data if there is </a:t>
            </a:r>
            <a:r>
              <a:rPr lang="en-US" b="1" dirty="0"/>
              <a:t>actually no effect</a:t>
            </a:r>
            <a:r>
              <a:rPr lang="en-US" dirty="0"/>
              <a:t>” </a:t>
            </a:r>
          </a:p>
          <a:p>
            <a:endParaRPr lang="en-US" dirty="0"/>
          </a:p>
          <a:p>
            <a:r>
              <a:rPr lang="en-US" dirty="0"/>
              <a:t>By choosing alpha = .05, you are accepting a probability of a false positive = 5%</a:t>
            </a:r>
          </a:p>
          <a:p>
            <a:endParaRPr lang="en-US" dirty="0"/>
          </a:p>
          <a:p>
            <a:r>
              <a:rPr lang="en-US" dirty="0"/>
              <a:t>This is why some value effect size over p –values</a:t>
            </a:r>
          </a:p>
        </p:txBody>
      </p:sp>
      <p:pic>
        <p:nvPicPr>
          <p:cNvPr id="4" name="Picture 3" descr="What are Type 1 and Type 2 Errors?">
            <a:extLst>
              <a:ext uri="{FF2B5EF4-FFF2-40B4-BE49-F238E27FC236}">
                <a16:creationId xmlns:a16="http://schemas.microsoft.com/office/drawing/2014/main" id="{6DB7F9A7-BAB7-C918-98C2-63DAEFBF065F}"/>
              </a:ext>
            </a:extLst>
          </p:cNvPr>
          <p:cNvPicPr>
            <a:picLocks noChangeAspect="1"/>
          </p:cNvPicPr>
          <p:nvPr/>
        </p:nvPicPr>
        <p:blipFill>
          <a:blip r:embed="rId3"/>
          <a:stretch>
            <a:fillRect/>
          </a:stretch>
        </p:blipFill>
        <p:spPr>
          <a:xfrm>
            <a:off x="0" y="926465"/>
            <a:ext cx="7019995" cy="3346449"/>
          </a:xfrm>
          <a:prstGeom prst="rect">
            <a:avLst/>
          </a:prstGeom>
        </p:spPr>
      </p:pic>
      <p:pic>
        <p:nvPicPr>
          <p:cNvPr id="5" name="Picture 4" descr="To Err is Human: What are Type I and II Errors? - Statistics Solutions">
            <a:extLst>
              <a:ext uri="{FF2B5EF4-FFF2-40B4-BE49-F238E27FC236}">
                <a16:creationId xmlns:a16="http://schemas.microsoft.com/office/drawing/2014/main" id="{AA44EEE7-D947-ABF3-CE49-45805D88CE8E}"/>
              </a:ext>
            </a:extLst>
          </p:cNvPr>
          <p:cNvPicPr>
            <a:picLocks noChangeAspect="1"/>
          </p:cNvPicPr>
          <p:nvPr/>
        </p:nvPicPr>
        <p:blipFill>
          <a:blip r:embed="rId4"/>
          <a:stretch>
            <a:fillRect/>
          </a:stretch>
        </p:blipFill>
        <p:spPr>
          <a:xfrm>
            <a:off x="85795" y="4064000"/>
            <a:ext cx="6934200" cy="2794000"/>
          </a:xfrm>
          <a:prstGeom prst="rect">
            <a:avLst/>
          </a:prstGeom>
        </p:spPr>
      </p:pic>
    </p:spTree>
    <p:extLst>
      <p:ext uri="{BB962C8B-B14F-4D97-AF65-F5344CB8AC3E}">
        <p14:creationId xmlns:p14="http://schemas.microsoft.com/office/powerpoint/2010/main" val="2746804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10E49-6FFB-C324-73DF-C6EE7AD7CB19}"/>
              </a:ext>
            </a:extLst>
          </p:cNvPr>
          <p:cNvSpPr>
            <a:spLocks noGrp="1"/>
          </p:cNvSpPr>
          <p:nvPr>
            <p:ph type="title"/>
          </p:nvPr>
        </p:nvSpPr>
        <p:spPr/>
        <p:txBody>
          <a:bodyPr/>
          <a:lstStyle/>
          <a:p>
            <a:r>
              <a:rPr lang="en-US" dirty="0"/>
              <a:t>Types of Tests</a:t>
            </a:r>
          </a:p>
        </p:txBody>
      </p:sp>
      <p:sp>
        <p:nvSpPr>
          <p:cNvPr id="3" name="Content Placeholder 2">
            <a:extLst>
              <a:ext uri="{FF2B5EF4-FFF2-40B4-BE49-F238E27FC236}">
                <a16:creationId xmlns:a16="http://schemas.microsoft.com/office/drawing/2014/main" id="{3933DE6E-8421-97ED-5968-3B0D15C471AF}"/>
              </a:ext>
            </a:extLst>
          </p:cNvPr>
          <p:cNvSpPr>
            <a:spLocks noGrp="1"/>
          </p:cNvSpPr>
          <p:nvPr>
            <p:ph idx="1"/>
          </p:nvPr>
        </p:nvSpPr>
        <p:spPr>
          <a:xfrm>
            <a:off x="452223" y="1609356"/>
            <a:ext cx="5401340" cy="4883519"/>
          </a:xfrm>
        </p:spPr>
        <p:txBody>
          <a:bodyPr>
            <a:normAutofit fontScale="85000" lnSpcReduction="20000"/>
          </a:bodyPr>
          <a:lstStyle/>
          <a:p>
            <a:r>
              <a:rPr lang="en-US" dirty="0"/>
              <a:t>T Family: Testing means between 2 conditions</a:t>
            </a:r>
          </a:p>
          <a:p>
            <a:endParaRPr lang="en-US" dirty="0"/>
          </a:p>
          <a:p>
            <a:pPr lvl="1"/>
            <a:r>
              <a:rPr lang="en-US" b="1" dirty="0"/>
              <a:t>Independent T-tests</a:t>
            </a:r>
            <a:r>
              <a:rPr lang="en-US" dirty="0"/>
              <a:t>: comparing 2 samples</a:t>
            </a:r>
          </a:p>
          <a:p>
            <a:pPr lvl="2"/>
            <a:r>
              <a:rPr lang="en-US" dirty="0"/>
              <a:t>Participants complete only ONE condition</a:t>
            </a:r>
          </a:p>
          <a:p>
            <a:pPr lvl="1"/>
            <a:endParaRPr lang="en-US" dirty="0"/>
          </a:p>
          <a:p>
            <a:pPr lvl="1"/>
            <a:r>
              <a:rPr lang="en-US" b="1" dirty="0"/>
              <a:t>Paired t-tests</a:t>
            </a:r>
            <a:r>
              <a:rPr lang="en-US" dirty="0"/>
              <a:t>: comparing 1 sample at different times</a:t>
            </a:r>
          </a:p>
          <a:p>
            <a:pPr lvl="2"/>
            <a:r>
              <a:rPr lang="en-US" dirty="0"/>
              <a:t>Participants complete BOTH conditions</a:t>
            </a:r>
          </a:p>
          <a:p>
            <a:pPr lvl="2"/>
            <a:endParaRPr lang="en-US" dirty="0"/>
          </a:p>
          <a:p>
            <a:r>
              <a:rPr lang="en-US" dirty="0"/>
              <a:t>t value – compares the means of each group, accounting for sample size and variance</a:t>
            </a:r>
          </a:p>
          <a:p>
            <a:pPr lvl="1"/>
            <a:r>
              <a:rPr lang="en-US" dirty="0"/>
              <a:t>Indication of magnitude</a:t>
            </a:r>
          </a:p>
          <a:p>
            <a:r>
              <a:rPr lang="en-US" dirty="0"/>
              <a:t>p value – indication of significance</a:t>
            </a:r>
          </a:p>
        </p:txBody>
      </p:sp>
      <p:pic>
        <p:nvPicPr>
          <p:cNvPr id="4" name="Picture 3" descr="The T-Test - Research Methods Knowledge Base">
            <a:extLst>
              <a:ext uri="{FF2B5EF4-FFF2-40B4-BE49-F238E27FC236}">
                <a16:creationId xmlns:a16="http://schemas.microsoft.com/office/drawing/2014/main" id="{9EBC8211-472E-CDD1-A6EC-30043CC3EB09}"/>
              </a:ext>
            </a:extLst>
          </p:cNvPr>
          <p:cNvPicPr>
            <a:picLocks noChangeAspect="1"/>
          </p:cNvPicPr>
          <p:nvPr/>
        </p:nvPicPr>
        <p:blipFill>
          <a:blip r:embed="rId2"/>
          <a:stretch>
            <a:fillRect/>
          </a:stretch>
        </p:blipFill>
        <p:spPr>
          <a:xfrm>
            <a:off x="6560671" y="3188056"/>
            <a:ext cx="4988442" cy="3367198"/>
          </a:xfrm>
          <a:prstGeom prst="rect">
            <a:avLst/>
          </a:prstGeom>
        </p:spPr>
      </p:pic>
      <p:sp>
        <p:nvSpPr>
          <p:cNvPr id="5" name="TextBox 4">
            <a:extLst>
              <a:ext uri="{FF2B5EF4-FFF2-40B4-BE49-F238E27FC236}">
                <a16:creationId xmlns:a16="http://schemas.microsoft.com/office/drawing/2014/main" id="{7346ED1D-97C6-83CF-BEA9-87D5BCDD2F1E}"/>
              </a:ext>
            </a:extLst>
          </p:cNvPr>
          <p:cNvSpPr txBox="1"/>
          <p:nvPr/>
        </p:nvSpPr>
        <p:spPr>
          <a:xfrm>
            <a:off x="7081284" y="6555254"/>
            <a:ext cx="5401340" cy="307777"/>
          </a:xfrm>
          <a:prstGeom prst="rect">
            <a:avLst/>
          </a:prstGeom>
          <a:noFill/>
        </p:spPr>
        <p:txBody>
          <a:bodyPr wrap="square" rtlCol="0">
            <a:spAutoFit/>
          </a:bodyPr>
          <a:lstStyle/>
          <a:p>
            <a:r>
              <a:rPr lang="en-US" sz="1400" dirty="0">
                <a:solidFill>
                  <a:schemeClr val="bg2">
                    <a:lumMod val="50000"/>
                  </a:schemeClr>
                </a:solidFill>
              </a:rPr>
              <a:t>Figures from https://</a:t>
            </a:r>
            <a:r>
              <a:rPr lang="en-US" sz="1400" dirty="0" err="1">
                <a:solidFill>
                  <a:schemeClr val="bg2">
                    <a:lumMod val="50000"/>
                  </a:schemeClr>
                </a:solidFill>
              </a:rPr>
              <a:t>conjointly.com</a:t>
            </a:r>
            <a:r>
              <a:rPr lang="en-US" sz="1400" dirty="0">
                <a:solidFill>
                  <a:schemeClr val="bg2">
                    <a:lumMod val="50000"/>
                  </a:schemeClr>
                </a:solidFill>
              </a:rPr>
              <a:t>/kb/statistical-student-t-test/</a:t>
            </a:r>
          </a:p>
        </p:txBody>
      </p:sp>
      <p:pic>
        <p:nvPicPr>
          <p:cNvPr id="6" name="Picture 5" descr="Figure 1. Idealized distributions for treated and comparison group posttest values.">
            <a:extLst>
              <a:ext uri="{FF2B5EF4-FFF2-40B4-BE49-F238E27FC236}">
                <a16:creationId xmlns:a16="http://schemas.microsoft.com/office/drawing/2014/main" id="{F643C31C-7021-3900-AF59-C8196A3A52B1}"/>
              </a:ext>
            </a:extLst>
          </p:cNvPr>
          <p:cNvPicPr>
            <a:picLocks noChangeAspect="1"/>
          </p:cNvPicPr>
          <p:nvPr/>
        </p:nvPicPr>
        <p:blipFill>
          <a:blip r:embed="rId3"/>
          <a:stretch>
            <a:fillRect/>
          </a:stretch>
        </p:blipFill>
        <p:spPr>
          <a:xfrm>
            <a:off x="7653757" y="128353"/>
            <a:ext cx="2802270" cy="2627128"/>
          </a:xfrm>
          <a:prstGeom prst="rect">
            <a:avLst/>
          </a:prstGeom>
        </p:spPr>
      </p:pic>
      <p:sp>
        <p:nvSpPr>
          <p:cNvPr id="7" name="TextBox 6">
            <a:extLst>
              <a:ext uri="{FF2B5EF4-FFF2-40B4-BE49-F238E27FC236}">
                <a16:creationId xmlns:a16="http://schemas.microsoft.com/office/drawing/2014/main" id="{1BAD7B5B-C358-152A-B583-1FDBD9287C54}"/>
              </a:ext>
            </a:extLst>
          </p:cNvPr>
          <p:cNvSpPr txBox="1"/>
          <p:nvPr/>
        </p:nvSpPr>
        <p:spPr>
          <a:xfrm>
            <a:off x="530238" y="6370588"/>
            <a:ext cx="6030433" cy="369332"/>
          </a:xfrm>
          <a:prstGeom prst="rect">
            <a:avLst/>
          </a:prstGeom>
          <a:noFill/>
        </p:spPr>
        <p:txBody>
          <a:bodyPr wrap="square" rtlCol="0">
            <a:spAutoFit/>
          </a:bodyPr>
          <a:lstStyle/>
          <a:p>
            <a:r>
              <a:rPr lang="en-US" b="1" dirty="0"/>
              <a:t>T tests can only be used w/ 2 groups/conditions.</a:t>
            </a:r>
          </a:p>
        </p:txBody>
      </p:sp>
    </p:spTree>
    <p:extLst>
      <p:ext uri="{BB962C8B-B14F-4D97-AF65-F5344CB8AC3E}">
        <p14:creationId xmlns:p14="http://schemas.microsoft.com/office/powerpoint/2010/main" val="2979558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0AC22-C1CC-D65B-91A5-757CE579FCC9}"/>
              </a:ext>
            </a:extLst>
          </p:cNvPr>
          <p:cNvSpPr>
            <a:spLocks noGrp="1"/>
          </p:cNvSpPr>
          <p:nvPr>
            <p:ph type="title"/>
          </p:nvPr>
        </p:nvSpPr>
        <p:spPr/>
        <p:txBody>
          <a:bodyPr/>
          <a:lstStyle/>
          <a:p>
            <a:r>
              <a:rPr lang="en-US" dirty="0"/>
              <a:t>Type of Tests: Analysis of Variance (ANOVA) </a:t>
            </a:r>
          </a:p>
        </p:txBody>
      </p:sp>
      <p:sp>
        <p:nvSpPr>
          <p:cNvPr id="3" name="Content Placeholder 2">
            <a:extLst>
              <a:ext uri="{FF2B5EF4-FFF2-40B4-BE49-F238E27FC236}">
                <a16:creationId xmlns:a16="http://schemas.microsoft.com/office/drawing/2014/main" id="{2A1FD56E-A51F-BE54-CEF2-0E42AE3EA65A}"/>
              </a:ext>
            </a:extLst>
          </p:cNvPr>
          <p:cNvSpPr>
            <a:spLocks noGrp="1"/>
          </p:cNvSpPr>
          <p:nvPr>
            <p:ph idx="1"/>
          </p:nvPr>
        </p:nvSpPr>
        <p:spPr>
          <a:xfrm>
            <a:off x="478466" y="1825625"/>
            <a:ext cx="10875334" cy="4351338"/>
          </a:xfrm>
        </p:spPr>
        <p:txBody>
          <a:bodyPr/>
          <a:lstStyle/>
          <a:p>
            <a:r>
              <a:rPr lang="en-US" dirty="0"/>
              <a:t>ANOVAs test the means of MORE than 2 conditions</a:t>
            </a:r>
          </a:p>
          <a:p>
            <a:pPr lvl="1"/>
            <a:r>
              <a:rPr lang="en-US" dirty="0"/>
              <a:t>One way: comparing means across 3+ groups, on one independent variable</a:t>
            </a:r>
          </a:p>
          <a:p>
            <a:pPr lvl="2"/>
            <a:endParaRPr lang="en-US" dirty="0"/>
          </a:p>
          <a:p>
            <a:pPr lvl="2"/>
            <a:endParaRPr lang="en-US" dirty="0"/>
          </a:p>
          <a:p>
            <a:pPr lvl="2"/>
            <a:endParaRPr lang="en-US" dirty="0"/>
          </a:p>
          <a:p>
            <a:pPr lvl="2"/>
            <a:endParaRPr lang="en-US" dirty="0"/>
          </a:p>
          <a:p>
            <a:pPr lvl="1"/>
            <a:r>
              <a:rPr lang="en-US" dirty="0"/>
              <a:t>Two way: comparing group means across 2 independent variables </a:t>
            </a:r>
          </a:p>
        </p:txBody>
      </p:sp>
      <p:sp>
        <p:nvSpPr>
          <p:cNvPr id="4" name="Rectangle 3">
            <a:extLst>
              <a:ext uri="{FF2B5EF4-FFF2-40B4-BE49-F238E27FC236}">
                <a16:creationId xmlns:a16="http://schemas.microsoft.com/office/drawing/2014/main" id="{90C8C876-BBBA-7F98-5A62-623EB2940FF0}"/>
              </a:ext>
            </a:extLst>
          </p:cNvPr>
          <p:cNvSpPr/>
          <p:nvPr/>
        </p:nvSpPr>
        <p:spPr>
          <a:xfrm>
            <a:off x="1658679" y="2817628"/>
            <a:ext cx="818707" cy="61137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BD5F545-48D4-25DE-087F-3B5B1F811ACE}"/>
              </a:ext>
            </a:extLst>
          </p:cNvPr>
          <p:cNvSpPr/>
          <p:nvPr/>
        </p:nvSpPr>
        <p:spPr>
          <a:xfrm>
            <a:off x="2477386" y="2817628"/>
            <a:ext cx="818707" cy="61137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B740914-F587-66BC-28B3-206F0CA95DB7}"/>
              </a:ext>
            </a:extLst>
          </p:cNvPr>
          <p:cNvSpPr/>
          <p:nvPr/>
        </p:nvSpPr>
        <p:spPr>
          <a:xfrm>
            <a:off x="3296093" y="2814970"/>
            <a:ext cx="818707" cy="61137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EFB6B16-DA87-EA15-6F65-963AA876B935}"/>
              </a:ext>
            </a:extLst>
          </p:cNvPr>
          <p:cNvSpPr txBox="1"/>
          <p:nvPr/>
        </p:nvSpPr>
        <p:spPr>
          <a:xfrm>
            <a:off x="1857878" y="2935990"/>
            <a:ext cx="420308" cy="369332"/>
          </a:xfrm>
          <a:prstGeom prst="rect">
            <a:avLst/>
          </a:prstGeom>
          <a:noFill/>
        </p:spPr>
        <p:txBody>
          <a:bodyPr wrap="none" rtlCol="0">
            <a:spAutoFit/>
          </a:bodyPr>
          <a:lstStyle/>
          <a:p>
            <a:r>
              <a:rPr lang="en-US" dirty="0"/>
              <a:t>0s</a:t>
            </a:r>
          </a:p>
        </p:txBody>
      </p:sp>
      <p:sp>
        <p:nvSpPr>
          <p:cNvPr id="8" name="TextBox 7">
            <a:extLst>
              <a:ext uri="{FF2B5EF4-FFF2-40B4-BE49-F238E27FC236}">
                <a16:creationId xmlns:a16="http://schemas.microsoft.com/office/drawing/2014/main" id="{F0540A37-5E6A-650E-5556-5A5338C33A61}"/>
              </a:ext>
            </a:extLst>
          </p:cNvPr>
          <p:cNvSpPr txBox="1"/>
          <p:nvPr/>
        </p:nvSpPr>
        <p:spPr>
          <a:xfrm>
            <a:off x="2582008" y="2935990"/>
            <a:ext cx="609462" cy="369332"/>
          </a:xfrm>
          <a:prstGeom prst="rect">
            <a:avLst/>
          </a:prstGeom>
          <a:noFill/>
        </p:spPr>
        <p:txBody>
          <a:bodyPr wrap="none" rtlCol="0">
            <a:spAutoFit/>
          </a:bodyPr>
          <a:lstStyle/>
          <a:p>
            <a:r>
              <a:rPr lang="en-US" dirty="0"/>
              <a:t>0.5s</a:t>
            </a:r>
          </a:p>
        </p:txBody>
      </p:sp>
      <p:sp>
        <p:nvSpPr>
          <p:cNvPr id="9" name="TextBox 8">
            <a:extLst>
              <a:ext uri="{FF2B5EF4-FFF2-40B4-BE49-F238E27FC236}">
                <a16:creationId xmlns:a16="http://schemas.microsoft.com/office/drawing/2014/main" id="{5731E289-B817-AFBF-F533-9E1E2EBDBDEF}"/>
              </a:ext>
            </a:extLst>
          </p:cNvPr>
          <p:cNvSpPr txBox="1"/>
          <p:nvPr/>
        </p:nvSpPr>
        <p:spPr>
          <a:xfrm>
            <a:off x="3495292" y="2935990"/>
            <a:ext cx="420308" cy="369332"/>
          </a:xfrm>
          <a:prstGeom prst="rect">
            <a:avLst/>
          </a:prstGeom>
          <a:noFill/>
        </p:spPr>
        <p:txBody>
          <a:bodyPr wrap="none" rtlCol="0">
            <a:spAutoFit/>
          </a:bodyPr>
          <a:lstStyle/>
          <a:p>
            <a:r>
              <a:rPr lang="en-US" dirty="0"/>
              <a:t>1s</a:t>
            </a:r>
          </a:p>
        </p:txBody>
      </p:sp>
      <p:sp>
        <p:nvSpPr>
          <p:cNvPr id="10" name="TextBox 9">
            <a:extLst>
              <a:ext uri="{FF2B5EF4-FFF2-40B4-BE49-F238E27FC236}">
                <a16:creationId xmlns:a16="http://schemas.microsoft.com/office/drawing/2014/main" id="{BF4619E6-54EF-65EA-458D-026D49B81F6F}"/>
              </a:ext>
            </a:extLst>
          </p:cNvPr>
          <p:cNvSpPr txBox="1"/>
          <p:nvPr/>
        </p:nvSpPr>
        <p:spPr>
          <a:xfrm>
            <a:off x="1424763" y="3431658"/>
            <a:ext cx="3123997" cy="369332"/>
          </a:xfrm>
          <a:prstGeom prst="rect">
            <a:avLst/>
          </a:prstGeom>
          <a:noFill/>
        </p:spPr>
        <p:txBody>
          <a:bodyPr wrap="none" rtlCol="0">
            <a:spAutoFit/>
          </a:bodyPr>
          <a:lstStyle/>
          <a:p>
            <a:r>
              <a:rPr lang="en-US" dirty="0"/>
              <a:t>One way ANOVA with 3 levels</a:t>
            </a:r>
          </a:p>
        </p:txBody>
      </p:sp>
      <p:sp>
        <p:nvSpPr>
          <p:cNvPr id="11" name="Rectangle 10">
            <a:extLst>
              <a:ext uri="{FF2B5EF4-FFF2-40B4-BE49-F238E27FC236}">
                <a16:creationId xmlns:a16="http://schemas.microsoft.com/office/drawing/2014/main" id="{F8C75FD0-A65B-F482-44C1-394E10AE29DA}"/>
              </a:ext>
            </a:extLst>
          </p:cNvPr>
          <p:cNvSpPr/>
          <p:nvPr/>
        </p:nvSpPr>
        <p:spPr>
          <a:xfrm>
            <a:off x="6243013" y="2852978"/>
            <a:ext cx="818707" cy="61137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82244A8-CF61-4C6C-10BC-96631C11F9D1}"/>
              </a:ext>
            </a:extLst>
          </p:cNvPr>
          <p:cNvSpPr/>
          <p:nvPr/>
        </p:nvSpPr>
        <p:spPr>
          <a:xfrm>
            <a:off x="7061720" y="2852978"/>
            <a:ext cx="818707" cy="61137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966C637-7751-352A-F65E-7D6E76200C06}"/>
              </a:ext>
            </a:extLst>
          </p:cNvPr>
          <p:cNvSpPr/>
          <p:nvPr/>
        </p:nvSpPr>
        <p:spPr>
          <a:xfrm>
            <a:off x="7880427" y="2850320"/>
            <a:ext cx="818707" cy="61137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D3F7DD4-323C-09D1-3EE8-805258B410B2}"/>
              </a:ext>
            </a:extLst>
          </p:cNvPr>
          <p:cNvSpPr txBox="1"/>
          <p:nvPr/>
        </p:nvSpPr>
        <p:spPr>
          <a:xfrm>
            <a:off x="6442212" y="2971340"/>
            <a:ext cx="420308" cy="369332"/>
          </a:xfrm>
          <a:prstGeom prst="rect">
            <a:avLst/>
          </a:prstGeom>
          <a:noFill/>
        </p:spPr>
        <p:txBody>
          <a:bodyPr wrap="none" rtlCol="0">
            <a:spAutoFit/>
          </a:bodyPr>
          <a:lstStyle/>
          <a:p>
            <a:r>
              <a:rPr lang="en-US" dirty="0"/>
              <a:t>0s</a:t>
            </a:r>
          </a:p>
        </p:txBody>
      </p:sp>
      <p:sp>
        <p:nvSpPr>
          <p:cNvPr id="15" name="TextBox 14">
            <a:extLst>
              <a:ext uri="{FF2B5EF4-FFF2-40B4-BE49-F238E27FC236}">
                <a16:creationId xmlns:a16="http://schemas.microsoft.com/office/drawing/2014/main" id="{699F7805-36D8-15EE-A62B-91CA3DF4887F}"/>
              </a:ext>
            </a:extLst>
          </p:cNvPr>
          <p:cNvSpPr txBox="1"/>
          <p:nvPr/>
        </p:nvSpPr>
        <p:spPr>
          <a:xfrm>
            <a:off x="7166342" y="2971340"/>
            <a:ext cx="609462" cy="369332"/>
          </a:xfrm>
          <a:prstGeom prst="rect">
            <a:avLst/>
          </a:prstGeom>
          <a:noFill/>
        </p:spPr>
        <p:txBody>
          <a:bodyPr wrap="none" rtlCol="0">
            <a:spAutoFit/>
          </a:bodyPr>
          <a:lstStyle/>
          <a:p>
            <a:r>
              <a:rPr lang="en-US" dirty="0"/>
              <a:t>0.5s</a:t>
            </a:r>
          </a:p>
        </p:txBody>
      </p:sp>
      <p:sp>
        <p:nvSpPr>
          <p:cNvPr id="16" name="TextBox 15">
            <a:extLst>
              <a:ext uri="{FF2B5EF4-FFF2-40B4-BE49-F238E27FC236}">
                <a16:creationId xmlns:a16="http://schemas.microsoft.com/office/drawing/2014/main" id="{0CFFF579-921F-493F-31AB-C2A5D32C025D}"/>
              </a:ext>
            </a:extLst>
          </p:cNvPr>
          <p:cNvSpPr txBox="1"/>
          <p:nvPr/>
        </p:nvSpPr>
        <p:spPr>
          <a:xfrm>
            <a:off x="8079626" y="2971340"/>
            <a:ext cx="420308" cy="369332"/>
          </a:xfrm>
          <a:prstGeom prst="rect">
            <a:avLst/>
          </a:prstGeom>
          <a:noFill/>
        </p:spPr>
        <p:txBody>
          <a:bodyPr wrap="none" rtlCol="0">
            <a:spAutoFit/>
          </a:bodyPr>
          <a:lstStyle/>
          <a:p>
            <a:r>
              <a:rPr lang="en-US" dirty="0"/>
              <a:t>1s</a:t>
            </a:r>
          </a:p>
        </p:txBody>
      </p:sp>
      <p:sp>
        <p:nvSpPr>
          <p:cNvPr id="17" name="TextBox 16">
            <a:extLst>
              <a:ext uri="{FF2B5EF4-FFF2-40B4-BE49-F238E27FC236}">
                <a16:creationId xmlns:a16="http://schemas.microsoft.com/office/drawing/2014/main" id="{A1A2D6E9-D94C-B1E4-559A-7499A784CE05}"/>
              </a:ext>
            </a:extLst>
          </p:cNvPr>
          <p:cNvSpPr txBox="1"/>
          <p:nvPr/>
        </p:nvSpPr>
        <p:spPr>
          <a:xfrm>
            <a:off x="6318428" y="3470293"/>
            <a:ext cx="3077509" cy="369332"/>
          </a:xfrm>
          <a:prstGeom prst="rect">
            <a:avLst/>
          </a:prstGeom>
          <a:noFill/>
        </p:spPr>
        <p:txBody>
          <a:bodyPr wrap="none" rtlCol="0">
            <a:spAutoFit/>
          </a:bodyPr>
          <a:lstStyle/>
          <a:p>
            <a:r>
              <a:rPr lang="en-US" dirty="0"/>
              <a:t>One way ANOVA with 4 levels</a:t>
            </a:r>
          </a:p>
        </p:txBody>
      </p:sp>
      <p:sp>
        <p:nvSpPr>
          <p:cNvPr id="18" name="Rectangle 17">
            <a:extLst>
              <a:ext uri="{FF2B5EF4-FFF2-40B4-BE49-F238E27FC236}">
                <a16:creationId xmlns:a16="http://schemas.microsoft.com/office/drawing/2014/main" id="{743D4D15-C13C-7F99-990B-C3E39B8E6E11}"/>
              </a:ext>
            </a:extLst>
          </p:cNvPr>
          <p:cNvSpPr/>
          <p:nvPr/>
        </p:nvSpPr>
        <p:spPr>
          <a:xfrm>
            <a:off x="8693783" y="2845004"/>
            <a:ext cx="818707" cy="61137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D1FDA295-EA8E-05DD-B4F2-A4F44CC8684A}"/>
              </a:ext>
            </a:extLst>
          </p:cNvPr>
          <p:cNvSpPr txBox="1"/>
          <p:nvPr/>
        </p:nvSpPr>
        <p:spPr>
          <a:xfrm>
            <a:off x="8892982" y="2966024"/>
            <a:ext cx="420308" cy="369332"/>
          </a:xfrm>
          <a:prstGeom prst="rect">
            <a:avLst/>
          </a:prstGeom>
          <a:noFill/>
        </p:spPr>
        <p:txBody>
          <a:bodyPr wrap="none" rtlCol="0">
            <a:spAutoFit/>
          </a:bodyPr>
          <a:lstStyle/>
          <a:p>
            <a:r>
              <a:rPr lang="en-US" dirty="0"/>
              <a:t>2s</a:t>
            </a:r>
          </a:p>
        </p:txBody>
      </p:sp>
      <p:sp>
        <p:nvSpPr>
          <p:cNvPr id="20" name="Curved Down Arrow 19">
            <a:extLst>
              <a:ext uri="{FF2B5EF4-FFF2-40B4-BE49-F238E27FC236}">
                <a16:creationId xmlns:a16="http://schemas.microsoft.com/office/drawing/2014/main" id="{11EF51AE-DAE2-F446-11EC-C47ACB459B73}"/>
              </a:ext>
            </a:extLst>
          </p:cNvPr>
          <p:cNvSpPr/>
          <p:nvPr/>
        </p:nvSpPr>
        <p:spPr>
          <a:xfrm>
            <a:off x="2043426" y="2682691"/>
            <a:ext cx="923058" cy="129622"/>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 name="Curved Down Arrow 20">
            <a:extLst>
              <a:ext uri="{FF2B5EF4-FFF2-40B4-BE49-F238E27FC236}">
                <a16:creationId xmlns:a16="http://schemas.microsoft.com/office/drawing/2014/main" id="{9A6E66B0-7385-5C7F-2250-A8D1823EC1ED}"/>
              </a:ext>
            </a:extLst>
          </p:cNvPr>
          <p:cNvSpPr/>
          <p:nvPr/>
        </p:nvSpPr>
        <p:spPr>
          <a:xfrm>
            <a:off x="2979091" y="2674089"/>
            <a:ext cx="818707" cy="129622"/>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Curved Down Arrow 21">
            <a:extLst>
              <a:ext uri="{FF2B5EF4-FFF2-40B4-BE49-F238E27FC236}">
                <a16:creationId xmlns:a16="http://schemas.microsoft.com/office/drawing/2014/main" id="{BC438E2C-B7A1-5351-2870-9ECC12960E2A}"/>
              </a:ext>
            </a:extLst>
          </p:cNvPr>
          <p:cNvSpPr/>
          <p:nvPr/>
        </p:nvSpPr>
        <p:spPr>
          <a:xfrm>
            <a:off x="6524517" y="2702352"/>
            <a:ext cx="818707" cy="129622"/>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Curved Down Arrow 22">
            <a:extLst>
              <a:ext uri="{FF2B5EF4-FFF2-40B4-BE49-F238E27FC236}">
                <a16:creationId xmlns:a16="http://schemas.microsoft.com/office/drawing/2014/main" id="{AF9434AD-544E-CC25-CB78-B88865FD59EC}"/>
              </a:ext>
            </a:extLst>
          </p:cNvPr>
          <p:cNvSpPr/>
          <p:nvPr/>
        </p:nvSpPr>
        <p:spPr>
          <a:xfrm>
            <a:off x="7471073" y="2702352"/>
            <a:ext cx="818707" cy="129622"/>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4" name="Curved Down Arrow 23">
            <a:extLst>
              <a:ext uri="{FF2B5EF4-FFF2-40B4-BE49-F238E27FC236}">
                <a16:creationId xmlns:a16="http://schemas.microsoft.com/office/drawing/2014/main" id="{1944619B-4265-B354-D3C5-90890722332A}"/>
              </a:ext>
            </a:extLst>
          </p:cNvPr>
          <p:cNvSpPr/>
          <p:nvPr/>
        </p:nvSpPr>
        <p:spPr>
          <a:xfrm>
            <a:off x="8465880" y="2710067"/>
            <a:ext cx="818707" cy="129622"/>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Rectangle 24">
            <a:extLst>
              <a:ext uri="{FF2B5EF4-FFF2-40B4-BE49-F238E27FC236}">
                <a16:creationId xmlns:a16="http://schemas.microsoft.com/office/drawing/2014/main" id="{B6BDF60E-74FC-CF50-650B-22C5BBD24BE2}"/>
              </a:ext>
            </a:extLst>
          </p:cNvPr>
          <p:cNvSpPr/>
          <p:nvPr/>
        </p:nvSpPr>
        <p:spPr>
          <a:xfrm>
            <a:off x="1892595" y="4792993"/>
            <a:ext cx="818707" cy="61137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38AA6D2-02B3-F496-98AD-F27A8ED83B5A}"/>
              </a:ext>
            </a:extLst>
          </p:cNvPr>
          <p:cNvSpPr/>
          <p:nvPr/>
        </p:nvSpPr>
        <p:spPr>
          <a:xfrm>
            <a:off x="3530009" y="4790335"/>
            <a:ext cx="818707" cy="61137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2ECCCB67-7B2E-5CB2-36CF-F71865234421}"/>
              </a:ext>
            </a:extLst>
          </p:cNvPr>
          <p:cNvSpPr txBox="1"/>
          <p:nvPr/>
        </p:nvSpPr>
        <p:spPr>
          <a:xfrm>
            <a:off x="2091794" y="4911355"/>
            <a:ext cx="420308" cy="369332"/>
          </a:xfrm>
          <a:prstGeom prst="rect">
            <a:avLst/>
          </a:prstGeom>
          <a:noFill/>
        </p:spPr>
        <p:txBody>
          <a:bodyPr wrap="none" rtlCol="0">
            <a:spAutoFit/>
          </a:bodyPr>
          <a:lstStyle/>
          <a:p>
            <a:r>
              <a:rPr lang="en-US" dirty="0">
                <a:solidFill>
                  <a:schemeClr val="accent1"/>
                </a:solidFill>
              </a:rPr>
              <a:t>0s</a:t>
            </a:r>
          </a:p>
        </p:txBody>
      </p:sp>
      <p:sp>
        <p:nvSpPr>
          <p:cNvPr id="28" name="TextBox 27">
            <a:extLst>
              <a:ext uri="{FF2B5EF4-FFF2-40B4-BE49-F238E27FC236}">
                <a16:creationId xmlns:a16="http://schemas.microsoft.com/office/drawing/2014/main" id="{C5516593-5642-5312-A2BE-95D6788CC80B}"/>
              </a:ext>
            </a:extLst>
          </p:cNvPr>
          <p:cNvSpPr txBox="1"/>
          <p:nvPr/>
        </p:nvSpPr>
        <p:spPr>
          <a:xfrm>
            <a:off x="2815924" y="4911355"/>
            <a:ext cx="609462" cy="369332"/>
          </a:xfrm>
          <a:prstGeom prst="rect">
            <a:avLst/>
          </a:prstGeom>
          <a:noFill/>
        </p:spPr>
        <p:txBody>
          <a:bodyPr wrap="none" rtlCol="0">
            <a:spAutoFit/>
          </a:bodyPr>
          <a:lstStyle/>
          <a:p>
            <a:r>
              <a:rPr lang="en-US" dirty="0">
                <a:solidFill>
                  <a:schemeClr val="accent1"/>
                </a:solidFill>
              </a:rPr>
              <a:t>0.5s</a:t>
            </a:r>
          </a:p>
        </p:txBody>
      </p:sp>
      <p:sp>
        <p:nvSpPr>
          <p:cNvPr id="29" name="TextBox 28">
            <a:extLst>
              <a:ext uri="{FF2B5EF4-FFF2-40B4-BE49-F238E27FC236}">
                <a16:creationId xmlns:a16="http://schemas.microsoft.com/office/drawing/2014/main" id="{8AD8F177-830A-9145-290C-1F8F14959E6E}"/>
              </a:ext>
            </a:extLst>
          </p:cNvPr>
          <p:cNvSpPr txBox="1"/>
          <p:nvPr/>
        </p:nvSpPr>
        <p:spPr>
          <a:xfrm>
            <a:off x="3729208" y="4911355"/>
            <a:ext cx="420308" cy="369332"/>
          </a:xfrm>
          <a:prstGeom prst="rect">
            <a:avLst/>
          </a:prstGeom>
          <a:noFill/>
        </p:spPr>
        <p:txBody>
          <a:bodyPr wrap="none" rtlCol="0">
            <a:spAutoFit/>
          </a:bodyPr>
          <a:lstStyle/>
          <a:p>
            <a:r>
              <a:rPr lang="en-US" dirty="0">
                <a:solidFill>
                  <a:schemeClr val="accent1"/>
                </a:solidFill>
              </a:rPr>
              <a:t>1s</a:t>
            </a:r>
          </a:p>
        </p:txBody>
      </p:sp>
      <p:sp>
        <p:nvSpPr>
          <p:cNvPr id="33" name="Rectangle 32">
            <a:extLst>
              <a:ext uri="{FF2B5EF4-FFF2-40B4-BE49-F238E27FC236}">
                <a16:creationId xmlns:a16="http://schemas.microsoft.com/office/drawing/2014/main" id="{9A2172EA-4439-DF4D-6E5F-85E93B7E80D2}"/>
              </a:ext>
            </a:extLst>
          </p:cNvPr>
          <p:cNvSpPr/>
          <p:nvPr/>
        </p:nvSpPr>
        <p:spPr>
          <a:xfrm>
            <a:off x="2711301" y="4790335"/>
            <a:ext cx="818707" cy="61137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FC4D3C2D-81BF-1B83-0F05-2A00FD4E54C8}"/>
              </a:ext>
            </a:extLst>
          </p:cNvPr>
          <p:cNvSpPr txBox="1"/>
          <p:nvPr/>
        </p:nvSpPr>
        <p:spPr>
          <a:xfrm>
            <a:off x="2526335" y="4360493"/>
            <a:ext cx="1018869" cy="369332"/>
          </a:xfrm>
          <a:prstGeom prst="rect">
            <a:avLst/>
          </a:prstGeom>
          <a:noFill/>
        </p:spPr>
        <p:txBody>
          <a:bodyPr wrap="none" rtlCol="0">
            <a:spAutoFit/>
          </a:bodyPr>
          <a:lstStyle/>
          <a:p>
            <a:r>
              <a:rPr lang="en-US" dirty="0">
                <a:solidFill>
                  <a:schemeClr val="accent1"/>
                </a:solidFill>
              </a:rPr>
              <a:t>Latency</a:t>
            </a:r>
            <a:r>
              <a:rPr lang="en-US" dirty="0"/>
              <a:t> </a:t>
            </a:r>
          </a:p>
        </p:txBody>
      </p:sp>
      <p:sp>
        <p:nvSpPr>
          <p:cNvPr id="35" name="Rectangle 34">
            <a:extLst>
              <a:ext uri="{FF2B5EF4-FFF2-40B4-BE49-F238E27FC236}">
                <a16:creationId xmlns:a16="http://schemas.microsoft.com/office/drawing/2014/main" id="{3871BC48-2F93-BE43-7E49-9C2C2DF03042}"/>
              </a:ext>
            </a:extLst>
          </p:cNvPr>
          <p:cNvSpPr/>
          <p:nvPr/>
        </p:nvSpPr>
        <p:spPr>
          <a:xfrm>
            <a:off x="1892595" y="5407023"/>
            <a:ext cx="818707" cy="61137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13A0FEEE-31AC-7AC3-C3EF-36975C793343}"/>
              </a:ext>
            </a:extLst>
          </p:cNvPr>
          <p:cNvSpPr/>
          <p:nvPr/>
        </p:nvSpPr>
        <p:spPr>
          <a:xfrm>
            <a:off x="3530009" y="5404365"/>
            <a:ext cx="818707" cy="61137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BD3B1816-99DE-1907-C937-537EE74DF293}"/>
              </a:ext>
            </a:extLst>
          </p:cNvPr>
          <p:cNvSpPr txBox="1"/>
          <p:nvPr/>
        </p:nvSpPr>
        <p:spPr>
          <a:xfrm>
            <a:off x="2091794" y="5525385"/>
            <a:ext cx="420308" cy="369332"/>
          </a:xfrm>
          <a:prstGeom prst="rect">
            <a:avLst/>
          </a:prstGeom>
          <a:noFill/>
        </p:spPr>
        <p:txBody>
          <a:bodyPr wrap="none" rtlCol="0">
            <a:spAutoFit/>
          </a:bodyPr>
          <a:lstStyle/>
          <a:p>
            <a:r>
              <a:rPr lang="en-US" dirty="0">
                <a:solidFill>
                  <a:schemeClr val="accent1"/>
                </a:solidFill>
              </a:rPr>
              <a:t>0s</a:t>
            </a:r>
          </a:p>
        </p:txBody>
      </p:sp>
      <p:sp>
        <p:nvSpPr>
          <p:cNvPr id="38" name="TextBox 37">
            <a:extLst>
              <a:ext uri="{FF2B5EF4-FFF2-40B4-BE49-F238E27FC236}">
                <a16:creationId xmlns:a16="http://schemas.microsoft.com/office/drawing/2014/main" id="{D9E7F43C-B8D9-9012-AE9E-9BE124E17B08}"/>
              </a:ext>
            </a:extLst>
          </p:cNvPr>
          <p:cNvSpPr txBox="1"/>
          <p:nvPr/>
        </p:nvSpPr>
        <p:spPr>
          <a:xfrm>
            <a:off x="2815924" y="5525385"/>
            <a:ext cx="609462" cy="369332"/>
          </a:xfrm>
          <a:prstGeom prst="rect">
            <a:avLst/>
          </a:prstGeom>
          <a:noFill/>
        </p:spPr>
        <p:txBody>
          <a:bodyPr wrap="none" rtlCol="0">
            <a:spAutoFit/>
          </a:bodyPr>
          <a:lstStyle/>
          <a:p>
            <a:r>
              <a:rPr lang="en-US" dirty="0">
                <a:solidFill>
                  <a:schemeClr val="accent1"/>
                </a:solidFill>
              </a:rPr>
              <a:t>0.5s</a:t>
            </a:r>
          </a:p>
        </p:txBody>
      </p:sp>
      <p:sp>
        <p:nvSpPr>
          <p:cNvPr id="39" name="TextBox 38">
            <a:extLst>
              <a:ext uri="{FF2B5EF4-FFF2-40B4-BE49-F238E27FC236}">
                <a16:creationId xmlns:a16="http://schemas.microsoft.com/office/drawing/2014/main" id="{B9169B55-B52A-8F53-C7D0-0E77CBCC10F7}"/>
              </a:ext>
            </a:extLst>
          </p:cNvPr>
          <p:cNvSpPr txBox="1"/>
          <p:nvPr/>
        </p:nvSpPr>
        <p:spPr>
          <a:xfrm>
            <a:off x="3729208" y="5525385"/>
            <a:ext cx="420308" cy="369332"/>
          </a:xfrm>
          <a:prstGeom prst="rect">
            <a:avLst/>
          </a:prstGeom>
          <a:noFill/>
        </p:spPr>
        <p:txBody>
          <a:bodyPr wrap="none" rtlCol="0">
            <a:spAutoFit/>
          </a:bodyPr>
          <a:lstStyle/>
          <a:p>
            <a:r>
              <a:rPr lang="en-US" dirty="0">
                <a:solidFill>
                  <a:schemeClr val="accent1"/>
                </a:solidFill>
              </a:rPr>
              <a:t>1s</a:t>
            </a:r>
          </a:p>
        </p:txBody>
      </p:sp>
      <p:sp>
        <p:nvSpPr>
          <p:cNvPr id="40" name="Rectangle 39">
            <a:extLst>
              <a:ext uri="{FF2B5EF4-FFF2-40B4-BE49-F238E27FC236}">
                <a16:creationId xmlns:a16="http://schemas.microsoft.com/office/drawing/2014/main" id="{B1B40E9B-E5F5-E6C4-541A-85077349C5E4}"/>
              </a:ext>
            </a:extLst>
          </p:cNvPr>
          <p:cNvSpPr/>
          <p:nvPr/>
        </p:nvSpPr>
        <p:spPr>
          <a:xfrm>
            <a:off x="2711301" y="5404365"/>
            <a:ext cx="818707" cy="61137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2B997729-6F0A-8F98-FF05-FE2B31ED2666}"/>
              </a:ext>
            </a:extLst>
          </p:cNvPr>
          <p:cNvSpPr txBox="1"/>
          <p:nvPr/>
        </p:nvSpPr>
        <p:spPr>
          <a:xfrm rot="16200000">
            <a:off x="541027" y="5244229"/>
            <a:ext cx="1398140" cy="369332"/>
          </a:xfrm>
          <a:prstGeom prst="rect">
            <a:avLst/>
          </a:prstGeom>
          <a:noFill/>
        </p:spPr>
        <p:txBody>
          <a:bodyPr wrap="none" rtlCol="0">
            <a:spAutoFit/>
          </a:bodyPr>
          <a:lstStyle/>
          <a:p>
            <a:r>
              <a:rPr lang="en-US" dirty="0">
                <a:solidFill>
                  <a:srgbClr val="FF0000"/>
                </a:solidFill>
              </a:rPr>
              <a:t>Automation</a:t>
            </a:r>
          </a:p>
        </p:txBody>
      </p:sp>
      <p:sp>
        <p:nvSpPr>
          <p:cNvPr id="42" name="TextBox 41">
            <a:extLst>
              <a:ext uri="{FF2B5EF4-FFF2-40B4-BE49-F238E27FC236}">
                <a16:creationId xmlns:a16="http://schemas.microsoft.com/office/drawing/2014/main" id="{8FD40BC2-37FB-1439-3933-4E82E531D685}"/>
              </a:ext>
            </a:extLst>
          </p:cNvPr>
          <p:cNvSpPr txBox="1"/>
          <p:nvPr/>
        </p:nvSpPr>
        <p:spPr>
          <a:xfrm rot="16200000">
            <a:off x="1373317" y="4911355"/>
            <a:ext cx="479618" cy="369332"/>
          </a:xfrm>
          <a:prstGeom prst="rect">
            <a:avLst/>
          </a:prstGeom>
          <a:noFill/>
        </p:spPr>
        <p:txBody>
          <a:bodyPr wrap="none" rtlCol="0">
            <a:spAutoFit/>
          </a:bodyPr>
          <a:lstStyle/>
          <a:p>
            <a:r>
              <a:rPr lang="en-US" dirty="0">
                <a:solidFill>
                  <a:srgbClr val="FF0000"/>
                </a:solidFill>
              </a:rPr>
              <a:t>On</a:t>
            </a:r>
          </a:p>
        </p:txBody>
      </p:sp>
      <p:sp>
        <p:nvSpPr>
          <p:cNvPr id="43" name="TextBox 42">
            <a:extLst>
              <a:ext uri="{FF2B5EF4-FFF2-40B4-BE49-F238E27FC236}">
                <a16:creationId xmlns:a16="http://schemas.microsoft.com/office/drawing/2014/main" id="{4458D940-9EED-CFC6-2ECC-63132CBBCF5A}"/>
              </a:ext>
            </a:extLst>
          </p:cNvPr>
          <p:cNvSpPr txBox="1"/>
          <p:nvPr/>
        </p:nvSpPr>
        <p:spPr>
          <a:xfrm rot="16200000">
            <a:off x="1429684" y="5536996"/>
            <a:ext cx="490840" cy="369332"/>
          </a:xfrm>
          <a:prstGeom prst="rect">
            <a:avLst/>
          </a:prstGeom>
          <a:noFill/>
        </p:spPr>
        <p:txBody>
          <a:bodyPr wrap="none" rtlCol="0">
            <a:spAutoFit/>
          </a:bodyPr>
          <a:lstStyle/>
          <a:p>
            <a:r>
              <a:rPr lang="en-US" dirty="0">
                <a:solidFill>
                  <a:srgbClr val="FF0000"/>
                </a:solidFill>
              </a:rPr>
              <a:t>Off</a:t>
            </a:r>
          </a:p>
        </p:txBody>
      </p:sp>
      <p:sp>
        <p:nvSpPr>
          <p:cNvPr id="44" name="TextBox 43">
            <a:extLst>
              <a:ext uri="{FF2B5EF4-FFF2-40B4-BE49-F238E27FC236}">
                <a16:creationId xmlns:a16="http://schemas.microsoft.com/office/drawing/2014/main" id="{FC3F0A76-39AA-B786-BC60-4E0AD121F402}"/>
              </a:ext>
            </a:extLst>
          </p:cNvPr>
          <p:cNvSpPr txBox="1"/>
          <p:nvPr/>
        </p:nvSpPr>
        <p:spPr>
          <a:xfrm>
            <a:off x="2060660" y="6087382"/>
            <a:ext cx="2234458" cy="369332"/>
          </a:xfrm>
          <a:prstGeom prst="rect">
            <a:avLst/>
          </a:prstGeom>
          <a:noFill/>
        </p:spPr>
        <p:txBody>
          <a:bodyPr wrap="none" rtlCol="0">
            <a:spAutoFit/>
          </a:bodyPr>
          <a:lstStyle/>
          <a:p>
            <a:r>
              <a:rPr lang="en-US" dirty="0">
                <a:solidFill>
                  <a:schemeClr val="accent1"/>
                </a:solidFill>
              </a:rPr>
              <a:t>3</a:t>
            </a:r>
            <a:r>
              <a:rPr lang="en-US" dirty="0"/>
              <a:t>x</a:t>
            </a:r>
            <a:r>
              <a:rPr lang="en-US" dirty="0">
                <a:solidFill>
                  <a:srgbClr val="FF0000"/>
                </a:solidFill>
              </a:rPr>
              <a:t>2</a:t>
            </a:r>
            <a:r>
              <a:rPr lang="en-US" dirty="0"/>
              <a:t> Two way ANOVA</a:t>
            </a:r>
            <a:endParaRPr lang="en-US" dirty="0">
              <a:solidFill>
                <a:schemeClr val="accent1"/>
              </a:solidFill>
            </a:endParaRPr>
          </a:p>
        </p:txBody>
      </p:sp>
      <p:sp>
        <p:nvSpPr>
          <p:cNvPr id="45" name="Rectangle 44">
            <a:extLst>
              <a:ext uri="{FF2B5EF4-FFF2-40B4-BE49-F238E27FC236}">
                <a16:creationId xmlns:a16="http://schemas.microsoft.com/office/drawing/2014/main" id="{51652AFA-5409-F338-4059-1A77221C0FA8}"/>
              </a:ext>
            </a:extLst>
          </p:cNvPr>
          <p:cNvSpPr/>
          <p:nvPr/>
        </p:nvSpPr>
        <p:spPr>
          <a:xfrm>
            <a:off x="6647015" y="4839606"/>
            <a:ext cx="818707" cy="61137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B4422E33-5BC8-E3E5-5633-05D9277C2CA7}"/>
              </a:ext>
            </a:extLst>
          </p:cNvPr>
          <p:cNvSpPr/>
          <p:nvPr/>
        </p:nvSpPr>
        <p:spPr>
          <a:xfrm>
            <a:off x="8284429" y="4836948"/>
            <a:ext cx="818707" cy="61137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E8C0DF7E-BA63-2A27-1E87-2F50957F6F49}"/>
              </a:ext>
            </a:extLst>
          </p:cNvPr>
          <p:cNvSpPr txBox="1"/>
          <p:nvPr/>
        </p:nvSpPr>
        <p:spPr>
          <a:xfrm>
            <a:off x="6846214" y="4957968"/>
            <a:ext cx="476412" cy="369332"/>
          </a:xfrm>
          <a:prstGeom prst="rect">
            <a:avLst/>
          </a:prstGeom>
          <a:noFill/>
        </p:spPr>
        <p:txBody>
          <a:bodyPr wrap="none" rtlCol="0">
            <a:spAutoFit/>
          </a:bodyPr>
          <a:lstStyle/>
          <a:p>
            <a:r>
              <a:rPr lang="en-US" dirty="0">
                <a:solidFill>
                  <a:schemeClr val="accent1"/>
                </a:solidFill>
              </a:rPr>
              <a:t>Hu</a:t>
            </a:r>
          </a:p>
        </p:txBody>
      </p:sp>
      <p:sp>
        <p:nvSpPr>
          <p:cNvPr id="48" name="TextBox 47">
            <a:extLst>
              <a:ext uri="{FF2B5EF4-FFF2-40B4-BE49-F238E27FC236}">
                <a16:creationId xmlns:a16="http://schemas.microsoft.com/office/drawing/2014/main" id="{3D6D6D0B-9B88-5501-13FF-3BBAC977C25B}"/>
              </a:ext>
            </a:extLst>
          </p:cNvPr>
          <p:cNvSpPr txBox="1"/>
          <p:nvPr/>
        </p:nvSpPr>
        <p:spPr>
          <a:xfrm>
            <a:off x="7661273" y="4950532"/>
            <a:ext cx="463588" cy="369332"/>
          </a:xfrm>
          <a:prstGeom prst="rect">
            <a:avLst/>
          </a:prstGeom>
          <a:noFill/>
        </p:spPr>
        <p:txBody>
          <a:bodyPr wrap="none" rtlCol="0">
            <a:spAutoFit/>
          </a:bodyPr>
          <a:lstStyle/>
          <a:p>
            <a:r>
              <a:rPr lang="en-US" dirty="0">
                <a:solidFill>
                  <a:schemeClr val="accent1"/>
                </a:solidFill>
              </a:rPr>
              <a:t>RR</a:t>
            </a:r>
          </a:p>
        </p:txBody>
      </p:sp>
      <p:sp>
        <p:nvSpPr>
          <p:cNvPr id="49" name="TextBox 48">
            <a:extLst>
              <a:ext uri="{FF2B5EF4-FFF2-40B4-BE49-F238E27FC236}">
                <a16:creationId xmlns:a16="http://schemas.microsoft.com/office/drawing/2014/main" id="{D7EF7550-3613-332E-3B16-F17D3E940626}"/>
              </a:ext>
            </a:extLst>
          </p:cNvPr>
          <p:cNvSpPr txBox="1"/>
          <p:nvPr/>
        </p:nvSpPr>
        <p:spPr>
          <a:xfrm>
            <a:off x="8483628" y="4957968"/>
            <a:ext cx="481222" cy="369332"/>
          </a:xfrm>
          <a:prstGeom prst="rect">
            <a:avLst/>
          </a:prstGeom>
          <a:noFill/>
        </p:spPr>
        <p:txBody>
          <a:bodyPr wrap="none" rtlCol="0">
            <a:spAutoFit/>
          </a:bodyPr>
          <a:lstStyle/>
          <a:p>
            <a:r>
              <a:rPr lang="en-US" dirty="0">
                <a:solidFill>
                  <a:schemeClr val="accent1"/>
                </a:solidFill>
              </a:rPr>
              <a:t>RU</a:t>
            </a:r>
          </a:p>
        </p:txBody>
      </p:sp>
      <p:sp>
        <p:nvSpPr>
          <p:cNvPr id="50" name="Rectangle 49">
            <a:extLst>
              <a:ext uri="{FF2B5EF4-FFF2-40B4-BE49-F238E27FC236}">
                <a16:creationId xmlns:a16="http://schemas.microsoft.com/office/drawing/2014/main" id="{840F7997-388E-724D-D7C9-4CB2AAA35BEC}"/>
              </a:ext>
            </a:extLst>
          </p:cNvPr>
          <p:cNvSpPr/>
          <p:nvPr/>
        </p:nvSpPr>
        <p:spPr>
          <a:xfrm>
            <a:off x="7465721" y="4836948"/>
            <a:ext cx="818707" cy="61137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A5D3C7C8-47A1-2215-3FEC-6835A11B6357}"/>
              </a:ext>
            </a:extLst>
          </p:cNvPr>
          <p:cNvSpPr txBox="1"/>
          <p:nvPr/>
        </p:nvSpPr>
        <p:spPr>
          <a:xfrm>
            <a:off x="7280755" y="4407106"/>
            <a:ext cx="957570" cy="369332"/>
          </a:xfrm>
          <a:prstGeom prst="rect">
            <a:avLst/>
          </a:prstGeom>
          <a:noFill/>
        </p:spPr>
        <p:txBody>
          <a:bodyPr wrap="none" rtlCol="0">
            <a:spAutoFit/>
          </a:bodyPr>
          <a:lstStyle/>
          <a:p>
            <a:r>
              <a:rPr lang="en-US" dirty="0">
                <a:solidFill>
                  <a:schemeClr val="accent1"/>
                </a:solidFill>
              </a:rPr>
              <a:t>Partner</a:t>
            </a:r>
            <a:r>
              <a:rPr lang="en-US" dirty="0"/>
              <a:t> </a:t>
            </a:r>
          </a:p>
        </p:txBody>
      </p:sp>
      <p:sp>
        <p:nvSpPr>
          <p:cNvPr id="52" name="Rectangle 51">
            <a:extLst>
              <a:ext uri="{FF2B5EF4-FFF2-40B4-BE49-F238E27FC236}">
                <a16:creationId xmlns:a16="http://schemas.microsoft.com/office/drawing/2014/main" id="{5AAE12C1-B662-0186-7A3B-260F18CCFCD3}"/>
              </a:ext>
            </a:extLst>
          </p:cNvPr>
          <p:cNvSpPr/>
          <p:nvPr/>
        </p:nvSpPr>
        <p:spPr>
          <a:xfrm>
            <a:off x="6647015" y="5453636"/>
            <a:ext cx="818707" cy="61137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104273BF-79F2-414F-5032-11CBEE814C57}"/>
              </a:ext>
            </a:extLst>
          </p:cNvPr>
          <p:cNvSpPr/>
          <p:nvPr/>
        </p:nvSpPr>
        <p:spPr>
          <a:xfrm>
            <a:off x="8284429" y="5450978"/>
            <a:ext cx="818707" cy="61137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5CF9B7BD-9C15-59C6-0768-F6CEFDC99574}"/>
              </a:ext>
            </a:extLst>
          </p:cNvPr>
          <p:cNvSpPr txBox="1"/>
          <p:nvPr/>
        </p:nvSpPr>
        <p:spPr>
          <a:xfrm>
            <a:off x="6846214" y="5571998"/>
            <a:ext cx="476412" cy="369332"/>
          </a:xfrm>
          <a:prstGeom prst="rect">
            <a:avLst/>
          </a:prstGeom>
          <a:noFill/>
        </p:spPr>
        <p:txBody>
          <a:bodyPr wrap="none" rtlCol="0">
            <a:spAutoFit/>
          </a:bodyPr>
          <a:lstStyle/>
          <a:p>
            <a:r>
              <a:rPr lang="en-US" dirty="0">
                <a:solidFill>
                  <a:schemeClr val="accent1"/>
                </a:solidFill>
              </a:rPr>
              <a:t>Hu</a:t>
            </a:r>
          </a:p>
        </p:txBody>
      </p:sp>
      <p:sp>
        <p:nvSpPr>
          <p:cNvPr id="55" name="TextBox 54">
            <a:extLst>
              <a:ext uri="{FF2B5EF4-FFF2-40B4-BE49-F238E27FC236}">
                <a16:creationId xmlns:a16="http://schemas.microsoft.com/office/drawing/2014/main" id="{EB91F160-368A-941E-B831-93B34428C446}"/>
              </a:ext>
            </a:extLst>
          </p:cNvPr>
          <p:cNvSpPr txBox="1"/>
          <p:nvPr/>
        </p:nvSpPr>
        <p:spPr>
          <a:xfrm>
            <a:off x="7661273" y="5583257"/>
            <a:ext cx="463588" cy="369332"/>
          </a:xfrm>
          <a:prstGeom prst="rect">
            <a:avLst/>
          </a:prstGeom>
          <a:noFill/>
        </p:spPr>
        <p:txBody>
          <a:bodyPr wrap="none" rtlCol="0">
            <a:spAutoFit/>
          </a:bodyPr>
          <a:lstStyle/>
          <a:p>
            <a:r>
              <a:rPr lang="en-US" dirty="0">
                <a:solidFill>
                  <a:schemeClr val="accent1"/>
                </a:solidFill>
              </a:rPr>
              <a:t>RR</a:t>
            </a:r>
          </a:p>
        </p:txBody>
      </p:sp>
      <p:sp>
        <p:nvSpPr>
          <p:cNvPr id="56" name="TextBox 55">
            <a:extLst>
              <a:ext uri="{FF2B5EF4-FFF2-40B4-BE49-F238E27FC236}">
                <a16:creationId xmlns:a16="http://schemas.microsoft.com/office/drawing/2014/main" id="{954E20DF-903B-37A2-B869-104812CAECD8}"/>
              </a:ext>
            </a:extLst>
          </p:cNvPr>
          <p:cNvSpPr txBox="1"/>
          <p:nvPr/>
        </p:nvSpPr>
        <p:spPr>
          <a:xfrm>
            <a:off x="8483628" y="5571998"/>
            <a:ext cx="481222" cy="369332"/>
          </a:xfrm>
          <a:prstGeom prst="rect">
            <a:avLst/>
          </a:prstGeom>
          <a:noFill/>
        </p:spPr>
        <p:txBody>
          <a:bodyPr wrap="none" rtlCol="0">
            <a:spAutoFit/>
          </a:bodyPr>
          <a:lstStyle/>
          <a:p>
            <a:r>
              <a:rPr lang="en-US" dirty="0">
                <a:solidFill>
                  <a:schemeClr val="accent1"/>
                </a:solidFill>
              </a:rPr>
              <a:t>RU</a:t>
            </a:r>
          </a:p>
        </p:txBody>
      </p:sp>
      <p:sp>
        <p:nvSpPr>
          <p:cNvPr id="57" name="Rectangle 56">
            <a:extLst>
              <a:ext uri="{FF2B5EF4-FFF2-40B4-BE49-F238E27FC236}">
                <a16:creationId xmlns:a16="http://schemas.microsoft.com/office/drawing/2014/main" id="{6E0A0E84-2A8D-9185-1AF5-B3E139D14514}"/>
              </a:ext>
            </a:extLst>
          </p:cNvPr>
          <p:cNvSpPr/>
          <p:nvPr/>
        </p:nvSpPr>
        <p:spPr>
          <a:xfrm>
            <a:off x="7465721" y="5450978"/>
            <a:ext cx="818707" cy="61137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B7AB917A-BB9C-AB0E-BCD1-43E9E9BC909B}"/>
              </a:ext>
            </a:extLst>
          </p:cNvPr>
          <p:cNvSpPr txBox="1"/>
          <p:nvPr/>
        </p:nvSpPr>
        <p:spPr>
          <a:xfrm rot="16200000">
            <a:off x="5535931" y="5290842"/>
            <a:ext cx="917174" cy="369332"/>
          </a:xfrm>
          <a:prstGeom prst="rect">
            <a:avLst/>
          </a:prstGeom>
          <a:noFill/>
        </p:spPr>
        <p:txBody>
          <a:bodyPr wrap="none" rtlCol="0">
            <a:spAutoFit/>
          </a:bodyPr>
          <a:lstStyle/>
          <a:p>
            <a:r>
              <a:rPr lang="en-US" dirty="0">
                <a:solidFill>
                  <a:srgbClr val="FF0000"/>
                </a:solidFill>
              </a:rPr>
              <a:t>Fatigue</a:t>
            </a:r>
          </a:p>
        </p:txBody>
      </p:sp>
      <p:sp>
        <p:nvSpPr>
          <p:cNvPr id="59" name="TextBox 58">
            <a:extLst>
              <a:ext uri="{FF2B5EF4-FFF2-40B4-BE49-F238E27FC236}">
                <a16:creationId xmlns:a16="http://schemas.microsoft.com/office/drawing/2014/main" id="{48FF003A-36DE-331D-0F91-CB594BB05CE5}"/>
              </a:ext>
            </a:extLst>
          </p:cNvPr>
          <p:cNvSpPr txBox="1"/>
          <p:nvPr/>
        </p:nvSpPr>
        <p:spPr>
          <a:xfrm rot="16200000">
            <a:off x="6111996" y="4957968"/>
            <a:ext cx="511102" cy="369332"/>
          </a:xfrm>
          <a:prstGeom prst="rect">
            <a:avLst/>
          </a:prstGeom>
          <a:noFill/>
        </p:spPr>
        <p:txBody>
          <a:bodyPr wrap="none" rtlCol="0">
            <a:spAutoFit/>
          </a:bodyPr>
          <a:lstStyle/>
          <a:p>
            <a:r>
              <a:rPr lang="en-US" dirty="0">
                <a:solidFill>
                  <a:srgbClr val="FF0000"/>
                </a:solidFill>
              </a:rPr>
              <a:t>Pre</a:t>
            </a:r>
          </a:p>
        </p:txBody>
      </p:sp>
      <p:sp>
        <p:nvSpPr>
          <p:cNvPr id="60" name="TextBox 59">
            <a:extLst>
              <a:ext uri="{FF2B5EF4-FFF2-40B4-BE49-F238E27FC236}">
                <a16:creationId xmlns:a16="http://schemas.microsoft.com/office/drawing/2014/main" id="{64B5AEAD-58E9-0A48-1597-6F56F8AE0FB6}"/>
              </a:ext>
            </a:extLst>
          </p:cNvPr>
          <p:cNvSpPr txBox="1"/>
          <p:nvPr/>
        </p:nvSpPr>
        <p:spPr>
          <a:xfrm rot="16200000">
            <a:off x="6118574" y="5583609"/>
            <a:ext cx="621902" cy="369332"/>
          </a:xfrm>
          <a:prstGeom prst="rect">
            <a:avLst/>
          </a:prstGeom>
          <a:noFill/>
        </p:spPr>
        <p:txBody>
          <a:bodyPr wrap="none" rtlCol="0">
            <a:spAutoFit/>
          </a:bodyPr>
          <a:lstStyle/>
          <a:p>
            <a:r>
              <a:rPr lang="en-US" dirty="0">
                <a:solidFill>
                  <a:srgbClr val="FF0000"/>
                </a:solidFill>
              </a:rPr>
              <a:t>Post</a:t>
            </a:r>
          </a:p>
        </p:txBody>
      </p:sp>
      <p:sp>
        <p:nvSpPr>
          <p:cNvPr id="61" name="TextBox 60">
            <a:extLst>
              <a:ext uri="{FF2B5EF4-FFF2-40B4-BE49-F238E27FC236}">
                <a16:creationId xmlns:a16="http://schemas.microsoft.com/office/drawing/2014/main" id="{32B3E263-4B50-EA5F-307B-5AFC8B4A543A}"/>
              </a:ext>
            </a:extLst>
          </p:cNvPr>
          <p:cNvSpPr txBox="1"/>
          <p:nvPr/>
        </p:nvSpPr>
        <p:spPr>
          <a:xfrm>
            <a:off x="6815080" y="6133995"/>
            <a:ext cx="2234458" cy="369332"/>
          </a:xfrm>
          <a:prstGeom prst="rect">
            <a:avLst/>
          </a:prstGeom>
          <a:noFill/>
        </p:spPr>
        <p:txBody>
          <a:bodyPr wrap="none" rtlCol="0">
            <a:spAutoFit/>
          </a:bodyPr>
          <a:lstStyle/>
          <a:p>
            <a:r>
              <a:rPr lang="en-US" dirty="0">
                <a:solidFill>
                  <a:schemeClr val="accent1"/>
                </a:solidFill>
              </a:rPr>
              <a:t>3</a:t>
            </a:r>
            <a:r>
              <a:rPr lang="en-US" dirty="0"/>
              <a:t>x</a:t>
            </a:r>
            <a:r>
              <a:rPr lang="en-US" dirty="0">
                <a:solidFill>
                  <a:srgbClr val="FF0000"/>
                </a:solidFill>
              </a:rPr>
              <a:t>2</a:t>
            </a:r>
            <a:r>
              <a:rPr lang="en-US" dirty="0"/>
              <a:t> Two way ANOVA</a:t>
            </a:r>
            <a:endParaRPr lang="en-US" dirty="0">
              <a:solidFill>
                <a:schemeClr val="accent1"/>
              </a:solidFill>
            </a:endParaRPr>
          </a:p>
        </p:txBody>
      </p:sp>
      <p:sp>
        <p:nvSpPr>
          <p:cNvPr id="62" name="TextBox 61">
            <a:extLst>
              <a:ext uri="{FF2B5EF4-FFF2-40B4-BE49-F238E27FC236}">
                <a16:creationId xmlns:a16="http://schemas.microsoft.com/office/drawing/2014/main" id="{47CEA81A-2953-430C-7333-3084F7B17776}"/>
              </a:ext>
            </a:extLst>
          </p:cNvPr>
          <p:cNvSpPr txBox="1"/>
          <p:nvPr/>
        </p:nvSpPr>
        <p:spPr>
          <a:xfrm>
            <a:off x="6532887" y="6511519"/>
            <a:ext cx="5659113" cy="369332"/>
          </a:xfrm>
          <a:prstGeom prst="rect">
            <a:avLst/>
          </a:prstGeom>
          <a:noFill/>
        </p:spPr>
        <p:txBody>
          <a:bodyPr wrap="none" rtlCol="0">
            <a:spAutoFit/>
          </a:bodyPr>
          <a:lstStyle/>
          <a:p>
            <a:r>
              <a:rPr lang="en-US" dirty="0"/>
              <a:t>Hu = Human, RR = Reliable robot, RU = Unreliable robot </a:t>
            </a:r>
          </a:p>
        </p:txBody>
      </p:sp>
      <p:sp>
        <p:nvSpPr>
          <p:cNvPr id="63" name="Curved Down Arrow 62">
            <a:extLst>
              <a:ext uri="{FF2B5EF4-FFF2-40B4-BE49-F238E27FC236}">
                <a16:creationId xmlns:a16="http://schemas.microsoft.com/office/drawing/2014/main" id="{8886A50B-766D-57D2-D485-3C33258BE653}"/>
              </a:ext>
            </a:extLst>
          </p:cNvPr>
          <p:cNvSpPr/>
          <p:nvPr/>
        </p:nvSpPr>
        <p:spPr>
          <a:xfrm>
            <a:off x="2200185" y="4653755"/>
            <a:ext cx="923058" cy="129622"/>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4" name="Curved Down Arrow 63">
            <a:extLst>
              <a:ext uri="{FF2B5EF4-FFF2-40B4-BE49-F238E27FC236}">
                <a16:creationId xmlns:a16="http://schemas.microsoft.com/office/drawing/2014/main" id="{50D21F48-8690-8909-0DEB-662F80C2FD6F}"/>
              </a:ext>
            </a:extLst>
          </p:cNvPr>
          <p:cNvSpPr/>
          <p:nvPr/>
        </p:nvSpPr>
        <p:spPr>
          <a:xfrm>
            <a:off x="3135850" y="4645153"/>
            <a:ext cx="818707" cy="129622"/>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5" name="Curved Left Arrow 64">
            <a:extLst>
              <a:ext uri="{FF2B5EF4-FFF2-40B4-BE49-F238E27FC236}">
                <a16:creationId xmlns:a16="http://schemas.microsoft.com/office/drawing/2014/main" id="{F0CE6DCA-6FD4-16B7-0D6F-D0940A52B0DF}"/>
              </a:ext>
            </a:extLst>
          </p:cNvPr>
          <p:cNvSpPr/>
          <p:nvPr/>
        </p:nvSpPr>
        <p:spPr>
          <a:xfrm>
            <a:off x="2424556" y="5104560"/>
            <a:ext cx="262868" cy="654762"/>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6" name="Curved Left Arrow 65">
            <a:extLst>
              <a:ext uri="{FF2B5EF4-FFF2-40B4-BE49-F238E27FC236}">
                <a16:creationId xmlns:a16="http://schemas.microsoft.com/office/drawing/2014/main" id="{3D01A469-6FB1-4A26-0BA6-F87356B0B51A}"/>
              </a:ext>
            </a:extLst>
          </p:cNvPr>
          <p:cNvSpPr/>
          <p:nvPr/>
        </p:nvSpPr>
        <p:spPr>
          <a:xfrm>
            <a:off x="3346924" y="5103697"/>
            <a:ext cx="262868" cy="654762"/>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7" name="Curved Left Arrow 66">
            <a:extLst>
              <a:ext uri="{FF2B5EF4-FFF2-40B4-BE49-F238E27FC236}">
                <a16:creationId xmlns:a16="http://schemas.microsoft.com/office/drawing/2014/main" id="{3751FCE1-7308-C106-C061-E3CC91090465}"/>
              </a:ext>
            </a:extLst>
          </p:cNvPr>
          <p:cNvSpPr/>
          <p:nvPr/>
        </p:nvSpPr>
        <p:spPr>
          <a:xfrm>
            <a:off x="4096091" y="5093182"/>
            <a:ext cx="262868" cy="654762"/>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968437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6"/>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7"/>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58"/>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59"/>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60"/>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61"/>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6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63"/>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64"/>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65"/>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66"/>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5" grpId="0" animBg="1"/>
      <p:bldP spid="26" grpId="0" animBg="1"/>
      <p:bldP spid="27" grpId="0"/>
      <p:bldP spid="28" grpId="0"/>
      <p:bldP spid="29" grpId="0"/>
      <p:bldP spid="33" grpId="0" animBg="1"/>
      <p:bldP spid="34" grpId="0"/>
      <p:bldP spid="35" grpId="0" animBg="1"/>
      <p:bldP spid="36" grpId="0" animBg="1"/>
      <p:bldP spid="37" grpId="0"/>
      <p:bldP spid="38" grpId="0"/>
      <p:bldP spid="39" grpId="0"/>
      <p:bldP spid="40" grpId="0" animBg="1"/>
      <p:bldP spid="41" grpId="0"/>
      <p:bldP spid="42" grpId="0"/>
      <p:bldP spid="43" grpId="0"/>
      <p:bldP spid="44" grpId="0"/>
      <p:bldP spid="45" grpId="0" animBg="1"/>
      <p:bldP spid="46" grpId="0" animBg="1"/>
      <p:bldP spid="47" grpId="0"/>
      <p:bldP spid="48" grpId="0"/>
      <p:bldP spid="49" grpId="0"/>
      <p:bldP spid="50" grpId="0" animBg="1"/>
      <p:bldP spid="51" grpId="0"/>
      <p:bldP spid="52" grpId="0" animBg="1"/>
      <p:bldP spid="53" grpId="0" animBg="1"/>
      <p:bldP spid="54" grpId="0"/>
      <p:bldP spid="55" grpId="0"/>
      <p:bldP spid="56" grpId="0"/>
      <p:bldP spid="57" grpId="0" animBg="1"/>
      <p:bldP spid="58" grpId="0"/>
      <p:bldP spid="59" grpId="0"/>
      <p:bldP spid="60" grpId="0"/>
      <p:bldP spid="61" grpId="0"/>
      <p:bldP spid="62" grpId="0"/>
      <p:bldP spid="63" grpId="0" animBg="1"/>
      <p:bldP spid="64" grpId="0" animBg="1"/>
      <p:bldP spid="65" grpId="0" animBg="1"/>
      <p:bldP spid="66" grpId="0" animBg="1"/>
      <p:bldP spid="6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88DB8-9C88-9971-7CA4-5A3E1BFA82A0}"/>
              </a:ext>
            </a:extLst>
          </p:cNvPr>
          <p:cNvSpPr>
            <a:spLocks noGrp="1"/>
          </p:cNvSpPr>
          <p:nvPr>
            <p:ph type="title"/>
          </p:nvPr>
        </p:nvSpPr>
        <p:spPr/>
        <p:txBody>
          <a:bodyPr/>
          <a:lstStyle/>
          <a:p>
            <a:r>
              <a:rPr lang="en-US" dirty="0"/>
              <a:t>ANOVA Cont.</a:t>
            </a:r>
          </a:p>
        </p:txBody>
      </p:sp>
      <p:sp>
        <p:nvSpPr>
          <p:cNvPr id="3" name="Content Placeholder 2">
            <a:extLst>
              <a:ext uri="{FF2B5EF4-FFF2-40B4-BE49-F238E27FC236}">
                <a16:creationId xmlns:a16="http://schemas.microsoft.com/office/drawing/2014/main" id="{9BF745FE-2165-FE67-027F-5C3B7A6B6FD0}"/>
              </a:ext>
            </a:extLst>
          </p:cNvPr>
          <p:cNvSpPr>
            <a:spLocks noGrp="1"/>
          </p:cNvSpPr>
          <p:nvPr>
            <p:ph idx="1"/>
          </p:nvPr>
        </p:nvSpPr>
        <p:spPr/>
        <p:txBody>
          <a:bodyPr>
            <a:normAutofit fontScale="92500"/>
          </a:bodyPr>
          <a:lstStyle/>
          <a:p>
            <a:r>
              <a:rPr lang="en-US" dirty="0"/>
              <a:t>For a one way test:</a:t>
            </a:r>
          </a:p>
          <a:p>
            <a:pPr lvl="1"/>
            <a:r>
              <a:rPr lang="en-US" dirty="0"/>
              <a:t>“We observed a significant effect of latency on performance, where participants in the 0s latency condition had significantly higher performance than participants in the .5s and 1s conditions (</a:t>
            </a:r>
            <a:r>
              <a:rPr lang="en-US" i="1" dirty="0"/>
              <a:t>p </a:t>
            </a:r>
            <a:r>
              <a:rPr lang="en-US" dirty="0"/>
              <a:t>= .xx, M</a:t>
            </a:r>
            <a:r>
              <a:rPr lang="en-US" baseline="-25000" dirty="0"/>
              <a:t>0s</a:t>
            </a:r>
            <a:r>
              <a:rPr lang="en-US" dirty="0"/>
              <a:t> = xx ….).”</a:t>
            </a:r>
          </a:p>
          <a:p>
            <a:pPr lvl="1"/>
            <a:endParaRPr lang="en-US" dirty="0"/>
          </a:p>
          <a:p>
            <a:r>
              <a:rPr lang="en-US" dirty="0"/>
              <a:t>For a two way test: </a:t>
            </a:r>
          </a:p>
          <a:p>
            <a:pPr lvl="1"/>
            <a:r>
              <a:rPr lang="en-US" dirty="0"/>
              <a:t>Can still report ^^^</a:t>
            </a:r>
          </a:p>
          <a:p>
            <a:pPr lvl="1"/>
            <a:r>
              <a:rPr lang="en-US" dirty="0"/>
              <a:t>But now, you are also testing an additional level so you can say: </a:t>
            </a:r>
          </a:p>
          <a:p>
            <a:pPr lvl="1"/>
            <a:r>
              <a:rPr lang="en-US" dirty="0"/>
              <a:t>“During the 0s latency condition, participants performed significantly better in the automation on condition compared to the automation off condition. No significant effect of automation were observed for .5s and 1s.”</a:t>
            </a:r>
          </a:p>
        </p:txBody>
      </p:sp>
    </p:spTree>
    <p:extLst>
      <p:ext uri="{BB962C8B-B14F-4D97-AF65-F5344CB8AC3E}">
        <p14:creationId xmlns:p14="http://schemas.microsoft.com/office/powerpoint/2010/main" val="1401067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TotalTime>
  <Words>447</Words>
  <Application>Microsoft Macintosh PowerPoint</Application>
  <PresentationFormat>Widescreen</PresentationFormat>
  <Paragraphs>88</Paragraphs>
  <Slides>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Wingdings</vt:lpstr>
      <vt:lpstr>Office Theme</vt:lpstr>
      <vt:lpstr>Statistics Intro</vt:lpstr>
      <vt:lpstr>Outline</vt:lpstr>
      <vt:lpstr>Alpha (Significance Testing) </vt:lpstr>
      <vt:lpstr>What is p actually measures</vt:lpstr>
      <vt:lpstr>Types of Tests</vt:lpstr>
      <vt:lpstr>Type of Tests: Analysis of Variance (ANOVA) </vt:lpstr>
      <vt:lpstr>ANOVA 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 SPENCELEY</dc:creator>
  <cp:lastModifiedBy>Rob SPENCELEY</cp:lastModifiedBy>
  <cp:revision>1</cp:revision>
  <dcterms:created xsi:type="dcterms:W3CDTF">2026-01-28T12:11:18Z</dcterms:created>
  <dcterms:modified xsi:type="dcterms:W3CDTF">2026-01-28T13:46:09Z</dcterms:modified>
</cp:coreProperties>
</file>